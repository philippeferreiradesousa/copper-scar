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4de01332f234dde" /><Relationship Type="http://schemas.openxmlformats.org/officeDocument/2006/relationships/extended-properties" Target="/docProps/app.xml" Id="Rbde48a3b0fd14d9e" /><Relationship Type="http://schemas.openxmlformats.org/officeDocument/2006/relationships/officeDocument" Target="/ppt/presentation.xml" Id="R59e78b978bde496a" /></Relationships>
</file>

<file path=ppt/presentation.xml><?xml version="1.0" encoding="utf-8"?>
<p:presentation xmlns:p="http://schemas.openxmlformats.org/presentationml/2006/main">
  <p:sldMasterIdLst>
    <p:sldMasterId xmlns:r="http://schemas.openxmlformats.org/officeDocument/2006/relationships" id="2147483648" r:id="R9fef9a97d70c45ea"/>
  </p:sldMasterIdLst>
  <p:notesMasterIdLst>
    <p:notesMasterId xmlns:r="http://schemas.openxmlformats.org/officeDocument/2006/relationships" r:id="R91a564e953414c98"/>
  </p:notesMasterIdLst>
  <p:sldIdLst>
    <p:sldId xmlns:r="http://schemas.openxmlformats.org/officeDocument/2006/relationships" id="256" r:id="R24e1c033d8954eba"/>
    <p:sldId xmlns:r="http://schemas.openxmlformats.org/officeDocument/2006/relationships" id="257" r:id="Rb1b11af14a204538"/>
    <p:sldId xmlns:r="http://schemas.openxmlformats.org/officeDocument/2006/relationships" id="258" r:id="R81ff59e0f9ad4f26"/>
    <p:sldId xmlns:r="http://schemas.openxmlformats.org/officeDocument/2006/relationships" id="259" r:id="R83e9f906187c4a2f"/>
    <p:sldId xmlns:r="http://schemas.openxmlformats.org/officeDocument/2006/relationships" id="260" r:id="R7634986b6f544847"/>
    <p:sldId xmlns:r="http://schemas.openxmlformats.org/officeDocument/2006/relationships" id="261" r:id="Rb1697080b52342f6"/>
    <p:sldId xmlns:r="http://schemas.openxmlformats.org/officeDocument/2006/relationships" id="262" r:id="R17d0017e57bd4a75"/>
    <p:sldId xmlns:r="http://schemas.openxmlformats.org/officeDocument/2006/relationships" id="263" r:id="Rb70becebbe9f49be"/>
    <p:sldId xmlns:r="http://schemas.openxmlformats.org/officeDocument/2006/relationships" id="264" r:id="R76c7a26073694c51"/>
    <p:sldId xmlns:r="http://schemas.openxmlformats.org/officeDocument/2006/relationships" id="265" r:id="R16e59db9cea94f7b"/>
    <p:sldId xmlns:r="http://schemas.openxmlformats.org/officeDocument/2006/relationships" id="266" r:id="R704ff6a80e894e17"/>
    <p:sldId xmlns:r="http://schemas.openxmlformats.org/officeDocument/2006/relationships" id="267" r:id="R919c186fcb6a4148"/>
    <p:sldId xmlns:r="http://schemas.openxmlformats.org/officeDocument/2006/relationships" id="268" r:id="Rc0742df8bab64f94"/>
    <p:sldId xmlns:r="http://schemas.openxmlformats.org/officeDocument/2006/relationships" id="269" r:id="Ree9af0d88a724d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8b0b6613f340fe" /><Relationship Type="http://schemas.openxmlformats.org/officeDocument/2006/relationships/slideMaster" Target="/ppt/slideMasters/slideMaster1.xml" Id="R9fef9a97d70c45ea" /><Relationship Type="http://schemas.openxmlformats.org/officeDocument/2006/relationships/notesMaster" Target="/ppt/notesMasters/notesMaster1.xml" Id="R91a564e953414c98" /><Relationship Type="http://schemas.openxmlformats.org/officeDocument/2006/relationships/presProps" Target="/ppt/presProps.xml" Id="Re19628eea78f410f" /><Relationship Type="http://schemas.openxmlformats.org/officeDocument/2006/relationships/tableStyles" Target="/ppt/tableStyles.xml" Id="Rbec266129285461b" /><Relationship Type="http://schemas.openxmlformats.org/officeDocument/2006/relationships/slide" Target="/ppt/slides/slide1.xml" Id="R24e1c033d8954eba" /><Relationship Type="http://schemas.openxmlformats.org/officeDocument/2006/relationships/slide" Target="/ppt/slides/slide2.xml" Id="Rb1b11af14a204538" /><Relationship Type="http://schemas.openxmlformats.org/officeDocument/2006/relationships/slide" Target="/ppt/slides/slide3.xml" Id="R81ff59e0f9ad4f26" /><Relationship Type="http://schemas.openxmlformats.org/officeDocument/2006/relationships/slide" Target="/ppt/slides/slide4.xml" Id="R83e9f906187c4a2f" /><Relationship Type="http://schemas.openxmlformats.org/officeDocument/2006/relationships/slide" Target="/ppt/slides/slide5.xml" Id="R7634986b6f544847" /><Relationship Type="http://schemas.openxmlformats.org/officeDocument/2006/relationships/slide" Target="/ppt/slides/slide6.xml" Id="Rb1697080b52342f6" /><Relationship Type="http://schemas.openxmlformats.org/officeDocument/2006/relationships/slide" Target="/ppt/slides/slide7.xml" Id="R17d0017e57bd4a75" /><Relationship Type="http://schemas.openxmlformats.org/officeDocument/2006/relationships/slide" Target="/ppt/slides/slide8.xml" Id="Rb70becebbe9f49be" /><Relationship Type="http://schemas.openxmlformats.org/officeDocument/2006/relationships/slide" Target="/ppt/slides/slide9.xml" Id="R76c7a26073694c51" /><Relationship Type="http://schemas.openxmlformats.org/officeDocument/2006/relationships/slide" Target="/ppt/slides/slide10.xml" Id="R16e59db9cea94f7b" /><Relationship Type="http://schemas.openxmlformats.org/officeDocument/2006/relationships/slide" Target="/ppt/slides/slide11.xml" Id="R704ff6a80e894e17" /><Relationship Type="http://schemas.openxmlformats.org/officeDocument/2006/relationships/slide" Target="/ppt/slides/slide12.xml" Id="R919c186fcb6a4148" /><Relationship Type="http://schemas.openxmlformats.org/officeDocument/2006/relationships/slide" Target="/ppt/slides/slide13.xml" Id="Rc0742df8bab64f94" /><Relationship Type="http://schemas.openxmlformats.org/officeDocument/2006/relationships/slide" Target="/ppt/slides/slide14.xml" Id="Ree9af0d88a724d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e9ccb8a8d045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5c820558714389" /><Relationship Type="http://schemas.openxmlformats.org/officeDocument/2006/relationships/notesMaster" Target="/ppt/notesMasters/notesMaster1.xml" Id="Rdafad4341cdc45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fcf109cd0d4a1e" /><Relationship Type="http://schemas.openxmlformats.org/officeDocument/2006/relationships/notesMaster" Target="/ppt/notesMasters/notesMaster1.xml" Id="Rb8cd25fc033d46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18d2bf9c874797" /><Relationship Type="http://schemas.openxmlformats.org/officeDocument/2006/relationships/notesMaster" Target="/ppt/notesMasters/notesMaster1.xml" Id="R2137c7a426ec46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2d67bc86bd49b5" /><Relationship Type="http://schemas.openxmlformats.org/officeDocument/2006/relationships/notesMaster" Target="/ppt/notesMasters/notesMaster1.xml" Id="Rf7e6dc713db346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9a320b92d142bb" /><Relationship Type="http://schemas.openxmlformats.org/officeDocument/2006/relationships/notesMaster" Target="/ppt/notesMasters/notesMaster1.xml" Id="R1ff67c88ef9e46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f060b9e4cb4ba6" /><Relationship Type="http://schemas.openxmlformats.org/officeDocument/2006/relationships/notesMaster" Target="/ppt/notesMasters/notesMaster1.xml" Id="R65f56d0793be4b3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6105296b6a4fc4" /><Relationship Type="http://schemas.openxmlformats.org/officeDocument/2006/relationships/notesMaster" Target="/ppt/notesMasters/notesMaster1.xml" Id="R43d034559cf044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b94866a76243bd" /><Relationship Type="http://schemas.openxmlformats.org/officeDocument/2006/relationships/notesMaster" Target="/ppt/notesMasters/notesMaster1.xml" Id="Rf4b5bbe6299a44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4dca5bc74841b4" /><Relationship Type="http://schemas.openxmlformats.org/officeDocument/2006/relationships/notesMaster" Target="/ppt/notesMasters/notesMaster1.xml" Id="Rdcd536ac6b3e4b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24b5b06dcb4708" /><Relationship Type="http://schemas.openxmlformats.org/officeDocument/2006/relationships/notesMaster" Target="/ppt/notesMasters/notesMaster1.xml" Id="R91f2851a6fbc49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00a1453cb24c32" /><Relationship Type="http://schemas.openxmlformats.org/officeDocument/2006/relationships/notesMaster" Target="/ppt/notesMasters/notesMaster1.xml" Id="Redd0a100916244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cb14579a2746eb" /><Relationship Type="http://schemas.openxmlformats.org/officeDocument/2006/relationships/notesMaster" Target="/ppt/notesMasters/notesMaster1.xml" Id="R17eb42e249bb45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7f77c8bd4f84b36" /><Relationship Type="http://schemas.openxmlformats.org/officeDocument/2006/relationships/notesMaster" Target="/ppt/notesMasters/notesMaster1.xml" Id="R8d215a02a0334c6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c81bc5cae4f4cdf" /><Relationship Type="http://schemas.openxmlformats.org/officeDocument/2006/relationships/notesMaster" Target="/ppt/notesMasters/notesMaster1.xml" Id="Re610dd3bd1394d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 Opening</a:t>
            </a:r>
          </a:p>
          <a:p xmlns:a="http://schemas.openxmlformats.org/drawingml/2006/main">
            <a:r>
              <a:t>I built PCB Loop to explore whether an AI agent can improve a circuit board through measured experiments. The agent changes placement, a router rebuilds the connections, and native CAD checks decide whether the result works. This is the best recorded Medium candidate. I will show the actual pipeline, the evidence behind the improvement, and what remains unfinished.</a:t>
            </a:r>
          </a:p>
          <a:p xmlns:a="http://schemas.openxmlformats.org/drawingml/2006/main">
            <a:r>
              <a:t/>
            </a:r>
          </a:p>
          <a:p xmlns:a="http://schemas.openxmlformats.org/drawingml/2006/main">
            <a:r>
              <a:t>SOURCES</a:t>
            </a:r>
          </a:p>
          <a:p xmlns:a="http://schemas.openxmlformats.org/drawingml/2006/main">
            <a:r>
              <a:t>https://github.com/PhilippeFerreiraDeSousa/copper-scar/blob/main/docs/hackathon/README.md</a:t>
            </a:r>
          </a:p>
          <a:p xmlns:a="http://schemas.openxmlformats.org/drawingml/2006/main">
            <a:r>
              <a:t>/Users/philippe/.codex/worktrees/3bde/copper-scar/.local/medium-loop/stage2/edge-x-tight-01/candidate-01/score.json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0:30-1:15 | Objective</a:t>
            </a:r>
          </a:p>
          <a:p xmlns:a="http://schemas.openxmlformats.org/drawingml/2006/main">
            <a:r>
              <a:t>The task is more subtle than making a board smaller. Moving components closer together can reduce assembled volume, but it can also make routing difficult or require more vias. The objective adds the assembled bounding-box volume to a penalty of fifty per via and five thousand per copper layer. That creates a measurable tradeoff between compactness and routing cost. A smaller candidate only counts if it still passes the circuit and physical checks. For this demonstration, Medium is an eighty-five-component reduced circuit derived from the original board, with complete nominal assembly models. Its score uses the competition formula, but it is not an accepted original-board submission.</a:t>
            </a:r>
          </a:p>
          <a:p xmlns:a="http://schemas.openxmlformats.org/drawingml/2006/main">
            <a:r>
              <a:t/>
            </a:r>
          </a:p>
          <a:p xmlns:a="http://schemas.openxmlformats.org/drawingml/2006/main">
            <a:r>
              <a:t>SOURCES</a:t>
            </a:r>
          </a:p>
          <a:p xmlns:a="http://schemas.openxmlformats.org/drawingml/2006/main">
            <a:r>
              <a:t>https://github.com/PhilippeFerreiraDeSousa/copper-scar/blob/codex/medium-pcb-loop/experiments/medium-loop/stage2.py</a:t>
            </a:r>
          </a:p>
          <a:p xmlns:a="http://schemas.openxmlformats.org/drawingml/2006/main">
            <a:r>
              <a:t>https://github.com/PhilippeFerreiraDeSousa/copper-scar/blob/codex/medium-pcb-loop/experiments/medium-loop/assembly.py</a:t>
            </a:r>
          </a:p>
          <a:p xmlns:a="http://schemas.openxmlformats.org/drawingml/2006/main">
            <a:r>
              <a:t>https://github.com/PhilippeFerreiraDeSousa/copper-scar/blob/main/docs/hackathon/README.md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1:15-2:15 | Corrected architecture</a:t>
            </a:r>
          </a:p>
          <a:p xmlns:a="http://schemas.openxmlformats.org/drawingml/2006/main">
            <a:r>
              <a:t>The loop has two stages. Stage one seeks a valid, fully connected board. Stage two starts with a valid board and searches for a lower score. A persistent Codex task chooses an experiment and writes or changes Python code. Python applies the proposal to native board geometry. Freerouting then routes across the enabled layers, including choosing via transitions. KiCad imports that result and independently checks the saved board. The experiment records the measurements and failure details so the task can decide what to try next. In all four demonstrated board families, this full-board routing path used Freerouting. JITX import and display were a separate branch of the work. Separate JITX routing research also exists, but it did not route these evolving demo candidates.</a:t>
            </a:r>
          </a:p>
          <a:p xmlns:a="http://schemas.openxmlformats.org/drawingml/2006/main">
            <a:r>
              <a:t>Presenter cue: follow the diagram from left to right, then point to the feedback loop.</a:t>
            </a:r>
          </a:p>
          <a:p xmlns:a="http://schemas.openxmlformats.org/drawingml/2006/main">
            <a:r>
              <a:t/>
            </a:r>
          </a:p>
          <a:p xmlns:a="http://schemas.openxmlformats.org/drawingml/2006/main">
            <a:r>
              <a:t>SOURCES</a:t>
            </a:r>
          </a:p>
          <a:p xmlns:a="http://schemas.openxmlformats.org/drawingml/2006/main">
            <a:r>
              <a:t>https://github.com/PhilippeFerreiraDeSousa/copper-scar/blob/main/docs/hackathon/README.md</a:t>
            </a:r>
          </a:p>
          <a:p xmlns:a="http://schemas.openxmlformats.org/drawingml/2006/main">
            <a:r>
              <a:t>https://github.com/PhilippeFerreiraDeSousa/copper-scar/blob/codex/medium-pcb-loop/experiments/medium-loop/shared_backend.py</a:t>
            </a:r>
          </a:p>
          <a:p xmlns:a="http://schemas.openxmlformats.org/drawingml/2006/main">
            <a:r>
              <a:t>https://github.com/PhilippeFerreiraDeSousa/copper-scar/blob/codex/medium-pcb-loop/scripts/copperhead_route.py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2:15-3:10 | Update input and output</a:t>
            </a:r>
          </a:p>
          <a:p xmlns:a="http://schemas.openxmlformats.org/drawingml/2006/main">
            <a:r>
              <a:t>Here is the precise answer to what the update step receives and returns. The agent reads the board and schematic, the applicable constraints, the current best result, and reports from previous attempts. Those reports can identify missing connections, affected components, clearance problems, or an unfavorable score tradeoff. The output is an experiment: Python proposal code, concrete parameters, and a reason for trying them. That code may generate one candidate or a batch. Evaluation then returns the routed board, native diagnostics, score terms, and the keep or reject decision. The agent can use those results in its next decision. A model decision and a candidate evaluation are different events, so a deterministic batch can contain several candidates without another model call between them.</a:t>
            </a:r>
          </a:p>
          <a:p xmlns:a="http://schemas.openxmlformats.org/drawingml/2006/main">
            <a:r>
              <a:t/>
            </a:r>
          </a:p>
          <a:p xmlns:a="http://schemas.openxmlformats.org/drawingml/2006/main">
            <a:r>
              <a:t>SOURCES</a:t>
            </a:r>
          </a:p>
          <a:p xmlns:a="http://schemas.openxmlformats.org/drawingml/2006/main">
            <a:r>
              <a:t>https://github.com/PhilippeFerreiraDeSousa/copper-scar/blob/main/docs/hackathon/README.md</a:t>
            </a:r>
          </a:p>
          <a:p xmlns:a="http://schemas.openxmlformats.org/drawingml/2006/main">
            <a:r>
              <a:t>https://github.com/PhilippeFerreiraDeSousa/copper-scar/blob/codex/medium-pcb-loop/experiments/medium-loop/stage2.py</a:t>
            </a:r>
          </a:p>
          <a:p xmlns:a="http://schemas.openxmlformats.org/drawingml/2006/main">
            <a:r>
              <a:t>https://github.com/PhilippeFerreiraDeSousa/copper-scar/blob/codex/medium-pcb-loop/experiments/medium-loop/grouped_input.py</a:t>
            </a:r>
          </a:p>
          <a:p xmlns:a="http://schemas.openxmlformats.org/drawingml/2006/main">
            <a:r>
              <a:t>https://github.com/PhilippeFerreiraDeSousa/copper-scar/blob/codex/medium-pcb-loop/experiments/medium-loop/shared_backend.py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3:10-4:00 | The actual prompt</a:t>
            </a:r>
          </a:p>
          <a:p xmlns:a="http://schemas.openxmlformats.org/drawingml/2006/main">
            <a:r>
              <a:t>The judges asked what prompt runs at each update. In these runs, the Medium work continued in a persistent Codex task. It received an initial task instruction, a later transition into stage two, and subsequent Coordinator feedback. The sentence on this slide is an exact excerpt from that initial instruction. It describes an outer experiment loop and an inner routing and evaluation loop. The stage-two message changed the objective to the official formula while requiring validity and preservation of the best result. The public archive contains those historical messages. There was no single fixed prompt submitted to a newly spawned agent for every candidate. To understand what actually happened, we inspect both the task instructions and the recorded candidate actions.</a:t>
            </a:r>
          </a:p>
          <a:p xmlns:a="http://schemas.openxmlformats.org/drawingml/2006/main">
            <a:r>
              <a:t/>
            </a:r>
          </a:p>
          <a:p xmlns:a="http://schemas.openxmlformats.org/drawingml/2006/main">
            <a:r>
              <a:t>SOURCES</a:t>
            </a:r>
          </a:p>
          <a:p xmlns:a="http://schemas.openxmlformats.org/drawingml/2006/main">
            <a:r>
              <a:t>https://github.com/PhilippeFerreiraDeSousa/copper-scar/blob/main/docs/hackathon/prompts/stage-1-medium-initial.md</a:t>
            </a:r>
          </a:p>
          <a:p xmlns:a="http://schemas.openxmlformats.org/drawingml/2006/main">
            <a:r>
              <a:t>https://github.com/PhilippeFerreiraDeSousa/copper-scar/blob/main/docs/hackathon/prompts/stage-2-medium-transition.md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4:00-4:50 | Candidate construction</a:t>
            </a:r>
          </a:p>
          <a:p xmlns:a="http://schemas.openxmlformats.org/drawingml/2006/main">
            <a:r>
              <a:t>The candidate starts from a selected native KiCad board. Python reads the source geometry and applies an explicit action. The experiments include contracting spacing, grouping connected blocks near their headers, changing the outline, and a ground-escape topology proposal. The experiment also carries the project settings, libraries, and models needed for evaluation. KiCad exports a DSN routing problem. Freerouting returns an SES route, and KiCad imports it into the candidate. That means the action record describes the proposed change, while the router adds the resulting trace and via geometry. Freerouting supports routing across multiple enabled layers. For the Medium results shown here, the design and score remained on two copper layers.</a:t>
            </a:r>
          </a:p>
          <a:p xmlns:a="http://schemas.openxmlformats.org/drawingml/2006/main">
            <a:r>
              <a:t/>
            </a:r>
          </a:p>
          <a:p xmlns:a="http://schemas.openxmlformats.org/drawingml/2006/main">
            <a:r>
              <a:t>SOURCES</a:t>
            </a:r>
          </a:p>
          <a:p xmlns:a="http://schemas.openxmlformats.org/drawingml/2006/main">
            <a:r>
              <a:t>https://github.com/PhilippeFerreiraDeSousa/copper-scar/blob/codex/medium-pcb-loop/experiments/medium-loop/stage2.py</a:t>
            </a:r>
          </a:p>
          <a:p xmlns:a="http://schemas.openxmlformats.org/drawingml/2006/main">
            <a:r>
              <a:t>https://github.com/PhilippeFerreiraDeSousa/copper-scar/blob/codex/medium-pcb-loop/experiments/medium-loop/native_stage.py</a:t>
            </a:r>
          </a:p>
          <a:p xmlns:a="http://schemas.openxmlformats.org/drawingml/2006/main">
            <a:r>
              <a:t>https://github.com/PhilippeFerreiraDeSousa/copper-scar/blob/codex/medium-pcb-loop/experiments/medium-loop/grouped_input.py</a:t>
            </a:r>
          </a:p>
          <a:p xmlns:a="http://schemas.openxmlformats.org/drawingml/2006/main">
            <a:r>
              <a:t>https://github.com/PhilippeFerreiraDeSousa/copper-scar/blob/codex/medium-pcb-loop/experiments/medium-loop/ground_escape_input.py</a:t>
            </a:r>
          </a:p>
          <a:p xmlns:a="http://schemas.openxmlformats.org/drawingml/2006/main">
            <a:r>
              <a:t>https://github.com/PhilippeFerreiraDeSousa/copper-scar/blob/codex/medium-pcb-loop/scripts/copperhead_route.py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4:50-5:35 | Acceptance</a:t>
            </a:r>
          </a:p>
          <a:p xmlns:a="http://schemas.openxmlformats.org/drawingml/2006/main">
            <a:r>
              <a:t>The router finishing is only one step. The saved result has to pass native connectivity and rule checks, schematic and net parity, and preservation of the intended electrical geometry and constraints. Assembly checks require resolved models and screen for overlap. In stage two, a valid candidate replaces the retained board only when its score is strictly lower. A tie keeps the incumbent. Invalid attempts still have value because their reports explain why a proposal failed, so they remain in the experiment history. These checks support the recorded CAD result. They do not establish that the board has been manufactured or tested with power.</a:t>
            </a:r>
          </a:p>
          <a:p xmlns:a="http://schemas.openxmlformats.org/drawingml/2006/main">
            <a:r>
              <a:t/>
            </a:r>
          </a:p>
          <a:p xmlns:a="http://schemas.openxmlformats.org/drawingml/2006/main">
            <a:r>
              <a:t>SOURCES</a:t>
            </a:r>
          </a:p>
          <a:p xmlns:a="http://schemas.openxmlformats.org/drawingml/2006/main">
            <a:r>
              <a:t>https://github.com/PhilippeFerreiraDeSousa/copper-scar/blob/codex/medium-pcb-loop/experiments/medium-loop/stage2.py</a:t>
            </a:r>
          </a:p>
          <a:p xmlns:a="http://schemas.openxmlformats.org/drawingml/2006/main">
            <a:r>
              <a:t>https://github.com/PhilippeFerreiraDeSousa/copper-scar/blob/codex/medium-pcb-loop/experiments/medium-loop/audit.py</a:t>
            </a:r>
          </a:p>
          <a:p xmlns:a="http://schemas.openxmlformats.org/drawingml/2006/main">
            <a:r>
              <a:t>https://github.com/PhilippeFerreiraDeSousa/copper-scar/blob/codex/medium-pcb-loop/experiments/medium-loop/shared_backend.py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5:35-6:25 | Overall result</a:t>
            </a:r>
          </a:p>
          <a:p xmlns:a="http://schemas.openxmlformats.org/drawingml/2006/main">
            <a:r>
              <a:t>Across the completed Stage Two record, the best valid Medium score went from sixty-five thousand two hundred eighty-eight to thirty-five thousand three hundred sixty-five. That is a forty-five-point-eight percent reduction. The chart plots the best valid score after each completed attempt. Flat portions matter: they include attempts that failed or did not improve the retained result. The ledger contains twenty-five completed stage-two events, excluding baselines, frozen copies, separate stage-one policy trials, and interrupted attempts without completed records. This is a combined chronology across studies. It is useful for seeing progress, but it does not mean every candidate was created by modifying the immediately preceding candidate.</a:t>
            </a:r>
          </a:p>
          <a:p xmlns:a="http://schemas.openxmlformats.org/drawingml/2006/main">
            <a:r>
              <a:t>Presenter cue: pause on the downward curve, then point out one flat section.</a:t>
            </a:r>
          </a:p>
          <a:p xmlns:a="http://schemas.openxmlformats.org/drawingml/2006/main">
            <a:r>
              <a:t/>
            </a:r>
          </a:p>
          <a:p xmlns:a="http://schemas.openxmlformats.org/drawingml/2006/main">
            <a:r>
              <a:t>SOURCES</a:t>
            </a:r>
          </a:p>
          <a:p xmlns:a="http://schemas.openxmlformats.org/drawingml/2006/main">
            <a:r>
              <a:t>/Users/philippe/.codex/worktrees/3bde/copper-scar/.local/medium-loop/stage2/baseline/score.json</a:t>
            </a:r>
          </a:p>
          <a:p xmlns:a="http://schemas.openxmlformats.org/drawingml/2006/main">
            <a:r>
              <a:t>/Users/philippe/.codex/worktrees/3bde/copper-scar/.local/medium-loop/stage2/edge-x-tight-01/candidate-01/score.json</a:t>
            </a:r>
          </a:p>
          <a:p xmlns:a="http://schemas.openxmlformats.org/drawingml/2006/main">
            <a:r>
              <a:t>https://github.com/PhilippeFerreiraDeSousa/copper-scar/blob/main/docs/hackathon/medium-candidate-ledger.json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6:25-7:20 | Concrete intervention</a:t>
            </a:r>
          </a:p>
          <a:p xmlns:a="http://schemas.openxmlformats.org/drawingml/2006/main">
            <a:r>
              <a:t>This pair of boards shows one useful experiment. On the left is a valid candidate before functional grouping. On the right, connected blocks sit near their own external headers. After routing, the via count falls from one hundred forty-eight to twenty-nine. The score improves from forty-nine thousand nine hundred ten to forty-five thousand three hundred forty-five, about nine percent. The assembled volume actually increases slightly in this comparison. The reduction in via penalty more than compensates for that increase. That is why we measure the complete objective instead of assuming the smallest outline is always the best board. Python proposed the arrangement, and Freerouting produced the traces. These are the actual saved board renders from those attempts.</a:t>
            </a:r>
          </a:p>
          <a:p xmlns:a="http://schemas.openxmlformats.org/drawingml/2006/main">
            <a:r>
              <a:t/>
            </a:r>
          </a:p>
          <a:p xmlns:a="http://schemas.openxmlformats.org/drawingml/2006/main">
            <a:r>
              <a:t>SOURCES</a:t>
            </a:r>
          </a:p>
          <a:p xmlns:a="http://schemas.openxmlformats.org/drawingml/2006/main">
            <a:r>
              <a:t>/Users/philippe/.codex/worktrees/3bde/copper-scar/.local/medium-loop/stage2/continuation-01/candidate-02/score.json</a:t>
            </a:r>
          </a:p>
          <a:p xmlns:a="http://schemas.openxmlformats.org/drawingml/2006/main">
            <a:r>
              <a:t>/Users/philippe/.codex/worktrees/3bde/copper-scar/.local/medium-loop/stage2/functional-probe-01/candidate-01/score.json</a:t>
            </a:r>
          </a:p>
          <a:p xmlns:a="http://schemas.openxmlformats.org/drawingml/2006/main">
            <a:r>
              <a:t>https://github.com/PhilippeFerreiraDeSousa/copper-scar/blob/codex/medium-pcb-loop/experiments/medium-loop/grouped_input.py</a:t>
            </a:r>
          </a:p>
          <a:p xmlns:a="http://schemas.openxmlformats.org/drawingml/2006/main">
            <a:r>
              <a:t>https://wandb.ai/philippe-fdesousa/copper-scar/weave/calls/4ea50c71-2ab3-549f-8917-d32b321e2fa7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7:20-8:05 | Provenance and storage</a:t>
            </a:r>
          </a:p>
          <a:p xmlns:a="http://schemas.openxmlformats.org/drawingml/2006/main">
            <a:r>
              <a:t>Each completed attempt has its own study and candidate folder. The preview captures the geometry before routing, and the evaluated board captures the result after import. The event record stores the action, parameters, timestamps, source commit, commands, reports, and decision. Two fields are especially useful: proposal source identifies the geometry being transformed, while parent incumbent identifies the comparison board. Independent scale trials may repeatedly transform the same source. Python scripts evolve in the working tree and are versioned through commits; the runner does not automatically archive a separate copy of every Python file inside each candidate. The public ledger exposes the action history. Its native board paths refer to local artifacts.</a:t>
            </a:r>
          </a:p>
          <a:p xmlns:a="http://schemas.openxmlformats.org/drawingml/2006/main">
            <a:r>
              <a:t/>
            </a:r>
          </a:p>
          <a:p xmlns:a="http://schemas.openxmlformats.org/drawingml/2006/main">
            <a:r>
              <a:t>SOURCES</a:t>
            </a:r>
          </a:p>
          <a:p xmlns:a="http://schemas.openxmlformats.org/drawingml/2006/main">
            <a:r>
              <a:t>https://github.com/PhilippeFerreiraDeSousa/copper-scar/blob/codex/medium-pcb-loop/experiments/medium-loop/stage2.py</a:t>
            </a:r>
          </a:p>
          <a:p xmlns:a="http://schemas.openxmlformats.org/drawingml/2006/main">
            <a:r>
              <a:t>https://github.com/PhilippeFerreiraDeSousa/copper-scar/blob/main/docs/hackathon/medium-candidate-ledger.json</a:t>
            </a:r>
          </a:p>
          <a:p xmlns:a="http://schemas.openxmlformats.org/drawingml/2006/main">
            <a:r>
              <a:t>https://github.com/PhilippeFerreiraDeSousa/copper-scar/blob/main/docs/hackathon/README.md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8:05-9:20 | W&amp;B walkthrough</a:t>
            </a:r>
          </a:p>
          <a:p xmlns:a="http://schemas.openxmlformats.org/drawingml/2006/main">
            <a:r>
              <a:t>W&amp;B lets me connect a chart point to the experiment that produced it. I will open the functional-grouping record and show the action, then the native result and score. These are records uploaded from completed experiments. Command logs contain the actual routing time. The last verified remote upload reaches a score of forty thousand seventy-four; the newest local best is lower and is shown separately in this deck.</a:t>
            </a:r>
          </a:p>
          <a:p xmlns:a="http://schemas.openxmlformats.org/drawingml/2006/main">
            <a:r>
              <a:t/>
            </a:r>
          </a:p>
          <a:p xmlns:a="http://schemas.openxmlformats.org/drawingml/2006/main">
            <a:r>
              <a:t>LIVE DEMO: allow about 40 seconds inside this 75-second slot.</a:t>
            </a:r>
          </a:p>
          <a:p xmlns:a="http://schemas.openxmlformats.org/drawingml/2006/main">
            <a:r>
              <a:t>1. Click Inspect the 29-via result. Use the browser already signed into W&amp;B.</a:t>
            </a:r>
          </a:p>
          <a:p xmlns:a="http://schemas.openxmlformats.org/drawingml/2006/main">
            <a:r>
              <a:t>2. Expand the action and show the grouping proposal and source information.</a:t>
            </a:r>
          </a:p>
          <a:p xmlns:a="http://schemas.openxmlformats.org/drawingml/2006/main">
            <a:r>
              <a:t>3. Expand result and show validity, the 29-via count, and score 45,345.68. If the schema nests it, use the output/global-incumbent score.</a:t>
            </a:r>
          </a:p>
          <a:p xmlns:a="http://schemas.openxmlformats.org/drawingml/2006/main">
            <a:r>
              <a:t>4. Point to command or router-log evidence. A zero-duration backfilled Weave span is not the router runtime.</a:t>
            </a:r>
          </a:p>
          <a:p xmlns:a="http://schemas.openxmlformats.org/drawingml/2006/main">
            <a:r>
              <a:t>5. Return to the deck. If login or loading slows the demo, stay on the slide and describe these fields instead. Do not spend the closing time troubleshooting.</a:t>
            </a:r>
          </a:p>
          <a:p xmlns:a="http://schemas.openxmlformats.org/drawingml/2006/main">
            <a:r>
              <a:t/>
            </a:r>
          </a:p>
          <a:p xmlns:a="http://schemas.openxmlformats.org/drawingml/2006/main">
            <a:r>
              <a:t>SOURCES</a:t>
            </a:r>
          </a:p>
          <a:p xmlns:a="http://schemas.openxmlformats.org/drawingml/2006/main">
            <a:r>
              <a:t>https://wandb.ai/philippe-fdesousa/copper-scar/runs/medium-stage2-continuation-20260913</a:t>
            </a:r>
          </a:p>
          <a:p xmlns:a="http://schemas.openxmlformats.org/drawingml/2006/main">
            <a:r>
              <a:t>https://wandb.ai/philippe-fdesousa/copper-scar/weave/calls/4ea50c71-2ab3-549f-8917-d32b321e2fa7</a:t>
            </a:r>
          </a:p>
          <a:p xmlns:a="http://schemas.openxmlformats.org/drawingml/2006/main">
            <a:r>
              <a:t>/Users/philippe/.codex/worktrees/3bde/copper-scar/.local/medium-loop/stage2/continuation-observability/verified.json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9:20-10:00 | Close</a:t>
            </a:r>
          </a:p>
          <a:p xmlns:a="http://schemas.openxmlformats.org/drawingml/2006/main">
            <a:r>
              <a:t>The project has valid reduced Small and Medium circuits. Medium shows a forty-five-point-eight percent score reduction with a saved experiment history. Large and the original two-hundred-forty-five-component board remain incomplete. The next step is to qualify that original board while preserving the full circuit and its manufacturing constraints. What we have built is a practical way to connect agent-written experiments with an external router, native checks, and inspectable evidence. The public repository links the implementation branches, historical prompts, and candidate action ledger. Thank you.</a:t>
            </a:r>
          </a:p>
          <a:p xmlns:a="http://schemas.openxmlformats.org/drawingml/2006/main">
            <a:r>
              <a:t>Presenter cue: stop at 10:00. The remaining two slides are hidden backups for questions.</a:t>
            </a:r>
          </a:p>
          <a:p xmlns:a="http://schemas.openxmlformats.org/drawingml/2006/main">
            <a:r>
              <a:t/>
            </a:r>
          </a:p>
          <a:p xmlns:a="http://schemas.openxmlformats.org/drawingml/2006/main">
            <a:r>
              <a:t>SOURCES</a:t>
            </a:r>
          </a:p>
          <a:p xmlns:a="http://schemas.openxmlformats.org/drawingml/2006/main">
            <a:r>
              <a:t>https://github.com/PhilippeFerreiraDeSousa/copper-scar/blob/main/docs/hackathon/README.md</a:t>
            </a:r>
          </a:p>
          <a:p xmlns:a="http://schemas.openxmlformats.org/drawingml/2006/main">
            <a:r>
              <a:t>https://github.com/PhilippeFerreiraDeSousa/copper-scar/blob/codex/small-pcb-loop/experiments/small-loop/RESULTS.md</a:t>
            </a:r>
          </a:p>
          <a:p xmlns:a="http://schemas.openxmlformats.org/drawingml/2006/main">
            <a:r>
              <a:t>https://github.com/PhilippeFerreiraDeSousa/copper-scar/blob/codex/large-pcb-loop/experiments/large-loop/RESULTS.md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Score decomposition</a:t>
            </a:r>
          </a:p>
          <a:p xmlns:a="http://schemas.openxmlformats.org/drawingml/2006/main">
            <a:r>
              <a:t>The baseline terms sum to 65,288.00: 48,888 volume, 6,400 for 128 vias, and 10,000 for two layers. The best recorded terms sum to 35,365.44: 23,815.44 volume, 1,550 for 31 vias, and the same 10,000 layer penalty. The total decrease is 29,922.56. The grouping comparison in the main talk uses a different pair of intermediate candidates and has 148 versus 29 vias.</a:t>
            </a:r>
          </a:p>
          <a:p xmlns:a="http://schemas.openxmlformats.org/drawingml/2006/main">
            <a:r>
              <a:t/>
            </a:r>
          </a:p>
          <a:p xmlns:a="http://schemas.openxmlformats.org/drawingml/2006/main">
            <a:r>
              <a:t>SOURCES</a:t>
            </a:r>
          </a:p>
          <a:p xmlns:a="http://schemas.openxmlformats.org/drawingml/2006/main">
            <a:r>
              <a:t>/Users/philippe/.codex/worktrees/3bde/copper-scar/.local/medium-loop/stage2/baseline/score.json</a:t>
            </a:r>
          </a:p>
          <a:p xmlns:a="http://schemas.openxmlformats.org/drawingml/2006/main">
            <a:r>
              <a:t>/Users/philippe/.codex/worktrees/3bde/copper-scar/.local/medium-loop/stage2/edge-x-tight-01/candidate-01/score.json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 Tool roles</a:t>
            </a:r>
          </a:p>
          <a:p xmlns:a="http://schemas.openxmlformats.org/drawingml/2006/main">
            <a:r>
              <a:t>All four demo families used Freerouting for full-board routing trials. Earlier original/full-board work also used KiCadRoutingTools for targeted repairs. JITX initial-board import and display, and separate source-authored routing research, are distinct from that demonstrated loop. Candidate designs are stored as KiCad artifacts, not as a fresh JITX project for each iteration. W&amp;B and Weave expose recorded experiment evidence, not a claim that every model decision was traced.</a:t>
            </a:r>
          </a:p>
          <a:p xmlns:a="http://schemas.openxmlformats.org/drawingml/2006/main">
            <a:r>
              <a:t/>
            </a:r>
          </a:p>
          <a:p xmlns:a="http://schemas.openxmlformats.org/drawingml/2006/main">
            <a:r>
              <a:t>SOURCES</a:t>
            </a:r>
          </a:p>
          <a:p xmlns:a="http://schemas.openxmlformats.org/drawingml/2006/main">
            <a:r>
              <a:t>https://github.com/PhilippeFerreiraDeSousa/copper-scar/blob/main/docs/hackathon/README.md</a:t>
            </a:r>
          </a:p>
          <a:p xmlns:a="http://schemas.openxmlformats.org/drawingml/2006/main">
            <a:r>
              <a:t>https://github.com/PhilippeFerreiraDeSousa/copper-scar/blob/codex/medium-pcb-loop/experiments/medium-loop/jitx_input.py</a:t>
            </a:r>
          </a:p>
          <a:p xmlns:a="http://schemas.openxmlformats.org/drawingml/2006/main">
            <a:r>
              <a:t>https://github.com/PhilippeFerreiraDeSousa/copper-scar/blob/codex/medium-pcb-loop/scripts/copperhead_route.py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95fbd0f6bd4a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d3ec661f704aa1" /><Relationship Type="http://schemas.openxmlformats.org/officeDocument/2006/relationships/slideLayout" Target="/ppt/slideLayouts/slideLayout1.xml" Id="Rcfd6c5a2e2e543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d6c5a2e2e543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d0115530ccd94cdd"/><Relationship Type="http://schemas.openxmlformats.org/officeDocument/2006/relationships/image" Target="/ppt/media/image.png" Id="R289b9b8397324aad"/><Relationship Type="http://schemas.openxmlformats.org/officeDocument/2006/relationships/notesSlide" Target="/ppt/notesSlides/notesSlide1.xml" Id="Raac526071091426d"/></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2f6850ce2d8a4b47"/><Relationship Type="http://schemas.openxmlformats.org/officeDocument/2006/relationships/notesSlide" Target="/ppt/notesSlides/notesSlide2.xml" Id="R676817b652914b5c"/></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bbc60c88eba84782"/><Relationship Type="http://schemas.openxmlformats.org/officeDocument/2006/relationships/notesSlide" Target="/ppt/notesSlides/notesSlide3.xml" Id="R259c45cd828f44c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65b727f0315440a2"/><Relationship Type="http://schemas.openxmlformats.org/officeDocument/2006/relationships/notesSlide" Target="/ppt/notesSlides/notesSlide4.xml" Id="R7f28613ca8084fc7"/></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165b17b3de074436"/><Relationship Type="http://schemas.openxmlformats.org/officeDocument/2006/relationships/notesSlide" Target="/ppt/notesSlides/notesSlide5.xml" Id="R8a41444b71f14539"/><Relationship Id="rIdLink3" Type="http://schemas.openxmlformats.org/officeDocument/2006/relationships/hyperlink" Target="https://github.com/PhilippeFerreiraDeSousa/copper-scar/tree/main/docs/hackathon/prompts" TargetMode="External"/></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b645680195ff4852"/><Relationship Type="http://schemas.openxmlformats.org/officeDocument/2006/relationships/notesSlide" Target="/ppt/notesSlides/notesSlide6.xml" Id="R6bbb5f6dbca2478a"/></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7b1bab722b904c0b"/><Relationship Type="http://schemas.openxmlformats.org/officeDocument/2006/relationships/notesSlide" Target="/ppt/notesSlides/notesSlide7.xml" Id="Rc108cf3d6ce24851"/></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678bf25c802b494a"/><Relationship Type="http://schemas.openxmlformats.org/officeDocument/2006/relationships/chart" Target="/ppt/slides/charts/chart1.xml" Id="R4248405d703f4ae4"/><Relationship Type="http://schemas.openxmlformats.org/officeDocument/2006/relationships/notesSlide" Target="/ppt/notesSlides/notesSlide8.xml" Id="R1bdb637c93b14aec"/></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a1e148f877f34d7b"/><Relationship Type="http://schemas.openxmlformats.org/officeDocument/2006/relationships/image" Target="/ppt/media/image2.png" Id="Rb9c8c6f46de74a33"/><Relationship Type="http://schemas.openxmlformats.org/officeDocument/2006/relationships/image" Target="/ppt/media/image3.png" Id="R80b329ddd1084976"/><Relationship Type="http://schemas.openxmlformats.org/officeDocument/2006/relationships/notesSlide" Target="/ppt/notesSlides/notesSlide9.xml" Id="R132f26261fea4358"/></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b1d5755f5e154501"/><Relationship Type="http://schemas.openxmlformats.org/officeDocument/2006/relationships/notesSlide" Target="/ppt/notesSlides/notesSlide10.xml" Id="R7787d64620cb4a8a"/></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a7718b7f927d426e"/><Relationship Type="http://schemas.openxmlformats.org/officeDocument/2006/relationships/notesSlide" Target="/ppt/notesSlides/notesSlide11.xml" Id="R3bdfb80987d1416a"/><Relationship Id="rIdLink3" Type="http://schemas.openxmlformats.org/officeDocument/2006/relationships/hyperlink" Target="https://wandb.ai/philippe-fdesousa/copper-scar/runs/medium-stage2-continuation-20260913" TargetMode="External"/><Relationship Id="rIdLink4" Type="http://schemas.openxmlformats.org/officeDocument/2006/relationships/hyperlink" Target="https://wandb.ai/philippe-fdesousa/copper-scar/weave/calls/4ea50c71-2ab3-549f-8917-d32b321e2fa7" TargetMode="External"/></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0e1b8eec2b2e443a"/><Relationship Type="http://schemas.openxmlformats.org/officeDocument/2006/relationships/notesSlide" Target="/ppt/notesSlides/notesSlide12.xml" Id="Rb78908e04c0c4312"/><Relationship Id="rIdLink3" Type="http://schemas.openxmlformats.org/officeDocument/2006/relationships/hyperlink" Target="https://github.com/PhilippeFerreiraDeSousa/copper-scar/blob/main/docs/hackathon/README.md" TargetMode="External"/></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36a5ce7f8e2b4e4a"/><Relationship Type="http://schemas.openxmlformats.org/officeDocument/2006/relationships/notesSlide" Target="/ppt/notesSlides/notesSlide13.xml" Id="R84ac5ab0e687482f"/></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fe0807cbf5484257"/><Relationship Type="http://schemas.openxmlformats.org/officeDocument/2006/relationships/notesSlide" Target="/ppt/notesSlides/notesSlide14.xml" Id="R01acfb80dc814997"/></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Best valid score</c:v>
          </c:tx>
          <c:spPr>
            <a:ln xmlns:a="http://schemas.openxmlformats.org/drawingml/2006/main" w="38100">
              <a:solidFill>
                <a:srgbClr val="8FE3BA"/>
              </a:solidFill>
            </a:ln>
          </c:spPr>
          <c:marker>
            <c:symbol val="none"/>
          </c:marker>
          <c:cat>
            <c:numRef>
              <c:f>'Chart Data'!$A$2:$A$27</c:f>
              <c:numCache>
                <c:formatCode>General</c:formatCode>
                <c:ptCount val="2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numCache>
            </c:numRef>
          </c:cat>
          <c:val>
            <c:numRef>
              <c:f>'Chart Data'!$B$2:$B$27</c:f>
              <c:numCache>
                <c:formatCode>#,##0</c:formatCode>
                <c:ptCount val="26"/>
                <c:pt idx="0">
                  <c:v>65288</c:v>
                </c:pt>
                <c:pt idx="1">
                  <c:v>65288</c:v>
                </c:pt>
                <c:pt idx="2">
                  <c:v>65288</c:v>
                </c:pt>
                <c:pt idx="3">
                  <c:v>59976.2</c:v>
                </c:pt>
                <c:pt idx="4">
                  <c:v>56499.28</c:v>
                </c:pt>
                <c:pt idx="5">
                  <c:v>56499.28</c:v>
                </c:pt>
                <c:pt idx="6">
                  <c:v>56499.28</c:v>
                </c:pt>
                <c:pt idx="7">
                  <c:v>53666.8</c:v>
                </c:pt>
                <c:pt idx="8">
                  <c:v>49910.52</c:v>
                </c:pt>
                <c:pt idx="9">
                  <c:v>49910.52</c:v>
                </c:pt>
                <c:pt idx="10">
                  <c:v>45345.68</c:v>
                </c:pt>
                <c:pt idx="11">
                  <c:v>42663.72</c:v>
                </c:pt>
                <c:pt idx="12">
                  <c:v>40074.08</c:v>
                </c:pt>
                <c:pt idx="13">
                  <c:v>40074.08</c:v>
                </c:pt>
                <c:pt idx="14">
                  <c:v>40074.08</c:v>
                </c:pt>
                <c:pt idx="15">
                  <c:v>40074.08</c:v>
                </c:pt>
                <c:pt idx="16">
                  <c:v>40074.08</c:v>
                </c:pt>
                <c:pt idx="17">
                  <c:v>40074.08</c:v>
                </c:pt>
                <c:pt idx="18">
                  <c:v>38347.92</c:v>
                </c:pt>
                <c:pt idx="19">
                  <c:v>38347.92</c:v>
                </c:pt>
                <c:pt idx="20">
                  <c:v>38347.92</c:v>
                </c:pt>
                <c:pt idx="21">
                  <c:v>38347.92</c:v>
                </c:pt>
                <c:pt idx="22">
                  <c:v>38347.92</c:v>
                </c:pt>
                <c:pt idx="23">
                  <c:v>36339.76</c:v>
                </c:pt>
                <c:pt idx="24">
                  <c:v>35365.44</c:v>
                </c:pt>
                <c:pt idx="25">
                  <c:v>35365.44</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Completed Stage 2 attempt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424D52"/>
            </a:solidFill>
          </a:ln>
        </c:spPr>
        <c:txPr>
          <a:bodyPr xmlns:a="http://schemas.openxmlformats.org/drawingml/2006/main" anchorCtr="1"/>
          <a:lstStyle xmlns:a="http://schemas.openxmlformats.org/drawingml/2006/main"/>
          <a:p xmlns:a="http://schemas.openxmlformats.org/drawingml/2006/main">
            <a:pPr>
              <a:defRPr sz="1425">
                <a:solidFill>
                  <a:srgbClr val="B4BDBF"/>
                </a:solidFill>
                <a:latin typeface="Helvetica Neue"/>
                <a:ea typeface="Helvetica Neue"/>
                <a:cs typeface="Helvetica Neue"/>
              </a:defRPr>
            </a:pPr>
          </a:p>
        </c:txPr>
        <c:crossAx val="48672768"/>
      </c:catAx>
      <c:valAx>
        <c:axId val="48672768"/>
        <c:scaling>
          <c:orientation val="minMax"/>
          <c:max val="70000"/>
          <c:min val="30000"/>
        </c:scaling>
        <c:delete val="0"/>
        <c:axPos val="l"/>
        <c:majorGridlines>
          <c:spPr>
            <a:ln xmlns:a="http://schemas.openxmlformats.org/drawingml/2006/main" w="9525">
              <a:solidFill>
                <a:srgbClr val="424D52"/>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B4BDBF"/>
                </a:solidFill>
                <a:latin typeface="Helvetica Neue"/>
                <a:ea typeface="Helvetica Neue"/>
                <a:cs typeface="Helvetica Neue"/>
              </a:defRPr>
            </a:pPr>
          </a:p>
        </c:txPr>
        <c:crossAx val="48650112"/>
        <c:crossBetween val="between"/>
        <c:majorUnit val="10000"/>
      </c:valAx>
      <c:spPr>
        <a:solidFill xmlns:a="http://schemas.openxmlformats.org/drawingml/2006/main">
          <a:srgbClr val="101417"/>
        </a:solidFill>
        <a:ln xmlns:a="http://schemas.openxmlformats.org/drawingml/2006/main" w="0">
          <a:noFill/>
        </a:ln>
      </c:spPr>
    </c:plotArea>
    <c:plotVisOnly val="1"/>
  </c:chart>
  <c:spPr>
    <a:solidFill xmlns:a="http://schemas.openxmlformats.org/drawingml/2006/main">
      <a:srgbClr val="101417"/>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80AAC661-6B70-4FF8-8A5E-A3FC161346FF}"/>
              </a:ext>
            </a:extLst>
          </p:cNvPr>
          <p:cNvSpPr>
            <a:spLocks xmlns:a="http://schemas.openxmlformats.org/drawingml/2006/main" noGrp="1"/>
          </p:cNvSpPr>
          <p:nvPr/>
        </p:nvSpPr>
        <p:spPr>
          <a:xfrm xmlns:a="http://schemas.openxmlformats.org/drawingml/2006/main">
            <a:off x="609600" y="1238250"/>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F6F3EA"/>
                </a:solidFill>
                <a:latin typeface="Helvetica Neue"/>
                <a:ea typeface="Helvetica Neue"/>
                <a:cs typeface="Helvetica Neue"/>
              </a:defRPr>
            </a:pPr>
            <a:r>
              <a:rPr sz="6150" b="1">
                <a:solidFill>
                  <a:srgbClr val="F6F3EA"/>
                </a:solidFill>
                <a:latin typeface="Helvetica Neue"/>
                <a:ea typeface="Helvetica Neue"/>
                <a:cs typeface="Helvetica Neue"/>
              </a:rPr>
              <a:t>PCB Loop</a:t>
            </a:r>
          </a:p>
        </p:txBody>
      </p:sp>
      <p:sp>
        <p:nvSpPr>
          <p:cNvPr id="2" name="text-2">
            <a:extLst xmlns:a="http://schemas.openxmlformats.org/drawingml/2006/main">
              <a:ext uri="{FF2B5EF4-FFF2-40B4-BE49-F238E27FC236}">
                <a16:creationId xmlns:a16="http://schemas.microsoft.com/office/drawing/2014/main" id="{81DC09F2-0200-481A-967B-4C461BB45B11}"/>
              </a:ext>
            </a:extLst>
          </p:cNvPr>
          <p:cNvSpPr>
            <a:spLocks xmlns:a="http://schemas.openxmlformats.org/drawingml/2006/main" noGrp="1"/>
          </p:cNvSpPr>
          <p:nvPr/>
        </p:nvSpPr>
        <p:spPr>
          <a:xfrm xmlns:a="http://schemas.openxmlformats.org/drawingml/2006/main">
            <a:off x="647700" y="2457450"/>
            <a:ext cx="5095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EDA96E"/>
                </a:solidFill>
                <a:latin typeface="Helvetica Neue"/>
                <a:ea typeface="Helvetica Neue"/>
                <a:cs typeface="Helvetica Neue"/>
              </a:defRPr>
            </a:pPr>
            <a:r>
              <a:rPr sz="3225" b="0">
                <a:solidFill>
                  <a:srgbClr val="EDA96E"/>
                </a:solidFill>
                <a:latin typeface="Helvetica Neue"/>
                <a:ea typeface="Helvetica Neue"/>
                <a:cs typeface="Helvetica Neue"/>
              </a:rPr>
              <a:t>AI-guided PCB</a:t>
            </a:r>
          </a:p>
          <a:p xmlns:a="http://schemas.openxmlformats.org/drawingml/2006/main">
            <a:pPr>
              <a:defRPr sz="3225" b="0">
                <a:solidFill>
                  <a:srgbClr val="EDA96E"/>
                </a:solidFill>
                <a:latin typeface="Helvetica Neue"/>
                <a:ea typeface="Helvetica Neue"/>
                <a:cs typeface="Helvetica Neue"/>
              </a:defRPr>
            </a:pPr>
            <a:r>
              <a:rPr sz="3225" b="0">
                <a:solidFill>
                  <a:srgbClr val="EDA96E"/>
                </a:solidFill>
                <a:latin typeface="Helvetica Neue"/>
                <a:ea typeface="Helvetica Neue"/>
                <a:cs typeface="Helvetica Neue"/>
              </a:rPr>
              <a:t>placement optimization</a:t>
            </a:r>
          </a:p>
        </p:txBody>
      </p:sp>
      <p:sp>
        <p:nvSpPr>
          <p:cNvPr id="3" name="text-3">
            <a:extLst xmlns:a="http://schemas.openxmlformats.org/drawingml/2006/main">
              <a:ext uri="{FF2B5EF4-FFF2-40B4-BE49-F238E27FC236}">
                <a16:creationId xmlns:a16="http://schemas.microsoft.com/office/drawing/2014/main" id="{7B243C28-5B9D-408A-8BB2-BE872AD3B69F}"/>
              </a:ext>
            </a:extLst>
          </p:cNvPr>
          <p:cNvSpPr>
            <a:spLocks xmlns:a="http://schemas.openxmlformats.org/drawingml/2006/main" noGrp="1"/>
          </p:cNvSpPr>
          <p:nvPr/>
        </p:nvSpPr>
        <p:spPr>
          <a:xfrm xmlns:a="http://schemas.openxmlformats.org/drawingml/2006/main">
            <a:off x="647700" y="500062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3EA"/>
                </a:solidFill>
                <a:latin typeface="Helvetica Neue"/>
                <a:ea typeface="Helvetica Neue"/>
                <a:cs typeface="Helvetica Neue"/>
              </a:defRPr>
            </a:pPr>
            <a:r>
              <a:rPr sz="2025" b="0">
                <a:solidFill>
                  <a:srgbClr val="F6F3EA"/>
                </a:solidFill>
                <a:latin typeface="Helvetica Neue"/>
                <a:ea typeface="Helvetica Neue"/>
                <a:cs typeface="Helvetica Neue"/>
              </a:rPr>
              <a:t>Philippe Ferreira De Sousa</a:t>
            </a:r>
          </a:p>
        </p:txBody>
      </p:sp>
      <p:sp>
        <p:nvSpPr>
          <p:cNvPr id="4" name="text-4">
            <a:extLst xmlns:a="http://schemas.openxmlformats.org/drawingml/2006/main">
              <a:ext uri="{FF2B5EF4-FFF2-40B4-BE49-F238E27FC236}">
                <a16:creationId xmlns:a16="http://schemas.microsoft.com/office/drawing/2014/main" id="{A16F56D3-14BA-4BC9-9441-9EE0E560EA8A}"/>
              </a:ext>
            </a:extLst>
          </p:cNvPr>
          <p:cNvSpPr>
            <a:spLocks xmlns:a="http://schemas.openxmlformats.org/drawingml/2006/main" noGrp="1"/>
          </p:cNvSpPr>
          <p:nvPr/>
        </p:nvSpPr>
        <p:spPr>
          <a:xfrm xmlns:a="http://schemas.openxmlformats.org/drawingml/2006/main">
            <a:off x="647700" y="5467350"/>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4BDBF"/>
                </a:solidFill>
                <a:latin typeface="Helvetica Neue"/>
                <a:ea typeface="Helvetica Neue"/>
                <a:cs typeface="Helvetica Neue"/>
              </a:defRPr>
            </a:pPr>
            <a:r>
              <a:rPr sz="1725" b="0">
                <a:solidFill>
                  <a:srgbClr val="B4BDBF"/>
                </a:solidFill>
                <a:latin typeface="Helvetica Neue"/>
                <a:ea typeface="Helvetica Neue"/>
                <a:cs typeface="Helvetica Neue"/>
              </a:rPr>
              <a:t>CoreWeave Hackathon</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89b9b8397324aad"/>
          <a:stretch xmlns:a="http://schemas.openxmlformats.org/drawingml/2006/main"/>
        </p:blipFill>
        <p:spPr>
          <a:xfrm xmlns:a="http://schemas.openxmlformats.org/drawingml/2006/main">
            <a:off x="6334125" y="900453"/>
            <a:ext cx="5238750" cy="4961845"/>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F218D134-E90F-4E4A-8AA8-A90EAD9D1780}"/>
              </a:ext>
            </a:extLst>
          </p:cNvPr>
          <p:cNvSpPr>
            <a:spLocks xmlns:a="http://schemas.openxmlformats.org/drawingml/2006/main" noGrp="1"/>
          </p:cNvSpPr>
          <p:nvPr/>
        </p:nvSpPr>
        <p:spPr>
          <a:xfrm xmlns:a="http://schemas.openxmlformats.org/drawingml/2006/main">
            <a:off x="6762750" y="62293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4BDBF"/>
                </a:solidFill>
                <a:latin typeface="Helvetica Neue"/>
                <a:ea typeface="Helvetica Neue"/>
                <a:cs typeface="Helvetica Neue"/>
              </a:defRPr>
            </a:pPr>
            <a:r>
              <a:rPr sz="1575" b="0">
                <a:solidFill>
                  <a:srgbClr val="B4BDBF"/>
                </a:solidFill>
                <a:latin typeface="Helvetica Neue"/>
                <a:ea typeface="Helvetica Neue"/>
                <a:cs typeface="Helvetica Neue"/>
              </a:rPr>
              <a:t>Recorded Medium candidate</a:t>
            </a:r>
          </a:p>
        </p:txBody>
      </p:sp>
    </p:spTree>
    <p:extLst>
      <p:ext uri="{BB962C8B-B14F-4D97-AF65-F5344CB8AC3E}">
        <p14:creationId xmlns:p14="http://schemas.microsoft.com/office/powerpoint/2010/main" val="1393508333"/>
      </p:ext>
    </p:extLst>
  </p:cSld>
</p:sld>
</file>

<file path=ppt/slides/slide2.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11" name="text-6">
            <a:extLst xmlns:a="http://schemas.openxmlformats.org/drawingml/2006/main">
              <a:ext uri="{FF2B5EF4-FFF2-40B4-BE49-F238E27FC236}">
                <a16:creationId xmlns:a16="http://schemas.microsoft.com/office/drawing/2014/main" id="{E3970948-CB64-40BA-BBA4-8AC3051E739A}"/>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The objective combines size and routing cost</a:t>
            </a:r>
          </a:p>
        </p:txBody>
      </p:sp>
      <p:sp>
        <p:nvSpPr>
          <p:cNvPr id="2" name="text-7">
            <a:extLst xmlns:a="http://schemas.openxmlformats.org/drawingml/2006/main">
              <a:ext uri="{FF2B5EF4-FFF2-40B4-BE49-F238E27FC236}">
                <a16:creationId xmlns:a16="http://schemas.microsoft.com/office/drawing/2014/main" id="{493563C0-30D5-41D1-B37C-B4A2598309F6}"/>
              </a:ext>
            </a:extLst>
          </p:cNvPr>
          <p:cNvSpPr>
            <a:spLocks xmlns:a="http://schemas.openxmlformats.org/drawingml/2006/main" noGrp="1"/>
          </p:cNvSpPr>
          <p:nvPr/>
        </p:nvSpPr>
        <p:spPr>
          <a:xfrm xmlns:a="http://schemas.openxmlformats.org/drawingml/2006/main">
            <a:off x="609600" y="14573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EDA96E"/>
                </a:solidFill>
                <a:latin typeface="Helvetica Neue"/>
                <a:ea typeface="Helvetica Neue"/>
                <a:cs typeface="Helvetica Neue"/>
              </a:defRPr>
            </a:pPr>
            <a:r>
              <a:rPr sz="2925" b="1">
                <a:solidFill>
                  <a:srgbClr val="EDA96E"/>
                </a:solidFill>
                <a:latin typeface="Helvetica Neue"/>
                <a:ea typeface="Helvetica Neue"/>
                <a:cs typeface="Helvetica Neue"/>
              </a:rPr>
              <a:t>A smaller outline can make routing harder</a:t>
            </a:r>
          </a:p>
        </p:txBody>
      </p:sp>
      <p:sp>
        <p:nvSpPr>
          <p:cNvPr id="3" name="text-8">
            <a:extLst xmlns:a="http://schemas.openxmlformats.org/drawingml/2006/main">
              <a:ext uri="{FF2B5EF4-FFF2-40B4-BE49-F238E27FC236}">
                <a16:creationId xmlns:a16="http://schemas.microsoft.com/office/drawing/2014/main" id="{7B4B7150-F79F-4584-AF28-609A0B9BD1A1}"/>
              </a:ext>
            </a:extLst>
          </p:cNvPr>
          <p:cNvSpPr>
            <a:spLocks xmlns:a="http://schemas.openxmlformats.org/drawingml/2006/main" noGrp="1"/>
          </p:cNvSpPr>
          <p:nvPr/>
        </p:nvSpPr>
        <p:spPr>
          <a:xfrm xmlns:a="http://schemas.openxmlformats.org/drawingml/2006/main">
            <a:off x="609600" y="2714625"/>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6F3EA"/>
                </a:solidFill>
                <a:latin typeface="Helvetica Neue"/>
                <a:ea typeface="Helvetica Neue"/>
                <a:cs typeface="Helvetica Neue"/>
              </a:defRPr>
            </a:pPr>
            <a:r>
              <a:rPr sz="3300" b="1">
                <a:solidFill>
                  <a:srgbClr val="F6F3EA"/>
                </a:solidFill>
                <a:latin typeface="Helvetica Neue"/>
                <a:ea typeface="Helvetica Neue"/>
                <a:cs typeface="Helvetica Neue"/>
              </a:rPr>
              <a:t>Volume</a:t>
            </a:r>
          </a:p>
        </p:txBody>
      </p:sp>
      <p:sp>
        <p:nvSpPr>
          <p:cNvPr id="4" name="text-9">
            <a:extLst xmlns:a="http://schemas.openxmlformats.org/drawingml/2006/main">
              <a:ext uri="{FF2B5EF4-FFF2-40B4-BE49-F238E27FC236}">
                <a16:creationId xmlns:a16="http://schemas.microsoft.com/office/drawing/2014/main" id="{6A4EB658-B5E3-45A5-B3A9-CCB784392804}"/>
              </a:ext>
            </a:extLst>
          </p:cNvPr>
          <p:cNvSpPr>
            <a:spLocks xmlns:a="http://schemas.openxmlformats.org/drawingml/2006/main" noGrp="1"/>
          </p:cNvSpPr>
          <p:nvPr/>
        </p:nvSpPr>
        <p:spPr>
          <a:xfrm xmlns:a="http://schemas.openxmlformats.org/drawingml/2006/main">
            <a:off x="609600" y="345757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4BDBF"/>
                </a:solidFill>
                <a:latin typeface="Helvetica Neue"/>
                <a:ea typeface="Helvetica Neue"/>
                <a:cs typeface="Helvetica Neue"/>
              </a:defRPr>
            </a:pPr>
            <a:r>
              <a:rPr sz="2175" b="0">
                <a:solidFill>
                  <a:srgbClr val="B4BDBF"/>
                </a:solidFill>
                <a:latin typeface="Helvetica Neue"/>
                <a:ea typeface="Helvetica Neue"/>
                <a:cs typeface="Helvetica Neue"/>
              </a:rPr>
              <a:t>Bounding-box volume</a:t>
            </a:r>
          </a:p>
          <a:p xmlns:a="http://schemas.openxmlformats.org/drawingml/2006/main">
            <a:pPr>
              <a:defRPr sz="2175" b="0">
                <a:solidFill>
                  <a:srgbClr val="B4BDBF"/>
                </a:solidFill>
                <a:latin typeface="Helvetica Neue"/>
                <a:ea typeface="Helvetica Neue"/>
                <a:cs typeface="Helvetica Neue"/>
              </a:defRPr>
            </a:pPr>
            <a:r>
              <a:rPr sz="2175" b="0">
                <a:solidFill>
                  <a:srgbClr val="B4BDBF"/>
                </a:solidFill>
                <a:latin typeface="Helvetica Neue"/>
                <a:ea typeface="Helvetica Neue"/>
                <a:cs typeface="Helvetica Neue"/>
              </a:rPr>
              <a:t>in cubic millimeters</a:t>
            </a:r>
          </a:p>
        </p:txBody>
      </p:sp>
      <p:sp>
        <p:nvSpPr>
          <p:cNvPr id="5" name="text-10">
            <a:extLst xmlns:a="http://schemas.openxmlformats.org/drawingml/2006/main">
              <a:ext uri="{FF2B5EF4-FFF2-40B4-BE49-F238E27FC236}">
                <a16:creationId xmlns:a16="http://schemas.microsoft.com/office/drawing/2014/main" id="{94D8D892-C67D-4837-B147-688B9AD79ED6}"/>
              </a:ext>
            </a:extLst>
          </p:cNvPr>
          <p:cNvSpPr>
            <a:spLocks xmlns:a="http://schemas.openxmlformats.org/drawingml/2006/main" noGrp="1"/>
          </p:cNvSpPr>
          <p:nvPr/>
        </p:nvSpPr>
        <p:spPr>
          <a:xfrm xmlns:a="http://schemas.openxmlformats.org/drawingml/2006/main">
            <a:off x="4543425" y="271462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6F3EA"/>
                </a:solidFill>
                <a:latin typeface="Helvetica Neue"/>
                <a:ea typeface="Helvetica Neue"/>
                <a:cs typeface="Helvetica Neue"/>
              </a:defRPr>
            </a:pPr>
            <a:r>
              <a:rPr sz="3300" b="1">
                <a:solidFill>
                  <a:srgbClr val="F6F3EA"/>
                </a:solidFill>
                <a:latin typeface="Helvetica Neue"/>
                <a:ea typeface="Helvetica Neue"/>
                <a:cs typeface="Helvetica Neue"/>
              </a:rPr>
              <a:t>50 × vias</a:t>
            </a:r>
          </a:p>
        </p:txBody>
      </p:sp>
      <p:sp>
        <p:nvSpPr>
          <p:cNvPr id="6" name="text-11">
            <a:extLst xmlns:a="http://schemas.openxmlformats.org/drawingml/2006/main">
              <a:ext uri="{FF2B5EF4-FFF2-40B4-BE49-F238E27FC236}">
                <a16:creationId xmlns:a16="http://schemas.microsoft.com/office/drawing/2014/main" id="{931FCEF4-09BD-49B0-94F5-4B3C6BF943B1}"/>
              </a:ext>
            </a:extLst>
          </p:cNvPr>
          <p:cNvSpPr>
            <a:spLocks xmlns:a="http://schemas.openxmlformats.org/drawingml/2006/main" noGrp="1"/>
          </p:cNvSpPr>
          <p:nvPr/>
        </p:nvSpPr>
        <p:spPr>
          <a:xfrm xmlns:a="http://schemas.openxmlformats.org/drawingml/2006/main">
            <a:off x="4543425" y="345757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4BDBF"/>
                </a:solidFill>
                <a:latin typeface="Helvetica Neue"/>
                <a:ea typeface="Helvetica Neue"/>
                <a:cs typeface="Helvetica Neue"/>
              </a:defRPr>
            </a:pPr>
            <a:r>
              <a:rPr sz="2175" b="0">
                <a:solidFill>
                  <a:srgbClr val="B4BDBF"/>
                </a:solidFill>
                <a:latin typeface="Helvetica Neue"/>
                <a:ea typeface="Helvetica Neue"/>
                <a:cs typeface="Helvetica Neue"/>
              </a:rPr>
              <a:t>Each layer transition</a:t>
            </a:r>
          </a:p>
          <a:p xmlns:a="http://schemas.openxmlformats.org/drawingml/2006/main">
            <a:pPr>
              <a:defRPr sz="2175" b="0">
                <a:solidFill>
                  <a:srgbClr val="B4BDBF"/>
                </a:solidFill>
                <a:latin typeface="Helvetica Neue"/>
                <a:ea typeface="Helvetica Neue"/>
                <a:cs typeface="Helvetica Neue"/>
              </a:defRPr>
            </a:pPr>
            <a:r>
              <a:rPr sz="2175" b="0">
                <a:solidFill>
                  <a:srgbClr val="B4BDBF"/>
                </a:solidFill>
                <a:latin typeface="Helvetica Neue"/>
                <a:ea typeface="Helvetica Neue"/>
                <a:cs typeface="Helvetica Neue"/>
              </a:rPr>
              <a:t>adds a penalty</a:t>
            </a:r>
          </a:p>
        </p:txBody>
      </p:sp>
      <p:sp>
        <p:nvSpPr>
          <p:cNvPr id="7" name="text-12">
            <a:extLst xmlns:a="http://schemas.openxmlformats.org/drawingml/2006/main">
              <a:ext uri="{FF2B5EF4-FFF2-40B4-BE49-F238E27FC236}">
                <a16:creationId xmlns:a16="http://schemas.microsoft.com/office/drawing/2014/main" id="{38586768-316E-4298-97FE-E03366103C3C}"/>
              </a:ext>
            </a:extLst>
          </p:cNvPr>
          <p:cNvSpPr>
            <a:spLocks xmlns:a="http://schemas.openxmlformats.org/drawingml/2006/main" noGrp="1"/>
          </p:cNvSpPr>
          <p:nvPr/>
        </p:nvSpPr>
        <p:spPr>
          <a:xfrm xmlns:a="http://schemas.openxmlformats.org/drawingml/2006/main">
            <a:off x="8439150" y="2714625"/>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6F3EA"/>
                </a:solidFill>
                <a:latin typeface="Helvetica Neue"/>
                <a:ea typeface="Helvetica Neue"/>
                <a:cs typeface="Helvetica Neue"/>
              </a:defRPr>
            </a:pPr>
            <a:r>
              <a:rPr sz="3000" b="1">
                <a:solidFill>
                  <a:srgbClr val="F6F3EA"/>
                </a:solidFill>
                <a:latin typeface="Helvetica Neue"/>
                <a:ea typeface="Helvetica Neue"/>
                <a:cs typeface="Helvetica Neue"/>
              </a:rPr>
              <a:t>5,000 × layers</a:t>
            </a:r>
          </a:p>
        </p:txBody>
      </p:sp>
      <p:sp>
        <p:nvSpPr>
          <p:cNvPr id="8" name="text-13">
            <a:extLst xmlns:a="http://schemas.openxmlformats.org/drawingml/2006/main">
              <a:ext uri="{FF2B5EF4-FFF2-40B4-BE49-F238E27FC236}">
                <a16:creationId xmlns:a16="http://schemas.microsoft.com/office/drawing/2014/main" id="{CA337C6C-B9C8-4FCD-AA40-4D5A7F7859EA}"/>
              </a:ext>
            </a:extLst>
          </p:cNvPr>
          <p:cNvSpPr>
            <a:spLocks xmlns:a="http://schemas.openxmlformats.org/drawingml/2006/main" noGrp="1"/>
          </p:cNvSpPr>
          <p:nvPr/>
        </p:nvSpPr>
        <p:spPr>
          <a:xfrm xmlns:a="http://schemas.openxmlformats.org/drawingml/2006/main">
            <a:off x="8439150" y="3457575"/>
            <a:ext cx="319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4BDBF"/>
                </a:solidFill>
                <a:latin typeface="Helvetica Neue"/>
                <a:ea typeface="Helvetica Neue"/>
                <a:cs typeface="Helvetica Neue"/>
              </a:defRPr>
            </a:pPr>
            <a:r>
              <a:rPr sz="2175" b="0">
                <a:solidFill>
                  <a:srgbClr val="B4BDBF"/>
                </a:solidFill>
                <a:latin typeface="Helvetica Neue"/>
                <a:ea typeface="Helvetica Neue"/>
                <a:cs typeface="Helvetica Neue"/>
              </a:rPr>
              <a:t>Every copper layer</a:t>
            </a:r>
          </a:p>
          <a:p xmlns:a="http://schemas.openxmlformats.org/drawingml/2006/main">
            <a:pPr>
              <a:defRPr sz="2175" b="0">
                <a:solidFill>
                  <a:srgbClr val="B4BDBF"/>
                </a:solidFill>
                <a:latin typeface="Helvetica Neue"/>
                <a:ea typeface="Helvetica Neue"/>
                <a:cs typeface="Helvetica Neue"/>
              </a:defRPr>
            </a:pPr>
            <a:r>
              <a:rPr sz="2175" b="0">
                <a:solidFill>
                  <a:srgbClr val="B4BDBF"/>
                </a:solidFill>
                <a:latin typeface="Helvetica Neue"/>
                <a:ea typeface="Helvetica Neue"/>
                <a:cs typeface="Helvetica Neue"/>
              </a:rPr>
              <a:t>counts toward the score</a:t>
            </a:r>
          </a:p>
        </p:txBody>
      </p:sp>
      <p:sp>
        <p:nvSpPr>
          <p:cNvPr id="9" name="text-14">
            <a:extLst xmlns:a="http://schemas.openxmlformats.org/drawingml/2006/main">
              <a:ext uri="{FF2B5EF4-FFF2-40B4-BE49-F238E27FC236}">
                <a16:creationId xmlns:a16="http://schemas.microsoft.com/office/drawing/2014/main" id="{1DF3B4DC-5C84-45AF-893D-387E762ABA66}"/>
              </a:ext>
            </a:extLst>
          </p:cNvPr>
          <p:cNvSpPr>
            <a:spLocks xmlns:a="http://schemas.openxmlformats.org/drawingml/2006/main" noGrp="1"/>
          </p:cNvSpPr>
          <p:nvPr/>
        </p:nvSpPr>
        <p:spPr>
          <a:xfrm xmlns:a="http://schemas.openxmlformats.org/drawingml/2006/main">
            <a:off x="609600" y="5391150"/>
            <a:ext cx="10858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8FE3BA"/>
                </a:solidFill>
                <a:latin typeface="Helvetica Neue"/>
                <a:ea typeface="Helvetica Neue"/>
                <a:cs typeface="Helvetica Neue"/>
              </a:defRPr>
            </a:pPr>
            <a:r>
              <a:rPr sz="2625" b="1">
                <a:solidFill>
                  <a:srgbClr val="8FE3BA"/>
                </a:solidFill>
                <a:latin typeface="Helvetica Neue"/>
                <a:ea typeface="Helvetica Neue"/>
                <a:cs typeface="Helvetica Neue"/>
              </a:rPr>
              <a:t>A candidate must pass the native checks before its score counts</a:t>
            </a:r>
          </a:p>
        </p:txBody>
      </p:sp>
      <p:sp>
        <p:nvSpPr>
          <p:cNvPr id="10" name="text-15">
            <a:extLst xmlns:a="http://schemas.openxmlformats.org/drawingml/2006/main">
              <a:ext uri="{FF2B5EF4-FFF2-40B4-BE49-F238E27FC236}">
                <a16:creationId xmlns:a16="http://schemas.microsoft.com/office/drawing/2014/main" id="{CCD9CCA6-332F-4B20-8127-B62B9908CBDB}"/>
              </a:ext>
            </a:extLst>
          </p:cNvPr>
          <p:cNvSpPr>
            <a:spLocks xmlns:a="http://schemas.openxmlformats.org/drawingml/2006/main" noGrp="1"/>
          </p:cNvSpPr>
          <p:nvPr/>
        </p:nvSpPr>
        <p:spPr>
          <a:xfrm xmlns:a="http://schemas.openxmlformats.org/drawingml/2006/main">
            <a:off x="609600" y="637222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4BDBF"/>
                </a:solidFill>
                <a:latin typeface="Helvetica Neue"/>
                <a:ea typeface="Helvetica Neue"/>
                <a:cs typeface="Helvetica Neue"/>
              </a:defRPr>
            </a:pPr>
            <a:r>
              <a:rPr sz="1575" b="0">
                <a:solidFill>
                  <a:srgbClr val="B4BDBF"/>
                </a:solidFill>
                <a:latin typeface="Helvetica Neue"/>
                <a:ea typeface="Helvetica Neue"/>
                <a:cs typeface="Helvetica Neue"/>
              </a:rPr>
              <a:t>Medium applies the competition formula to a reduced circuit with nominal assembly models.</a:t>
            </a:r>
          </a:p>
        </p:txBody>
      </p:sp>
    </p:spTree>
    <p:extLst>
      <p:ext uri="{BB962C8B-B14F-4D97-AF65-F5344CB8AC3E}">
        <p14:creationId xmlns:p14="http://schemas.microsoft.com/office/powerpoint/2010/main" val="237061813"/>
      </p:ext>
    </p:extLst>
  </p:cSld>
</p:sld>
</file>

<file path=ppt/slides/slide3.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25" name="text-16">
            <a:extLst xmlns:a="http://schemas.openxmlformats.org/drawingml/2006/main">
              <a:ext uri="{FF2B5EF4-FFF2-40B4-BE49-F238E27FC236}">
                <a16:creationId xmlns:a16="http://schemas.microsoft.com/office/drawing/2014/main" id="{AB5B21DD-0575-4861-B263-4C18E75D360B}"/>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Placement and routing loop</a:t>
            </a:r>
          </a:p>
        </p:txBody>
      </p:sp>
      <p:sp>
        <p:nvSpPr>
          <p:cNvPr id="2" name="text-17">
            <a:extLst xmlns:a="http://schemas.openxmlformats.org/drawingml/2006/main">
              <a:ext uri="{FF2B5EF4-FFF2-40B4-BE49-F238E27FC236}">
                <a16:creationId xmlns:a16="http://schemas.microsoft.com/office/drawing/2014/main" id="{F79F76D8-ECD7-43C4-8960-671DD2D9DE37}"/>
              </a:ext>
            </a:extLst>
          </p:cNvPr>
          <p:cNvSpPr>
            <a:spLocks xmlns:a="http://schemas.openxmlformats.org/drawingml/2006/main" noGrp="1"/>
          </p:cNvSpPr>
          <p:nvPr/>
        </p:nvSpPr>
        <p:spPr>
          <a:xfrm xmlns:a="http://schemas.openxmlformats.org/drawingml/2006/main">
            <a:off x="609600" y="14097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EDA96E"/>
                </a:solidFill>
                <a:latin typeface="Helvetica Neue"/>
                <a:ea typeface="Helvetica Neue"/>
                <a:cs typeface="Helvetica Neue"/>
              </a:defRPr>
            </a:pPr>
            <a:r>
              <a:rPr sz="2325" b="1">
                <a:solidFill>
                  <a:srgbClr val="EDA96E"/>
                </a:solidFill>
                <a:latin typeface="Helvetica Neue"/>
                <a:ea typeface="Helvetica Neue"/>
                <a:cs typeface="Helvetica Neue"/>
              </a:rPr>
              <a:t>Stage 1: reach validity</a:t>
            </a:r>
          </a:p>
        </p:txBody>
      </p:sp>
      <p:sp>
        <p:nvSpPr>
          <p:cNvPr id="3" name="text-18">
            <a:extLst xmlns:a="http://schemas.openxmlformats.org/drawingml/2006/main">
              <a:ext uri="{FF2B5EF4-FFF2-40B4-BE49-F238E27FC236}">
                <a16:creationId xmlns:a16="http://schemas.microsoft.com/office/drawing/2014/main" id="{8B8E3E93-7AE1-412F-BFA5-72F478CDAC28}"/>
              </a:ext>
            </a:extLst>
          </p:cNvPr>
          <p:cNvSpPr>
            <a:spLocks xmlns:a="http://schemas.openxmlformats.org/drawingml/2006/main" noGrp="1"/>
          </p:cNvSpPr>
          <p:nvPr/>
        </p:nvSpPr>
        <p:spPr>
          <a:xfrm xmlns:a="http://schemas.openxmlformats.org/drawingml/2006/main">
            <a:off x="6572250" y="14097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8FE3BA"/>
                </a:solidFill>
                <a:latin typeface="Helvetica Neue"/>
                <a:ea typeface="Helvetica Neue"/>
                <a:cs typeface="Helvetica Neue"/>
              </a:defRPr>
            </a:pPr>
            <a:r>
              <a:rPr sz="2325" b="1">
                <a:solidFill>
                  <a:srgbClr val="8FE3BA"/>
                </a:solidFill>
                <a:latin typeface="Helvetica Neue"/>
                <a:ea typeface="Helvetica Neue"/>
                <a:cs typeface="Helvetica Neue"/>
              </a:rPr>
              <a:t>Stage 2: lower the score</a:t>
            </a:r>
          </a:p>
        </p:txBody>
      </p:sp>
      <p:sp>
        <p:nvSpPr>
          <p:cNvPr id="4" name="text-19">
            <a:extLst xmlns:a="http://schemas.openxmlformats.org/drawingml/2006/main">
              <a:ext uri="{FF2B5EF4-FFF2-40B4-BE49-F238E27FC236}">
                <a16:creationId xmlns:a16="http://schemas.microsoft.com/office/drawing/2014/main" id="{05ADE3B3-C936-4092-A2B1-640E68D9EC0E}"/>
              </a:ext>
            </a:extLst>
          </p:cNvPr>
          <p:cNvSpPr>
            <a:spLocks xmlns:a="http://schemas.openxmlformats.org/drawingml/2006/main" noGrp="1"/>
          </p:cNvSpPr>
          <p:nvPr/>
        </p:nvSpPr>
        <p:spPr>
          <a:xfrm xmlns:a="http://schemas.openxmlformats.org/drawingml/2006/main">
            <a:off x="609600" y="20193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4BDBF"/>
                </a:solidFill>
                <a:latin typeface="Helvetica Neue"/>
                <a:ea typeface="Helvetica Neue"/>
                <a:cs typeface="Helvetica Neue"/>
              </a:defRPr>
            </a:pPr>
            <a:r>
              <a:rPr sz="2100" b="0">
                <a:solidFill>
                  <a:srgbClr val="B4BDBF"/>
                </a:solidFill>
                <a:latin typeface="Helvetica Neue"/>
                <a:ea typeface="Helvetica Neue"/>
                <a:cs typeface="Helvetica Neue"/>
              </a:rPr>
              <a:t>Preserve the circuit and manufacturing constraints</a:t>
            </a:r>
          </a:p>
        </p:txBody>
      </p:sp>
      <p:sp>
        <p:nvSpPr>
          <p:cNvPr id="5" name="pipeline-0">
            <a:extLst xmlns:a="http://schemas.openxmlformats.org/drawingml/2006/main">
              <a:ext uri="{FF2B5EF4-FFF2-40B4-BE49-F238E27FC236}">
                <a16:creationId xmlns:a16="http://schemas.microsoft.com/office/drawing/2014/main" id="{CBC033A0-4D56-45AD-B64A-4772F88F62E3}"/>
              </a:ext>
            </a:extLst>
          </p:cNvPr>
          <p:cNvSpPr>
            <a:spLocks xmlns:a="http://schemas.openxmlformats.org/drawingml/2006/main" noGrp="1"/>
          </p:cNvSpPr>
          <p:nvPr/>
        </p:nvSpPr>
        <p:spPr>
          <a:xfrm xmlns:a="http://schemas.openxmlformats.org/drawingml/2006/main">
            <a:off x="609600" y="3028950"/>
            <a:ext cx="2333625" cy="1066800"/>
          </a:xfrm>
          <a:prstGeom xmlns:a="http://schemas.openxmlformats.org/drawingml/2006/main" prst="rect">
            <a:avLst/>
          </a:prstGeom>
          <a:noFill xmlns:a="http://schemas.openxmlformats.org/drawingml/2006/main"/>
          <a:ln xmlns:a="http://schemas.openxmlformats.org/drawingml/2006/main" w="19050">
            <a:solidFill>
              <a:srgbClr val="EDA96E"/>
            </a:solidFill>
          </a:ln>
        </p:spPr>
      </p:sp>
      <p:sp>
        <p:nvSpPr>
          <p:cNvPr id="6" name="text-20">
            <a:extLst xmlns:a="http://schemas.openxmlformats.org/drawingml/2006/main">
              <a:ext uri="{FF2B5EF4-FFF2-40B4-BE49-F238E27FC236}">
                <a16:creationId xmlns:a16="http://schemas.microsoft.com/office/drawing/2014/main" id="{68CB23D8-72C3-4F0E-B981-FB2E38A796F4}"/>
              </a:ext>
            </a:extLst>
          </p:cNvPr>
          <p:cNvSpPr>
            <a:spLocks xmlns:a="http://schemas.openxmlformats.org/drawingml/2006/main" noGrp="1"/>
          </p:cNvSpPr>
          <p:nvPr/>
        </p:nvSpPr>
        <p:spPr>
          <a:xfrm xmlns:a="http://schemas.openxmlformats.org/drawingml/2006/main">
            <a:off x="781050" y="3143250"/>
            <a:ext cx="2038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EDA96E"/>
                </a:solidFill>
                <a:latin typeface="Helvetica Neue"/>
                <a:ea typeface="Helvetica Neue"/>
                <a:cs typeface="Helvetica Neue"/>
              </a:defRPr>
            </a:pPr>
            <a:r>
              <a:rPr sz="2400" b="1">
                <a:solidFill>
                  <a:srgbClr val="EDA96E"/>
                </a:solidFill>
                <a:latin typeface="Helvetica Neue"/>
                <a:ea typeface="Helvetica Neue"/>
                <a:cs typeface="Helvetica Neue"/>
              </a:rPr>
              <a:t>Codex task</a:t>
            </a:r>
          </a:p>
        </p:txBody>
      </p:sp>
      <p:sp>
        <p:nvSpPr>
          <p:cNvPr id="7" name="text-21">
            <a:extLst xmlns:a="http://schemas.openxmlformats.org/drawingml/2006/main">
              <a:ext uri="{FF2B5EF4-FFF2-40B4-BE49-F238E27FC236}">
                <a16:creationId xmlns:a16="http://schemas.microsoft.com/office/drawing/2014/main" id="{4CCE2BA2-7C71-4942-88B6-8B706D81894C}"/>
              </a:ext>
            </a:extLst>
          </p:cNvPr>
          <p:cNvSpPr>
            <a:spLocks xmlns:a="http://schemas.openxmlformats.org/drawingml/2006/main" noGrp="1"/>
          </p:cNvSpPr>
          <p:nvPr/>
        </p:nvSpPr>
        <p:spPr>
          <a:xfrm xmlns:a="http://schemas.openxmlformats.org/drawingml/2006/main">
            <a:off x="781050" y="36195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4BDBF"/>
                </a:solidFill>
                <a:latin typeface="Helvetica Neue"/>
                <a:ea typeface="Helvetica Neue"/>
                <a:cs typeface="Helvetica Neue"/>
              </a:defRPr>
            </a:pPr>
            <a:r>
              <a:rPr sz="1650" b="0">
                <a:solidFill>
                  <a:srgbClr val="B4BDBF"/>
                </a:solidFill>
                <a:latin typeface="Helvetica Neue"/>
                <a:ea typeface="Helvetica Neue"/>
                <a:cs typeface="Helvetica Neue"/>
              </a:rPr>
              <a:t>Selects experiment</a:t>
            </a:r>
          </a:p>
        </p:txBody>
      </p:sp>
      <p:sp>
        <p:nvSpPr>
          <p:cNvPr id="8" name="pipeline-1">
            <a:extLst xmlns:a="http://schemas.openxmlformats.org/drawingml/2006/main">
              <a:ext uri="{FF2B5EF4-FFF2-40B4-BE49-F238E27FC236}">
                <a16:creationId xmlns:a16="http://schemas.microsoft.com/office/drawing/2014/main" id="{2E6BFF74-5945-4F39-BA70-450C2619735D}"/>
              </a:ext>
            </a:extLst>
          </p:cNvPr>
          <p:cNvSpPr>
            <a:spLocks xmlns:a="http://schemas.openxmlformats.org/drawingml/2006/main" noGrp="1"/>
          </p:cNvSpPr>
          <p:nvPr/>
        </p:nvSpPr>
        <p:spPr>
          <a:xfrm xmlns:a="http://schemas.openxmlformats.org/drawingml/2006/main">
            <a:off x="3486150" y="3028950"/>
            <a:ext cx="2333625" cy="1066800"/>
          </a:xfrm>
          <a:prstGeom xmlns:a="http://schemas.openxmlformats.org/drawingml/2006/main" prst="rect">
            <a:avLst/>
          </a:prstGeom>
          <a:noFill xmlns:a="http://schemas.openxmlformats.org/drawingml/2006/main"/>
          <a:ln xmlns:a="http://schemas.openxmlformats.org/drawingml/2006/main" w="19050">
            <a:solidFill>
              <a:srgbClr val="424D52"/>
            </a:solidFill>
          </a:ln>
        </p:spPr>
      </p:sp>
      <p:sp>
        <p:nvSpPr>
          <p:cNvPr id="9" name="text-22">
            <a:extLst xmlns:a="http://schemas.openxmlformats.org/drawingml/2006/main">
              <a:ext uri="{FF2B5EF4-FFF2-40B4-BE49-F238E27FC236}">
                <a16:creationId xmlns:a16="http://schemas.microsoft.com/office/drawing/2014/main" id="{A3281949-1DDF-404F-93AE-15F93B9B5452}"/>
              </a:ext>
            </a:extLst>
          </p:cNvPr>
          <p:cNvSpPr>
            <a:spLocks xmlns:a="http://schemas.openxmlformats.org/drawingml/2006/main" noGrp="1"/>
          </p:cNvSpPr>
          <p:nvPr/>
        </p:nvSpPr>
        <p:spPr>
          <a:xfrm xmlns:a="http://schemas.openxmlformats.org/drawingml/2006/main">
            <a:off x="3657600" y="3143250"/>
            <a:ext cx="2038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3EA"/>
                </a:solidFill>
                <a:latin typeface="Helvetica Neue"/>
                <a:ea typeface="Helvetica Neue"/>
                <a:cs typeface="Helvetica Neue"/>
              </a:defRPr>
            </a:pPr>
            <a:r>
              <a:rPr sz="2400" b="1">
                <a:solidFill>
                  <a:srgbClr val="F6F3EA"/>
                </a:solidFill>
                <a:latin typeface="Helvetica Neue"/>
                <a:ea typeface="Helvetica Neue"/>
                <a:cs typeface="Helvetica Neue"/>
              </a:rPr>
              <a:t>Python</a:t>
            </a:r>
          </a:p>
        </p:txBody>
      </p:sp>
      <p:sp>
        <p:nvSpPr>
          <p:cNvPr id="10" name="text-23">
            <a:extLst xmlns:a="http://schemas.openxmlformats.org/drawingml/2006/main">
              <a:ext uri="{FF2B5EF4-FFF2-40B4-BE49-F238E27FC236}">
                <a16:creationId xmlns:a16="http://schemas.microsoft.com/office/drawing/2014/main" id="{8E8EB4E4-491E-4838-A853-1832A00017FC}"/>
              </a:ext>
            </a:extLst>
          </p:cNvPr>
          <p:cNvSpPr>
            <a:spLocks xmlns:a="http://schemas.openxmlformats.org/drawingml/2006/main" noGrp="1"/>
          </p:cNvSpPr>
          <p:nvPr/>
        </p:nvSpPr>
        <p:spPr>
          <a:xfrm xmlns:a="http://schemas.openxmlformats.org/drawingml/2006/main">
            <a:off x="3657600" y="36195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4BDBF"/>
                </a:solidFill>
                <a:latin typeface="Helvetica Neue"/>
                <a:ea typeface="Helvetica Neue"/>
                <a:cs typeface="Helvetica Neue"/>
              </a:defRPr>
            </a:pPr>
            <a:r>
              <a:rPr sz="1650" b="0">
                <a:solidFill>
                  <a:srgbClr val="B4BDBF"/>
                </a:solidFill>
                <a:latin typeface="Helvetica Neue"/>
                <a:ea typeface="Helvetica Neue"/>
                <a:cs typeface="Helvetica Neue"/>
              </a:rPr>
              <a:t>Creates a candidate</a:t>
            </a:r>
          </a:p>
        </p:txBody>
      </p:sp>
      <p:sp>
        <p:nvSpPr>
          <p:cNvPr id="11" name="pipeline-2">
            <a:extLst xmlns:a="http://schemas.openxmlformats.org/drawingml/2006/main">
              <a:ext uri="{FF2B5EF4-FFF2-40B4-BE49-F238E27FC236}">
                <a16:creationId xmlns:a16="http://schemas.microsoft.com/office/drawing/2014/main" id="{F16824FA-6D4D-481D-A41B-EC7D1EA68899}"/>
              </a:ext>
            </a:extLst>
          </p:cNvPr>
          <p:cNvSpPr>
            <a:spLocks xmlns:a="http://schemas.openxmlformats.org/drawingml/2006/main" noGrp="1"/>
          </p:cNvSpPr>
          <p:nvPr/>
        </p:nvSpPr>
        <p:spPr>
          <a:xfrm xmlns:a="http://schemas.openxmlformats.org/drawingml/2006/main">
            <a:off x="6362700" y="3028950"/>
            <a:ext cx="2333625" cy="1066800"/>
          </a:xfrm>
          <a:prstGeom xmlns:a="http://schemas.openxmlformats.org/drawingml/2006/main" prst="rect">
            <a:avLst/>
          </a:prstGeom>
          <a:noFill xmlns:a="http://schemas.openxmlformats.org/drawingml/2006/main"/>
          <a:ln xmlns:a="http://schemas.openxmlformats.org/drawingml/2006/main" w="19050">
            <a:solidFill>
              <a:srgbClr val="424D52"/>
            </a:solidFill>
          </a:ln>
        </p:spPr>
      </p:sp>
      <p:sp>
        <p:nvSpPr>
          <p:cNvPr id="12" name="text-24">
            <a:extLst xmlns:a="http://schemas.openxmlformats.org/drawingml/2006/main">
              <a:ext uri="{FF2B5EF4-FFF2-40B4-BE49-F238E27FC236}">
                <a16:creationId xmlns:a16="http://schemas.microsoft.com/office/drawing/2014/main" id="{22388049-87EF-46F8-ADC2-19619023E5B0}"/>
              </a:ext>
            </a:extLst>
          </p:cNvPr>
          <p:cNvSpPr>
            <a:spLocks xmlns:a="http://schemas.openxmlformats.org/drawingml/2006/main" noGrp="1"/>
          </p:cNvSpPr>
          <p:nvPr/>
        </p:nvSpPr>
        <p:spPr>
          <a:xfrm xmlns:a="http://schemas.openxmlformats.org/drawingml/2006/main">
            <a:off x="6534150" y="3143250"/>
            <a:ext cx="2038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3EA"/>
                </a:solidFill>
                <a:latin typeface="Helvetica Neue"/>
                <a:ea typeface="Helvetica Neue"/>
                <a:cs typeface="Helvetica Neue"/>
              </a:defRPr>
            </a:pPr>
            <a:r>
              <a:rPr sz="2400" b="1">
                <a:solidFill>
                  <a:srgbClr val="F6F3EA"/>
                </a:solidFill>
                <a:latin typeface="Helvetica Neue"/>
                <a:ea typeface="Helvetica Neue"/>
                <a:cs typeface="Helvetica Neue"/>
              </a:rPr>
              <a:t>Freerouting</a:t>
            </a:r>
          </a:p>
        </p:txBody>
      </p:sp>
      <p:sp>
        <p:nvSpPr>
          <p:cNvPr id="13" name="text-25">
            <a:extLst xmlns:a="http://schemas.openxmlformats.org/drawingml/2006/main">
              <a:ext uri="{FF2B5EF4-FFF2-40B4-BE49-F238E27FC236}">
                <a16:creationId xmlns:a16="http://schemas.microsoft.com/office/drawing/2014/main" id="{BB364398-E7CC-41F6-A294-6AF4C26CDAFC}"/>
              </a:ext>
            </a:extLst>
          </p:cNvPr>
          <p:cNvSpPr>
            <a:spLocks xmlns:a="http://schemas.openxmlformats.org/drawingml/2006/main" noGrp="1"/>
          </p:cNvSpPr>
          <p:nvPr/>
        </p:nvSpPr>
        <p:spPr>
          <a:xfrm xmlns:a="http://schemas.openxmlformats.org/drawingml/2006/main">
            <a:off x="6534150" y="36195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4BDBF"/>
                </a:solidFill>
                <a:latin typeface="Helvetica Neue"/>
                <a:ea typeface="Helvetica Neue"/>
                <a:cs typeface="Helvetica Neue"/>
              </a:defRPr>
            </a:pPr>
            <a:r>
              <a:rPr sz="1650" b="0">
                <a:solidFill>
                  <a:srgbClr val="B4BDBF"/>
                </a:solidFill>
                <a:latin typeface="Helvetica Neue"/>
                <a:ea typeface="Helvetica Neue"/>
                <a:cs typeface="Helvetica Neue"/>
              </a:rPr>
              <a:t>Traces and vias</a:t>
            </a:r>
          </a:p>
        </p:txBody>
      </p:sp>
      <p:sp>
        <p:nvSpPr>
          <p:cNvPr id="14" name="pipeline-3">
            <a:extLst xmlns:a="http://schemas.openxmlformats.org/drawingml/2006/main">
              <a:ext uri="{FF2B5EF4-FFF2-40B4-BE49-F238E27FC236}">
                <a16:creationId xmlns:a16="http://schemas.microsoft.com/office/drawing/2014/main" id="{909869CA-EC57-4D6E-8E61-4E5179D4C293}"/>
              </a:ext>
            </a:extLst>
          </p:cNvPr>
          <p:cNvSpPr>
            <a:spLocks xmlns:a="http://schemas.openxmlformats.org/drawingml/2006/main" noGrp="1"/>
          </p:cNvSpPr>
          <p:nvPr/>
        </p:nvSpPr>
        <p:spPr>
          <a:xfrm xmlns:a="http://schemas.openxmlformats.org/drawingml/2006/main">
            <a:off x="9239250" y="3028950"/>
            <a:ext cx="2333625" cy="1066800"/>
          </a:xfrm>
          <a:prstGeom xmlns:a="http://schemas.openxmlformats.org/drawingml/2006/main" prst="rect">
            <a:avLst/>
          </a:prstGeom>
          <a:noFill xmlns:a="http://schemas.openxmlformats.org/drawingml/2006/main"/>
          <a:ln xmlns:a="http://schemas.openxmlformats.org/drawingml/2006/main" w="19050">
            <a:solidFill>
              <a:srgbClr val="424D52"/>
            </a:solidFill>
          </a:ln>
        </p:spPr>
      </p:sp>
      <p:sp>
        <p:nvSpPr>
          <p:cNvPr id="15" name="text-26">
            <a:extLst xmlns:a="http://schemas.openxmlformats.org/drawingml/2006/main">
              <a:ext uri="{FF2B5EF4-FFF2-40B4-BE49-F238E27FC236}">
                <a16:creationId xmlns:a16="http://schemas.microsoft.com/office/drawing/2014/main" id="{25415A68-CE5F-48EC-A2AB-D5C7E7D12F06}"/>
              </a:ext>
            </a:extLst>
          </p:cNvPr>
          <p:cNvSpPr>
            <a:spLocks xmlns:a="http://schemas.openxmlformats.org/drawingml/2006/main" noGrp="1"/>
          </p:cNvSpPr>
          <p:nvPr/>
        </p:nvSpPr>
        <p:spPr>
          <a:xfrm xmlns:a="http://schemas.openxmlformats.org/drawingml/2006/main">
            <a:off x="9410700" y="3143250"/>
            <a:ext cx="2038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3EA"/>
                </a:solidFill>
                <a:latin typeface="Helvetica Neue"/>
                <a:ea typeface="Helvetica Neue"/>
                <a:cs typeface="Helvetica Neue"/>
              </a:defRPr>
            </a:pPr>
            <a:r>
              <a:rPr sz="2400" b="1">
                <a:solidFill>
                  <a:srgbClr val="F6F3EA"/>
                </a:solidFill>
                <a:latin typeface="Helvetica Neue"/>
                <a:ea typeface="Helvetica Neue"/>
                <a:cs typeface="Helvetica Neue"/>
              </a:rPr>
              <a:t>KiCad</a:t>
            </a:r>
          </a:p>
        </p:txBody>
      </p:sp>
      <p:sp>
        <p:nvSpPr>
          <p:cNvPr id="16" name="text-27">
            <a:extLst xmlns:a="http://schemas.openxmlformats.org/drawingml/2006/main">
              <a:ext uri="{FF2B5EF4-FFF2-40B4-BE49-F238E27FC236}">
                <a16:creationId xmlns:a16="http://schemas.microsoft.com/office/drawing/2014/main" id="{F6443FA7-A753-4789-9424-E4B07E6C8E8E}"/>
              </a:ext>
            </a:extLst>
          </p:cNvPr>
          <p:cNvSpPr>
            <a:spLocks xmlns:a="http://schemas.openxmlformats.org/drawingml/2006/main" noGrp="1"/>
          </p:cNvSpPr>
          <p:nvPr/>
        </p:nvSpPr>
        <p:spPr>
          <a:xfrm xmlns:a="http://schemas.openxmlformats.org/drawingml/2006/main">
            <a:off x="9410700" y="3619500"/>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4BDBF"/>
                </a:solidFill>
                <a:latin typeface="Helvetica Neue"/>
                <a:ea typeface="Helvetica Neue"/>
                <a:cs typeface="Helvetica Neue"/>
              </a:defRPr>
            </a:pPr>
            <a:r>
              <a:rPr sz="1650" b="0">
                <a:solidFill>
                  <a:srgbClr val="B4BDBF"/>
                </a:solidFill>
                <a:latin typeface="Helvetica Neue"/>
                <a:ea typeface="Helvetica Neue"/>
                <a:cs typeface="Helvetica Neue"/>
              </a:rPr>
              <a:t>Checks and scores</a:t>
            </a:r>
          </a:p>
        </p:txBody>
      </p:sp>
      <p:cxnSp>
        <p:nvCxnSpPr>
          <p:cNvPr id="41" name=""/>
          <p:cNvCxnSpPr>
            <a:stCxn xmlns:a="http://schemas.openxmlformats.org/drawingml/2006/main" id="5" idx="3"/>
            <a:endCxn xmlns:a="http://schemas.openxmlformats.org/drawingml/2006/main" id="8" idx="1"/>
          </p:cNvCxnSpPr>
          <p:nvPr/>
        </p:nvCxnSpPr>
        <p:spPr>
          <a:xfrm xmlns:a="http://schemas.openxmlformats.org/drawingml/2006/main">
            <a:off x="2943225" y="3562350"/>
            <a:ext cx="542925" cy="0"/>
          </a:xfrm>
          <a:prstGeom xmlns:a="http://schemas.openxmlformats.org/drawingml/2006/main" prst="straightConnector1">
            <a:avLst/>
          </a:prstGeom>
          <a:ln xmlns:a="http://schemas.openxmlformats.org/drawingml/2006/main" w="19050">
            <a:solidFill>
              <a:srgbClr val="B4BDBF"/>
            </a:solidFill>
            <a:tailEnd type="triangle" w="med" len="med"/>
          </a:ln>
        </p:spPr>
      </p:cxnSp>
      <p:cxnSp>
        <p:nvCxnSpPr>
          <p:cNvPr id="42" name=""/>
          <p:cNvCxnSpPr>
            <a:stCxn xmlns:a="http://schemas.openxmlformats.org/drawingml/2006/main" id="8" idx="3"/>
            <a:endCxn xmlns:a="http://schemas.openxmlformats.org/drawingml/2006/main" id="11" idx="1"/>
          </p:cNvCxnSpPr>
          <p:nvPr/>
        </p:nvCxnSpPr>
        <p:spPr>
          <a:xfrm xmlns:a="http://schemas.openxmlformats.org/drawingml/2006/main">
            <a:off x="5819775" y="3562350"/>
            <a:ext cx="542925" cy="0"/>
          </a:xfrm>
          <a:prstGeom xmlns:a="http://schemas.openxmlformats.org/drawingml/2006/main" prst="straightConnector1">
            <a:avLst/>
          </a:prstGeom>
          <a:ln xmlns:a="http://schemas.openxmlformats.org/drawingml/2006/main" w="19050">
            <a:solidFill>
              <a:srgbClr val="B4BDBF"/>
            </a:solidFill>
            <a:tailEnd type="triangle" w="med" len="med"/>
          </a:ln>
        </p:spPr>
      </p:cxnSp>
      <p:cxnSp>
        <p:nvCxnSpPr>
          <p:cNvPr id="43" name=""/>
          <p:cNvCxnSpPr>
            <a:stCxn xmlns:a="http://schemas.openxmlformats.org/drawingml/2006/main" id="11" idx="3"/>
            <a:endCxn xmlns:a="http://schemas.openxmlformats.org/drawingml/2006/main" id="14" idx="1"/>
          </p:cNvCxnSpPr>
          <p:nvPr/>
        </p:nvCxnSpPr>
        <p:spPr>
          <a:xfrm xmlns:a="http://schemas.openxmlformats.org/drawingml/2006/main">
            <a:off x="8696325" y="3562350"/>
            <a:ext cx="542925" cy="0"/>
          </a:xfrm>
          <a:prstGeom xmlns:a="http://schemas.openxmlformats.org/drawingml/2006/main" prst="straightConnector1">
            <a:avLst/>
          </a:prstGeom>
          <a:ln xmlns:a="http://schemas.openxmlformats.org/drawingml/2006/main" w="19050">
            <a:solidFill>
              <a:srgbClr val="B4BDBF"/>
            </a:solidFill>
            <a:tailEnd type="triangle" w="med" len="med"/>
          </a:ln>
        </p:spPr>
      </p:cxnSp>
      <p:sp>
        <p:nvSpPr>
          <p:cNvPr id="20" name="feedback">
            <a:extLst xmlns:a="http://schemas.openxmlformats.org/drawingml/2006/main">
              <a:ext uri="{FF2B5EF4-FFF2-40B4-BE49-F238E27FC236}">
                <a16:creationId xmlns:a16="http://schemas.microsoft.com/office/drawing/2014/main" id="{DE3F4237-31C1-421E-B65B-5AAC816D3DCC}"/>
              </a:ext>
            </a:extLst>
          </p:cNvPr>
          <p:cNvSpPr>
            <a:spLocks xmlns:a="http://schemas.openxmlformats.org/drawingml/2006/main" noGrp="1"/>
          </p:cNvSpPr>
          <p:nvPr/>
        </p:nvSpPr>
        <p:spPr>
          <a:xfrm xmlns:a="http://schemas.openxmlformats.org/drawingml/2006/main">
            <a:off x="4019550" y="4781550"/>
            <a:ext cx="4229100" cy="704850"/>
          </a:xfrm>
          <a:prstGeom xmlns:a="http://schemas.openxmlformats.org/drawingml/2006/main" prst="rect">
            <a:avLst/>
          </a:prstGeom>
          <a:noFill xmlns:a="http://schemas.openxmlformats.org/drawingml/2006/main"/>
          <a:ln xmlns:a="http://schemas.openxmlformats.org/drawingml/2006/main" w="19050">
            <a:solidFill>
              <a:srgbClr val="8FE3BA"/>
            </a:solidFill>
          </a:ln>
        </p:spPr>
      </p:sp>
      <p:sp>
        <p:nvSpPr>
          <p:cNvPr id="21" name="text-28">
            <a:extLst xmlns:a="http://schemas.openxmlformats.org/drawingml/2006/main">
              <a:ext uri="{FF2B5EF4-FFF2-40B4-BE49-F238E27FC236}">
                <a16:creationId xmlns:a16="http://schemas.microsoft.com/office/drawing/2014/main" id="{D4C039FE-6A0C-4C5F-A374-3C806B221409}"/>
              </a:ext>
            </a:extLst>
          </p:cNvPr>
          <p:cNvSpPr>
            <a:spLocks xmlns:a="http://schemas.openxmlformats.org/drawingml/2006/main" noGrp="1"/>
          </p:cNvSpPr>
          <p:nvPr/>
        </p:nvSpPr>
        <p:spPr>
          <a:xfrm xmlns:a="http://schemas.openxmlformats.org/drawingml/2006/main">
            <a:off x="4238625" y="4924425"/>
            <a:ext cx="3857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FE3BA"/>
                </a:solidFill>
                <a:latin typeface="Helvetica Neue"/>
                <a:ea typeface="Helvetica Neue"/>
                <a:cs typeface="Helvetica Neue"/>
              </a:defRPr>
            </a:pPr>
            <a:r>
              <a:rPr sz="2100" b="1">
                <a:solidFill>
                  <a:srgbClr val="8FE3BA"/>
                </a:solidFill>
                <a:latin typeface="Helvetica Neue"/>
                <a:ea typeface="Helvetica Neue"/>
                <a:cs typeface="Helvetica Neue"/>
              </a:rPr>
              <a:t>Saved result and diagnostics</a:t>
            </a:r>
          </a:p>
        </p:txBody>
      </p:sp>
      <p:cxnSp>
        <p:nvCxnSpPr>
          <p:cNvPr id="46" name=""/>
          <p:cNvCxnSpPr>
            <a:stCxn xmlns:a="http://schemas.openxmlformats.org/drawingml/2006/main" id="14" idx="2"/>
            <a:endCxn xmlns:a="http://schemas.openxmlformats.org/drawingml/2006/main" id="20" idx="3"/>
          </p:cNvCxnSpPr>
          <p:nvPr/>
        </p:nvCxnSpPr>
        <p:spPr>
          <a:xfrm xmlns:a="http://schemas.openxmlformats.org/drawingml/2006/main" flipH="1">
            <a:off x="8248650" y="4095750"/>
            <a:ext cx="2157413" cy="1038225"/>
          </a:xfrm>
          <a:prstGeom xmlns:a="http://schemas.openxmlformats.org/drawingml/2006/main" prst="bentConnector5">
            <a:avLst>
              <a:gd name="adj1" fmla="val 0"/>
              <a:gd name="adj2" fmla="val 22018"/>
              <a:gd name="adj3" fmla="val 89404"/>
            </a:avLst>
          </a:prstGeom>
          <a:ln xmlns:a="http://schemas.openxmlformats.org/drawingml/2006/main" w="19050">
            <a:solidFill>
              <a:srgbClr val="8FE3BA"/>
            </a:solidFill>
            <a:tailEnd type="triangle" w="med" len="med"/>
          </a:ln>
        </p:spPr>
      </p:cxnSp>
      <p:cxnSp>
        <p:nvCxnSpPr>
          <p:cNvPr id="47" name=""/>
          <p:cNvCxnSpPr>
            <a:stCxn xmlns:a="http://schemas.openxmlformats.org/drawingml/2006/main" id="20" idx="1"/>
            <a:endCxn xmlns:a="http://schemas.openxmlformats.org/drawingml/2006/main" id="5" idx="2"/>
          </p:cNvCxnSpPr>
          <p:nvPr/>
        </p:nvCxnSpPr>
        <p:spPr>
          <a:xfrm xmlns:a="http://schemas.openxmlformats.org/drawingml/2006/main" flipH="1" flipV="1">
            <a:off x="1776413" y="4095750"/>
            <a:ext cx="2243138" cy="1038225"/>
          </a:xfrm>
          <a:prstGeom xmlns:a="http://schemas.openxmlformats.org/drawingml/2006/main" prst="bentConnector2">
            <a:avLst/>
          </a:prstGeom>
          <a:ln xmlns:a="http://schemas.openxmlformats.org/drawingml/2006/main" w="19050">
            <a:solidFill>
              <a:srgbClr val="8FE3BA"/>
            </a:solidFill>
            <a:tailEnd type="triangle" w="med" len="med"/>
          </a:ln>
        </p:spPr>
      </p:cxnSp>
      <p:sp>
        <p:nvSpPr>
          <p:cNvPr id="24" name="text-29">
            <a:extLst xmlns:a="http://schemas.openxmlformats.org/drawingml/2006/main">
              <a:ext uri="{FF2B5EF4-FFF2-40B4-BE49-F238E27FC236}">
                <a16:creationId xmlns:a16="http://schemas.microsoft.com/office/drawing/2014/main" id="{243D89EA-F294-4532-BDAE-1200A97E1B75}"/>
              </a:ext>
            </a:extLst>
          </p:cNvPr>
          <p:cNvSpPr>
            <a:spLocks xmlns:a="http://schemas.openxmlformats.org/drawingml/2006/main" noGrp="1"/>
          </p:cNvSpPr>
          <p:nvPr/>
        </p:nvSpPr>
        <p:spPr>
          <a:xfrm xmlns:a="http://schemas.openxmlformats.org/drawingml/2006/main">
            <a:off x="609600" y="6029325"/>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4BDBF"/>
                </a:solidFill>
                <a:latin typeface="Helvetica Neue"/>
                <a:ea typeface="Helvetica Neue"/>
                <a:cs typeface="Helvetica Neue"/>
              </a:defRPr>
            </a:pPr>
            <a:r>
              <a:rPr sz="1875" b="0">
                <a:solidFill>
                  <a:srgbClr val="B4BDBF"/>
                </a:solidFill>
                <a:latin typeface="Helvetica Neue"/>
                <a:ea typeface="Helvetica Neue"/>
                <a:cs typeface="Helvetica Neue"/>
              </a:rPr>
              <a:t>One persistent task can run a candidate or a batch, then revise the experiment</a:t>
            </a:r>
          </a:p>
        </p:txBody>
      </p:sp>
    </p:spTree>
    <p:extLst>
      <p:ext uri="{BB962C8B-B14F-4D97-AF65-F5344CB8AC3E}">
        <p14:creationId xmlns:p14="http://schemas.microsoft.com/office/powerpoint/2010/main" val="1772682088"/>
      </p:ext>
    </p:extLst>
  </p:cSld>
</p:sld>
</file>

<file path=ppt/slides/slide4.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5" name="text-30">
            <a:extLst xmlns:a="http://schemas.openxmlformats.org/drawingml/2006/main">
              <a:ext uri="{FF2B5EF4-FFF2-40B4-BE49-F238E27FC236}">
                <a16:creationId xmlns:a16="http://schemas.microsoft.com/office/drawing/2014/main" id="{46CA4604-1BA4-49A2-BFF3-CD38AB3BFDA8}"/>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The update step produces an experiment</a:t>
            </a:r>
          </a:p>
        </p:txBody>
      </p:sp>
      <p:graphicFrame>
        <p:nvGraphicFramePr>
          <p:cNvPr id="6" name=""/>
          <p:cNvGraphicFramePr/>
          <p:nvPr/>
        </p:nvGraphicFramePr>
        <p:xfrm>
          <a:off xmlns:a="http://schemas.openxmlformats.org/drawingml/2006/main" x="609600" y="1733550"/>
          <a:ext xmlns:a="http://schemas.openxmlformats.org/drawingml/2006/main" cx="10953750" cy="2971800"/>
        </p:xfrm>
        <a:graphic xmlns:a="http://schemas.openxmlformats.org/drawingml/2006/main">
          <a:graphicData uri="http://schemas.openxmlformats.org/drawingml/2006/table">
            <a:tbl>
              <a:tblPr/>
              <a:tblGrid>
                <a:gridCol w="5334000"/>
                <a:gridCol w="5619750"/>
              </a:tblGrid>
              <a:tr h="742950">
                <a:tc>
                  <a:txBody>
                    <a:bodyPr/>
                    <a:lstStyle/>
                    <a:p>
                      <a:r>
                        <a:rPr sz="1725" b="1">
                          <a:solidFill>
                            <a:srgbClr val="B4BDBF"/>
                          </a:solidFill>
                          <a:latin typeface="Helvetica Neue"/>
                          <a:ea typeface="Helvetica Neue"/>
                          <a:cs typeface="Helvetica Neue"/>
                        </a:rPr>
                        <a:t>Agent reads</a:t>
                      </a:r>
                    </a:p>
                  </a:txBody>
                  <a:tcPr marL="91440" marR="91440" marT="45720" marB="45720">
                    <a:solidFill>
                      <a:srgbClr val="101417"/>
                    </a:solidFill>
                  </a:tcPr>
                </a:tc>
                <a:tc>
                  <a:txBody>
                    <a:bodyPr/>
                    <a:lstStyle/>
                    <a:p>
                      <a:r>
                        <a:rPr sz="1725" b="1">
                          <a:solidFill>
                            <a:srgbClr val="B4BDBF"/>
                          </a:solidFill>
                          <a:latin typeface="Helvetica Neue"/>
                          <a:ea typeface="Helvetica Neue"/>
                          <a:cs typeface="Helvetica Neue"/>
                        </a:rPr>
                        <a:t>Agent produces</a:t>
                      </a:r>
                    </a:p>
                  </a:txBody>
                  <a:tcPr marL="91440" marR="91440" marT="45720" marB="45720">
                    <a:solidFill>
                      <a:srgbClr val="101417"/>
                    </a:solidFill>
                  </a:tcPr>
                </a:tc>
              </a:tr>
              <a:tr h="742950">
                <a:tc>
                  <a:txBody>
                    <a:bodyPr/>
                    <a:lstStyle/>
                    <a:p>
                      <a:r>
                        <a:rPr sz="1950" b="0">
                          <a:solidFill>
                            <a:srgbClr val="F6F3EA"/>
                          </a:solidFill>
                          <a:latin typeface="Helvetica Neue"/>
                          <a:ea typeface="Helvetica Neue"/>
                          <a:cs typeface="Helvetica Neue"/>
                        </a:rPr>
                        <a:t>Board, schematic and constraints</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Python proposal code and parameters</a:t>
                      </a:r>
                    </a:p>
                  </a:txBody>
                  <a:tcPr marL="91440" marR="91440" marT="45720" marB="45720">
                    <a:solidFill>
                      <a:srgbClr val="101417"/>
                    </a:solidFill>
                  </a:tcPr>
                </a:tc>
              </a:tr>
              <a:tr h="742950">
                <a:tc>
                  <a:txBody>
                    <a:bodyPr/>
                    <a:lstStyle/>
                    <a:p>
                      <a:r>
                        <a:rPr sz="1950" b="0">
                          <a:solidFill>
                            <a:srgbClr val="F6F3EA"/>
                          </a:solidFill>
                          <a:latin typeface="Helvetica Neue"/>
                          <a:ea typeface="Helvetica Neue"/>
                          <a:cs typeface="Helvetica Neue"/>
                        </a:rPr>
                        <a:t>Current valid best and score terms</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A candidate or a deterministic batch</a:t>
                      </a:r>
                    </a:p>
                  </a:txBody>
                  <a:tcPr marL="91440" marR="91440" marT="45720" marB="45720">
                    <a:solidFill>
                      <a:srgbClr val="101417"/>
                    </a:solidFill>
                  </a:tcPr>
                </a:tc>
              </a:tr>
              <a:tr h="742950">
                <a:tc>
                  <a:txBody>
                    <a:bodyPr/>
                    <a:lstStyle/>
                    <a:p>
                      <a:r>
                        <a:rPr sz="1950" b="0">
                          <a:solidFill>
                            <a:srgbClr val="F6F3EA"/>
                          </a:solidFill>
                          <a:latin typeface="Helvetica Neue"/>
                          <a:ea typeface="Helvetica Neue"/>
                          <a:cs typeface="Helvetica Neue"/>
                        </a:rPr>
                        <a:t>Opens, rule failures and prior actions</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A rationale for the next intervention</a:t>
                      </a:r>
                    </a:p>
                  </a:txBody>
                  <a:tcPr marL="91440" marR="91440" marT="45720" marB="45720">
                    <a:solidFill>
                      <a:srgbClr val="101417"/>
                    </a:solidFill>
                  </a:tcPr>
                </a:tc>
              </a:tr>
            </a:tbl>
          </a:graphicData>
        </a:graphic>
      </p:graphicFrame>
      <p:sp>
        <p:nvSpPr>
          <p:cNvPr id="3" name="text-31">
            <a:extLst xmlns:a="http://schemas.openxmlformats.org/drawingml/2006/main">
              <a:ext uri="{FF2B5EF4-FFF2-40B4-BE49-F238E27FC236}">
                <a16:creationId xmlns:a16="http://schemas.microsoft.com/office/drawing/2014/main" id="{6C61CE88-8991-41DD-ACE0-DC44C2415516}"/>
              </a:ext>
            </a:extLst>
          </p:cNvPr>
          <p:cNvSpPr>
            <a:spLocks xmlns:a="http://schemas.openxmlformats.org/drawingml/2006/main" noGrp="1"/>
          </p:cNvSpPr>
          <p:nvPr/>
        </p:nvSpPr>
        <p:spPr>
          <a:xfrm xmlns:a="http://schemas.openxmlformats.org/drawingml/2006/main">
            <a:off x="609600" y="523875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8FE3BA"/>
                </a:solidFill>
                <a:latin typeface="Helvetica Neue"/>
                <a:ea typeface="Helvetica Neue"/>
                <a:cs typeface="Helvetica Neue"/>
              </a:defRPr>
            </a:pPr>
            <a:r>
              <a:rPr sz="2625" b="1">
                <a:solidFill>
                  <a:srgbClr val="8FE3BA"/>
                </a:solidFill>
                <a:latin typeface="Helvetica Neue"/>
                <a:ea typeface="Helvetica Neue"/>
                <a:cs typeface="Helvetica Neue"/>
              </a:rPr>
              <a:t>Evaluation returns the routed board, diagnostics and keep/reject decision</a:t>
            </a:r>
          </a:p>
        </p:txBody>
      </p:sp>
      <p:sp>
        <p:nvSpPr>
          <p:cNvPr id="4" name="text-32">
            <a:extLst xmlns:a="http://schemas.openxmlformats.org/drawingml/2006/main">
              <a:ext uri="{FF2B5EF4-FFF2-40B4-BE49-F238E27FC236}">
                <a16:creationId xmlns:a16="http://schemas.microsoft.com/office/drawing/2014/main" id="{E555C2D4-AFAC-4CCF-BCAB-5DCAA49BCC85}"/>
              </a:ext>
            </a:extLst>
          </p:cNvPr>
          <p:cNvSpPr>
            <a:spLocks xmlns:a="http://schemas.openxmlformats.org/drawingml/2006/main" noGrp="1"/>
          </p:cNvSpPr>
          <p:nvPr/>
        </p:nvSpPr>
        <p:spPr>
          <a:xfrm xmlns:a="http://schemas.openxmlformats.org/drawingml/2006/main">
            <a:off x="609600" y="6362700"/>
            <a:ext cx="10858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4BDBF"/>
                </a:solidFill>
                <a:latin typeface="Helvetica Neue"/>
                <a:ea typeface="Helvetica Neue"/>
                <a:cs typeface="Helvetica Neue"/>
              </a:defRPr>
            </a:pPr>
            <a:r>
              <a:rPr sz="1650" b="0">
                <a:solidFill>
                  <a:srgbClr val="B4BDBF"/>
                </a:solidFill>
                <a:latin typeface="Helvetica Neue"/>
                <a:ea typeface="Helvetica Neue"/>
                <a:cs typeface="Helvetica Neue"/>
              </a:rPr>
              <a:t>Model decisions happen between experiments. A batch can evaluate several candidates.</a:t>
            </a:r>
          </a:p>
        </p:txBody>
      </p:sp>
    </p:spTree>
    <p:extLst>
      <p:ext uri="{BB962C8B-B14F-4D97-AF65-F5344CB8AC3E}">
        <p14:creationId xmlns:p14="http://schemas.microsoft.com/office/powerpoint/2010/main" val="361104867"/>
      </p:ext>
    </p:extLst>
  </p:cSld>
</p:sld>
</file>

<file path=ppt/slides/slide5.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8" name="text-33">
            <a:extLst xmlns:a="http://schemas.openxmlformats.org/drawingml/2006/main">
              <a:ext uri="{FF2B5EF4-FFF2-40B4-BE49-F238E27FC236}">
                <a16:creationId xmlns:a16="http://schemas.microsoft.com/office/drawing/2014/main" id="{FD677D8F-3E82-4AAF-AFF9-60FB95277255}"/>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The prompt continues a persistent task</a:t>
            </a:r>
          </a:p>
        </p:txBody>
      </p:sp>
      <p:sp>
        <p:nvSpPr>
          <p:cNvPr id="2" name="text-34">
            <a:extLst xmlns:a="http://schemas.openxmlformats.org/drawingml/2006/main">
              <a:ext uri="{FF2B5EF4-FFF2-40B4-BE49-F238E27FC236}">
                <a16:creationId xmlns:a16="http://schemas.microsoft.com/office/drawing/2014/main" id="{0875D5E1-3D6D-4C1E-9415-8B48AA32AB9C}"/>
              </a:ext>
            </a:extLst>
          </p:cNvPr>
          <p:cNvSpPr>
            <a:spLocks xmlns:a="http://schemas.openxmlformats.org/drawingml/2006/main" noGrp="1"/>
          </p:cNvSpPr>
          <p:nvPr/>
        </p:nvSpPr>
        <p:spPr>
          <a:xfrm xmlns:a="http://schemas.openxmlformats.org/drawingml/2006/main">
            <a:off x="609600" y="14763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DA96E"/>
                </a:solidFill>
                <a:latin typeface="Helvetica Neue"/>
                <a:ea typeface="Helvetica Neue"/>
                <a:cs typeface="Helvetica Neue"/>
              </a:defRPr>
            </a:pPr>
            <a:r>
              <a:rPr sz="2850" b="1">
                <a:solidFill>
                  <a:srgbClr val="EDA96E"/>
                </a:solidFill>
                <a:latin typeface="Helvetica Neue"/>
                <a:ea typeface="Helvetica Neue"/>
                <a:cs typeface="Helvetica Neue"/>
              </a:rPr>
              <a:t>A persistent Codex task</a:t>
            </a:r>
          </a:p>
        </p:txBody>
      </p:sp>
      <p:sp>
        <p:nvSpPr>
          <p:cNvPr id="3" name="text-35">
            <a:extLst xmlns:a="http://schemas.openxmlformats.org/drawingml/2006/main">
              <a:ext uri="{FF2B5EF4-FFF2-40B4-BE49-F238E27FC236}">
                <a16:creationId xmlns:a16="http://schemas.microsoft.com/office/drawing/2014/main" id="{87E8E8A8-8F0A-4E6C-9681-F29571327DB5}"/>
              </a:ext>
            </a:extLst>
          </p:cNvPr>
          <p:cNvSpPr>
            <a:spLocks xmlns:a="http://schemas.openxmlformats.org/drawingml/2006/main" noGrp="1"/>
          </p:cNvSpPr>
          <p:nvPr/>
        </p:nvSpPr>
        <p:spPr>
          <a:xfrm xmlns:a="http://schemas.openxmlformats.org/drawingml/2006/main">
            <a:off x="609600" y="20955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6F3EA"/>
                </a:solidFill>
                <a:latin typeface="Helvetica Neue"/>
                <a:ea typeface="Helvetica Neue"/>
                <a:cs typeface="Helvetica Neue"/>
              </a:defRPr>
            </a:pPr>
            <a:r>
              <a:rPr sz="2250" b="0">
                <a:solidFill>
                  <a:srgbClr val="F6F3EA"/>
                </a:solidFill>
                <a:latin typeface="Helvetica Neue"/>
                <a:ea typeface="Helvetica Neue"/>
                <a:cs typeface="Helvetica Neue"/>
              </a:rPr>
              <a:t>Initial stage instructions + Coordinator feedback + inspected files</a:t>
            </a:r>
          </a:p>
        </p:txBody>
      </p:sp>
      <p:sp>
        <p:nvSpPr>
          <p:cNvPr id="4" name="text-36">
            <a:extLst xmlns:a="http://schemas.openxmlformats.org/drawingml/2006/main">
              <a:ext uri="{FF2B5EF4-FFF2-40B4-BE49-F238E27FC236}">
                <a16:creationId xmlns:a16="http://schemas.microsoft.com/office/drawing/2014/main" id="{F31BBBF9-A985-42DD-A6BE-19B8A88201DA}"/>
              </a:ext>
            </a:extLst>
          </p:cNvPr>
          <p:cNvSpPr>
            <a:spLocks xmlns:a="http://schemas.openxmlformats.org/drawingml/2006/main" noGrp="1"/>
          </p:cNvSpPr>
          <p:nvPr/>
        </p:nvSpPr>
        <p:spPr>
          <a:xfrm xmlns:a="http://schemas.openxmlformats.org/drawingml/2006/main">
            <a:off x="609600" y="31337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4BDBF"/>
                </a:solidFill>
                <a:latin typeface="Helvetica Neue"/>
                <a:ea typeface="Helvetica Neue"/>
                <a:cs typeface="Helvetica Neue"/>
              </a:defRPr>
            </a:pPr>
            <a:r>
              <a:rPr sz="1875" b="0">
                <a:solidFill>
                  <a:srgbClr val="B4BDBF"/>
                </a:solidFill>
                <a:latin typeface="Helvetica Neue"/>
                <a:ea typeface="Helvetica Neue"/>
                <a:cs typeface="Helvetica Neue"/>
              </a:rPr>
              <a:t>Actual initial prompt excerpt</a:t>
            </a:r>
          </a:p>
        </p:txBody>
      </p:sp>
      <p:sp>
        <p:nvSpPr>
          <p:cNvPr id="5" name="text-37">
            <a:extLst xmlns:a="http://schemas.openxmlformats.org/drawingml/2006/main">
              <a:ext uri="{FF2B5EF4-FFF2-40B4-BE49-F238E27FC236}">
                <a16:creationId xmlns:a16="http://schemas.microsoft.com/office/drawing/2014/main" id="{3C9D054E-239D-4B54-AF56-5A06C436A25E}"/>
              </a:ext>
            </a:extLst>
          </p:cNvPr>
          <p:cNvSpPr>
            <a:spLocks xmlns:a="http://schemas.openxmlformats.org/drawingml/2006/main" noGrp="1"/>
          </p:cNvSpPr>
          <p:nvPr/>
        </p:nvSpPr>
        <p:spPr>
          <a:xfrm xmlns:a="http://schemas.openxmlformats.org/drawingml/2006/main">
            <a:off x="609600" y="3705225"/>
            <a:ext cx="10763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F6F3EA"/>
                </a:solidFill>
                <a:latin typeface="Helvetica Neue"/>
                <a:ea typeface="Helvetica Neue"/>
                <a:cs typeface="Helvetica Neue"/>
              </a:defRPr>
            </a:pPr>
            <a:r>
              <a:rPr sz="2775" b="0">
                <a:solidFill>
                  <a:srgbClr val="F6F3EA"/>
                </a:solidFill>
                <a:latin typeface="Helvetica Neue"/>
                <a:ea typeface="Helvetica Neue"/>
                <a:cs typeface="Helvetica Neue"/>
              </a:rPr>
              <a:t>“Outer iteration changes placement/topology, inner runs full-board enabled-layer autorouting then native evaluation.”</a:t>
            </a:r>
          </a:p>
        </p:txBody>
      </p:sp>
      <p:sp>
        <p:nvSpPr>
          <p:cNvPr id="6" name="text-38">
            <a:extLst xmlns:a="http://schemas.openxmlformats.org/drawingml/2006/main">
              <a:ext uri="{FF2B5EF4-FFF2-40B4-BE49-F238E27FC236}">
                <a16:creationId xmlns:a16="http://schemas.microsoft.com/office/drawing/2014/main" id="{F9BA83D8-CFAA-4372-8D4F-5E89217F5BB5}"/>
              </a:ext>
            </a:extLst>
          </p:cNvPr>
          <p:cNvSpPr>
            <a:spLocks xmlns:a="http://schemas.openxmlformats.org/drawingml/2006/main" noGrp="1"/>
          </p:cNvSpPr>
          <p:nvPr/>
        </p:nvSpPr>
        <p:spPr>
          <a:xfrm xmlns:a="http://schemas.openxmlformats.org/drawingml/2006/main">
            <a:off x="609600" y="543877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FE3BA"/>
                </a:solidFill>
                <a:latin typeface="Helvetica Neue"/>
                <a:ea typeface="Helvetica Neue"/>
                <a:cs typeface="Helvetica Neue"/>
              </a:defRPr>
            </a:pPr>
            <a:r>
              <a:rPr sz="2175" b="0">
                <a:solidFill>
                  <a:srgbClr val="8FE3BA"/>
                </a:solidFill>
                <a:latin typeface="Helvetica Neue"/>
                <a:ea typeface="Helvetica Neue"/>
                <a:cs typeface="Helvetica Neue"/>
              </a:rPr>
              <a:t>Stage 1 seeks full validity. Stage 2 accepts only a lower valid score.</a:t>
            </a:r>
          </a:p>
        </p:txBody>
      </p:sp>
      <p:sp>
        <p:nvSpPr>
          <p:cNvPr id="7" name="link-prompts">
            <a:extLst xmlns:a="http://schemas.openxmlformats.org/drawingml/2006/main">
              <a:ext uri="{FF2B5EF4-FFF2-40B4-BE49-F238E27FC236}">
                <a16:creationId xmlns:a16="http://schemas.microsoft.com/office/drawing/2014/main" id="{50ACFDED-1D4C-417C-ABD1-C5342C05EB20}"/>
              </a:ext>
            </a:extLst>
            <ns0:hlinkClick xmlns:ns0="http://schemas.openxmlformats.org/drawingml/2006/main" xmlns:ns1="http://schemas.openxmlformats.org/officeDocument/2006/relationships" ns1:id="rIdLink3"/>
          </p:cNvPr>
          <p:cNvSpPr>
            <a:spLocks xmlns:a="http://schemas.openxmlformats.org/drawingml/2006/main" noGrp="1"/>
          </p:cNvSpPr>
          <p:nvPr/>
        </p:nvSpPr>
        <p:spPr>
          <a:xfrm xmlns:a="http://schemas.openxmlformats.org/drawingml/2006/main">
            <a:off x="609600" y="6172200"/>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EDA96E"/>
                </a:solidFill>
                <a:latin typeface="Helvetica Neue"/>
                <a:ea typeface="Helvetica Neue"/>
                <a:cs typeface="Helvetica Neue"/>
              </a:defRPr>
            </a:pPr>
            <a:r>
              <a:rPr sz="1800" b="1">
                <a:solidFill>
                  <a:srgbClr val="EDA96E"/>
                </a:solidFill>
                <a:latin typeface="Helvetica Neue"/>
                <a:ea typeface="Helvetica Neue"/>
                <a:cs typeface="Helvetica Neue"/>
              </a:rPr>
              <a:t>Public prompt archive</a:t>
            </a:r>
          </a:p>
        </p:txBody>
      </p:sp>
    </p:spTree>
    <p:extLst>
      <p:ext uri="{BB962C8B-B14F-4D97-AF65-F5344CB8AC3E}">
        <p14:creationId xmlns:p14="http://schemas.microsoft.com/office/powerpoint/2010/main" val="779329700"/>
      </p:ext>
    </p:extLst>
  </p:cSld>
</p:sld>
</file>

<file path=ppt/slides/slide6.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5" name="text-39">
            <a:extLst xmlns:a="http://schemas.openxmlformats.org/drawingml/2006/main">
              <a:ext uri="{FF2B5EF4-FFF2-40B4-BE49-F238E27FC236}">
                <a16:creationId xmlns:a16="http://schemas.microsoft.com/office/drawing/2014/main" id="{301B556D-84AD-44A1-BE97-F37F068A9285}"/>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Python creates a native KiCad candidate</a:t>
            </a:r>
          </a:p>
        </p:txBody>
      </p:sp>
      <p:graphicFrame>
        <p:nvGraphicFramePr>
          <p:cNvPr id="6" name=""/>
          <p:cNvGraphicFramePr/>
          <p:nvPr/>
        </p:nvGraphicFramePr>
        <p:xfrm>
          <a:off xmlns:a="http://schemas.openxmlformats.org/drawingml/2006/main" x="609600" y="1619250"/>
          <a:ext xmlns:a="http://schemas.openxmlformats.org/drawingml/2006/main" cx="10953750" cy="3505200"/>
        </p:xfrm>
        <a:graphic xmlns:a="http://schemas.openxmlformats.org/drawingml/2006/main">
          <a:graphicData uri="http://schemas.openxmlformats.org/drawingml/2006/table">
            <a:tbl>
              <a:tblPr/>
              <a:tblGrid>
                <a:gridCol w="2952750"/>
                <a:gridCol w="8001000"/>
              </a:tblGrid>
              <a:tr h="701040">
                <a:tc>
                  <a:txBody>
                    <a:bodyPr/>
                    <a:lstStyle/>
                    <a:p>
                      <a:r>
                        <a:rPr sz="1725" b="1">
                          <a:solidFill>
                            <a:srgbClr val="B4BDBF"/>
                          </a:solidFill>
                          <a:latin typeface="Helvetica Neue"/>
                          <a:ea typeface="Helvetica Neue"/>
                          <a:cs typeface="Helvetica Neue"/>
                        </a:rPr>
                        <a:t>Step</a:t>
                      </a:r>
                    </a:p>
                  </a:txBody>
                  <a:tcPr marL="91440" marR="91440" marT="45720" marB="45720">
                    <a:solidFill>
                      <a:srgbClr val="101417"/>
                    </a:solidFill>
                  </a:tcPr>
                </a:tc>
                <a:tc>
                  <a:txBody>
                    <a:bodyPr/>
                    <a:lstStyle/>
                    <a:p>
                      <a:r>
                        <a:rPr sz="1725" b="1">
                          <a:solidFill>
                            <a:srgbClr val="B4BDBF"/>
                          </a:solidFill>
                          <a:latin typeface="Helvetica Neue"/>
                          <a:ea typeface="Helvetica Neue"/>
                          <a:cs typeface="Helvetica Neue"/>
                        </a:rPr>
                        <a:t>What happens</a:t>
                      </a:r>
                    </a:p>
                  </a:txBody>
                  <a:tcPr marL="91440" marR="91440" marT="45720" marB="45720">
                    <a:solidFill>
                      <a:srgbClr val="101417"/>
                    </a:solidFill>
                  </a:tcPr>
                </a:tc>
              </a:tr>
              <a:tr h="701040">
                <a:tc>
                  <a:txBody>
                    <a:bodyPr/>
                    <a:lstStyle/>
                    <a:p>
                      <a:r>
                        <a:rPr sz="1950" b="0">
                          <a:solidFill>
                            <a:srgbClr val="F6F3EA"/>
                          </a:solidFill>
                          <a:latin typeface="Helvetica Neue"/>
                          <a:ea typeface="Helvetica Neue"/>
                          <a:cs typeface="Helvetica Neue"/>
                        </a:rPr>
                        <a:t>1. Select geometry</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Read the chosen source board and proposal parameters</a:t>
                      </a:r>
                    </a:p>
                  </a:txBody>
                  <a:tcPr marL="91440" marR="91440" marT="45720" marB="45720">
                    <a:solidFill>
                      <a:srgbClr val="101417"/>
                    </a:solidFill>
                  </a:tcPr>
                </a:tc>
              </a:tr>
              <a:tr h="701040">
                <a:tc>
                  <a:txBody>
                    <a:bodyPr/>
                    <a:lstStyle/>
                    <a:p>
                      <a:r>
                        <a:rPr sz="1950" b="0">
                          <a:solidFill>
                            <a:srgbClr val="F6F3EA"/>
                          </a:solidFill>
                          <a:latin typeface="Helvetica Neue"/>
                          <a:ea typeface="Helvetica Neue"/>
                          <a:cs typeface="Helvetica Neue"/>
                        </a:rPr>
                        <a:t>2. Apply an action</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Move components, resize the outline or seed topology</a:t>
                      </a:r>
                    </a:p>
                  </a:txBody>
                  <a:tcPr marL="91440" marR="91440" marT="45720" marB="45720">
                    <a:solidFill>
                      <a:srgbClr val="101417"/>
                    </a:solidFill>
                  </a:tcPr>
                </a:tc>
              </a:tr>
              <a:tr h="701040">
                <a:tc>
                  <a:txBody>
                    <a:bodyPr/>
                    <a:lstStyle/>
                    <a:p>
                      <a:r>
                        <a:rPr sz="1950" b="0">
                          <a:solidFill>
                            <a:srgbClr val="F6F3EA"/>
                          </a:solidFill>
                          <a:latin typeface="Helvetica Neue"/>
                          <a:ea typeface="Helvetica Neue"/>
                          <a:cs typeface="Helvetica Neue"/>
                        </a:rPr>
                        <a:t>3. Realize the route</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KiCad exports DSN; Freerouting returns an SES route</a:t>
                      </a:r>
                    </a:p>
                  </a:txBody>
                  <a:tcPr marL="91440" marR="91440" marT="45720" marB="45720">
                    <a:solidFill>
                      <a:srgbClr val="101417"/>
                    </a:solidFill>
                  </a:tcPr>
                </a:tc>
              </a:tr>
              <a:tr h="701040">
                <a:tc>
                  <a:txBody>
                    <a:bodyPr/>
                    <a:lstStyle/>
                    <a:p>
                      <a:r>
                        <a:rPr sz="1950" b="0">
                          <a:solidFill>
                            <a:srgbClr val="F6F3EA"/>
                          </a:solidFill>
                          <a:latin typeface="Helvetica Neue"/>
                          <a:ea typeface="Helvetica Neue"/>
                          <a:cs typeface="Helvetica Neue"/>
                        </a:rPr>
                        <a:t>4. Check the result</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KiCad imports SES, then native evaluation runs</a:t>
                      </a:r>
                    </a:p>
                  </a:txBody>
                  <a:tcPr marL="91440" marR="91440" marT="45720" marB="45720">
                    <a:solidFill>
                      <a:srgbClr val="101417"/>
                    </a:solidFill>
                  </a:tcPr>
                </a:tc>
              </a:tr>
            </a:tbl>
          </a:graphicData>
        </a:graphic>
      </p:graphicFrame>
      <p:sp>
        <p:nvSpPr>
          <p:cNvPr id="3" name="text-40">
            <a:extLst xmlns:a="http://schemas.openxmlformats.org/drawingml/2006/main">
              <a:ext uri="{FF2B5EF4-FFF2-40B4-BE49-F238E27FC236}">
                <a16:creationId xmlns:a16="http://schemas.microsoft.com/office/drawing/2014/main" id="{A77357D4-24D2-4171-B128-165A26EF33B8}"/>
              </a:ext>
            </a:extLst>
          </p:cNvPr>
          <p:cNvSpPr>
            <a:spLocks xmlns:a="http://schemas.openxmlformats.org/drawingml/2006/main" noGrp="1"/>
          </p:cNvSpPr>
          <p:nvPr/>
        </p:nvSpPr>
        <p:spPr>
          <a:xfrm xmlns:a="http://schemas.openxmlformats.org/drawingml/2006/main">
            <a:off x="609600" y="5581650"/>
            <a:ext cx="10858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EDA96E"/>
                </a:solidFill>
                <a:latin typeface="Helvetica Neue"/>
                <a:ea typeface="Helvetica Neue"/>
                <a:cs typeface="Helvetica Neue"/>
              </a:defRPr>
            </a:pPr>
            <a:r>
              <a:rPr sz="2325" b="1">
                <a:solidFill>
                  <a:srgbClr val="EDA96E"/>
                </a:solidFill>
                <a:latin typeface="Helvetica Neue"/>
                <a:ea typeface="Helvetica Neue"/>
                <a:cs typeface="Helvetica Neue"/>
              </a:rPr>
              <a:t>Actions include spacing changes, functional grouping and ground escape</a:t>
            </a:r>
          </a:p>
        </p:txBody>
      </p:sp>
      <p:sp>
        <p:nvSpPr>
          <p:cNvPr id="4" name="text-41">
            <a:extLst xmlns:a="http://schemas.openxmlformats.org/drawingml/2006/main">
              <a:ext uri="{FF2B5EF4-FFF2-40B4-BE49-F238E27FC236}">
                <a16:creationId xmlns:a16="http://schemas.microsoft.com/office/drawing/2014/main" id="{24C87926-3AE6-49AD-8363-9856F0F665EF}"/>
              </a:ext>
            </a:extLst>
          </p:cNvPr>
          <p:cNvSpPr>
            <a:spLocks xmlns:a="http://schemas.openxmlformats.org/drawingml/2006/main" noGrp="1"/>
          </p:cNvSpPr>
          <p:nvPr/>
        </p:nvSpPr>
        <p:spPr>
          <a:xfrm xmlns:a="http://schemas.openxmlformats.org/drawingml/2006/main">
            <a:off x="609600" y="6419850"/>
            <a:ext cx="1085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4BDBF"/>
                </a:solidFill>
                <a:latin typeface="Helvetica Neue"/>
                <a:ea typeface="Helvetica Neue"/>
                <a:cs typeface="Helvetica Neue"/>
              </a:defRPr>
            </a:pPr>
            <a:r>
              <a:rPr sz="1575" b="0">
                <a:solidFill>
                  <a:srgbClr val="B4BDBF"/>
                </a:solidFill>
                <a:latin typeface="Helvetica Neue"/>
                <a:ea typeface="Helvetica Neue"/>
                <a:cs typeface="Helvetica Neue"/>
              </a:rPr>
              <a:t>Freerouting selects trace paths and via transitions within the allowed layer/rule set.</a:t>
            </a:r>
          </a:p>
        </p:txBody>
      </p:sp>
    </p:spTree>
    <p:extLst>
      <p:ext uri="{BB962C8B-B14F-4D97-AF65-F5344CB8AC3E}">
        <p14:creationId xmlns:p14="http://schemas.microsoft.com/office/powerpoint/2010/main" val="994413312"/>
      </p:ext>
    </p:extLst>
  </p:cSld>
</p:sld>
</file>

<file path=ppt/slides/slide7.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5" name="text-42">
            <a:extLst xmlns:a="http://schemas.openxmlformats.org/drawingml/2006/main">
              <a:ext uri="{FF2B5EF4-FFF2-40B4-BE49-F238E27FC236}">
                <a16:creationId xmlns:a16="http://schemas.microsoft.com/office/drawing/2014/main" id="{8A648D6C-4C5C-48D4-871E-3E561EC9FA68}"/>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Validity is a gate before optimization</a:t>
            </a:r>
          </a:p>
        </p:txBody>
      </p:sp>
      <p:graphicFrame>
        <p:nvGraphicFramePr>
          <p:cNvPr id="6" name=""/>
          <p:cNvGraphicFramePr/>
          <p:nvPr/>
        </p:nvGraphicFramePr>
        <p:xfrm>
          <a:off xmlns:a="http://schemas.openxmlformats.org/drawingml/2006/main" x="609600" y="1724025"/>
          <a:ext xmlns:a="http://schemas.openxmlformats.org/drawingml/2006/main" cx="10953750" cy="3333750"/>
        </p:xfrm>
        <a:graphic xmlns:a="http://schemas.openxmlformats.org/drawingml/2006/main">
          <a:graphicData uri="http://schemas.openxmlformats.org/drawingml/2006/table">
            <a:tbl>
              <a:tblPr/>
              <a:tblGrid>
                <a:gridCol w="3429000"/>
                <a:gridCol w="7524750"/>
              </a:tblGrid>
              <a:tr h="666750">
                <a:tc>
                  <a:txBody>
                    <a:bodyPr/>
                    <a:lstStyle/>
                    <a:p>
                      <a:r>
                        <a:rPr sz="1725" b="1">
                          <a:solidFill>
                            <a:srgbClr val="B4BDBF"/>
                          </a:solidFill>
                          <a:latin typeface="Helvetica Neue"/>
                          <a:ea typeface="Helvetica Neue"/>
                          <a:cs typeface="Helvetica Neue"/>
                        </a:rPr>
                        <a:t>Gate</a:t>
                      </a:r>
                    </a:p>
                  </a:txBody>
                  <a:tcPr marL="91440" marR="91440" marT="45720" marB="45720">
                    <a:solidFill>
                      <a:srgbClr val="101417"/>
                    </a:solidFill>
                  </a:tcPr>
                </a:tc>
                <a:tc>
                  <a:txBody>
                    <a:bodyPr/>
                    <a:lstStyle/>
                    <a:p>
                      <a:r>
                        <a:rPr sz="1725" b="1">
                          <a:solidFill>
                            <a:srgbClr val="B4BDBF"/>
                          </a:solidFill>
                          <a:latin typeface="Helvetica Neue"/>
                          <a:ea typeface="Helvetica Neue"/>
                          <a:cs typeface="Helvetica Neue"/>
                        </a:rPr>
                        <a:t>Required evidence</a:t>
                      </a:r>
                    </a:p>
                  </a:txBody>
                  <a:tcPr marL="91440" marR="91440" marT="45720" marB="45720">
                    <a:solidFill>
                      <a:srgbClr val="101417"/>
                    </a:solidFill>
                  </a:tcPr>
                </a:tc>
              </a:tr>
              <a:tr h="666750">
                <a:tc>
                  <a:txBody>
                    <a:bodyPr/>
                    <a:lstStyle/>
                    <a:p>
                      <a:r>
                        <a:rPr sz="1950" b="0">
                          <a:solidFill>
                            <a:srgbClr val="F6F3EA"/>
                          </a:solidFill>
                          <a:latin typeface="Helvetica Neue"/>
                          <a:ea typeface="Helvetica Neue"/>
                          <a:cs typeface="Helvetica Neue"/>
                        </a:rPr>
                        <a:t>Connectivity and circuit</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No opens; schematic, net and footprint parity</a:t>
                      </a:r>
                    </a:p>
                  </a:txBody>
                  <a:tcPr marL="91440" marR="91440" marT="45720" marB="45720">
                    <a:solidFill>
                      <a:srgbClr val="101417"/>
                    </a:solidFill>
                  </a:tcPr>
                </a:tc>
              </a:tr>
              <a:tr h="666750">
                <a:tc>
                  <a:txBody>
                    <a:bodyPr/>
                    <a:lstStyle/>
                    <a:p>
                      <a:r>
                        <a:rPr sz="1950" b="0">
                          <a:solidFill>
                            <a:srgbClr val="F6F3EA"/>
                          </a:solidFill>
                          <a:latin typeface="Helvetica Neue"/>
                          <a:ea typeface="Helvetica Neue"/>
                          <a:cs typeface="Helvetica Neue"/>
                        </a:rPr>
                        <a:t>Manufacturing rules</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Native DRC/ERC and preserved design constraints</a:t>
                      </a:r>
                    </a:p>
                  </a:txBody>
                  <a:tcPr marL="91440" marR="91440" marT="45720" marB="45720">
                    <a:solidFill>
                      <a:srgbClr val="101417"/>
                    </a:solidFill>
                  </a:tcPr>
                </a:tc>
              </a:tr>
              <a:tr h="666750">
                <a:tc>
                  <a:txBody>
                    <a:bodyPr/>
                    <a:lstStyle/>
                    <a:p>
                      <a:r>
                        <a:rPr sz="1950" b="0">
                          <a:solidFill>
                            <a:srgbClr val="F6F3EA"/>
                          </a:solidFill>
                          <a:latin typeface="Helvetica Neue"/>
                          <a:ea typeface="Helvetica Neue"/>
                          <a:cs typeface="Helvetica Neue"/>
                        </a:rPr>
                        <a:t>Assembly</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All component models resolve; no screened overlaps</a:t>
                      </a:r>
                    </a:p>
                  </a:txBody>
                  <a:tcPr marL="91440" marR="91440" marT="45720" marB="45720">
                    <a:solidFill>
                      <a:srgbClr val="101417"/>
                    </a:solidFill>
                  </a:tcPr>
                </a:tc>
              </a:tr>
              <a:tr h="666750">
                <a:tc>
                  <a:txBody>
                    <a:bodyPr/>
                    <a:lstStyle/>
                    <a:p>
                      <a:r>
                        <a:rPr sz="1950" b="0">
                          <a:solidFill>
                            <a:srgbClr val="F6F3EA"/>
                          </a:solidFill>
                          <a:latin typeface="Helvetica Neue"/>
                          <a:ea typeface="Helvetica Neue"/>
                          <a:cs typeface="Helvetica Neue"/>
                        </a:rPr>
                        <a:t>Stage 2 decision</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Keep only a strictly lower valid score</a:t>
                      </a:r>
                    </a:p>
                  </a:txBody>
                  <a:tcPr marL="91440" marR="91440" marT="45720" marB="45720">
                    <a:solidFill>
                      <a:srgbClr val="101417"/>
                    </a:solidFill>
                  </a:tcPr>
                </a:tc>
              </a:tr>
            </a:tbl>
          </a:graphicData>
        </a:graphic>
      </p:graphicFrame>
      <p:sp>
        <p:nvSpPr>
          <p:cNvPr id="3" name="text-43">
            <a:extLst xmlns:a="http://schemas.openxmlformats.org/drawingml/2006/main">
              <a:ext uri="{FF2B5EF4-FFF2-40B4-BE49-F238E27FC236}">
                <a16:creationId xmlns:a16="http://schemas.microsoft.com/office/drawing/2014/main" id="{AF9D8871-852E-41DF-B191-0D693DB384EC}"/>
              </a:ext>
            </a:extLst>
          </p:cNvPr>
          <p:cNvSpPr>
            <a:spLocks xmlns:a="http://schemas.openxmlformats.org/drawingml/2006/main" noGrp="1"/>
          </p:cNvSpPr>
          <p:nvPr/>
        </p:nvSpPr>
        <p:spPr>
          <a:xfrm xmlns:a="http://schemas.openxmlformats.org/drawingml/2006/main">
            <a:off x="609600" y="55340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EDA96E"/>
                </a:solidFill>
                <a:latin typeface="Helvetica Neue"/>
                <a:ea typeface="Helvetica Neue"/>
                <a:cs typeface="Helvetica Neue"/>
              </a:defRPr>
            </a:pPr>
            <a:r>
              <a:rPr sz="2700" b="1">
                <a:solidFill>
                  <a:srgbClr val="EDA96E"/>
                </a:solidFill>
                <a:latin typeface="Helvetica Neue"/>
                <a:ea typeface="Helvetica Neue"/>
                <a:cs typeface="Helvetica Neue"/>
              </a:rPr>
              <a:t>Rejected candidates remain in the experiment history</a:t>
            </a:r>
          </a:p>
        </p:txBody>
      </p:sp>
      <p:sp>
        <p:nvSpPr>
          <p:cNvPr id="4" name="text-44">
            <a:extLst xmlns:a="http://schemas.openxmlformats.org/drawingml/2006/main">
              <a:ext uri="{FF2B5EF4-FFF2-40B4-BE49-F238E27FC236}">
                <a16:creationId xmlns:a16="http://schemas.microsoft.com/office/drawing/2014/main" id="{20D287A7-B778-47C8-8828-CF446321D705}"/>
              </a:ext>
            </a:extLst>
          </p:cNvPr>
          <p:cNvSpPr>
            <a:spLocks xmlns:a="http://schemas.openxmlformats.org/drawingml/2006/main" noGrp="1"/>
          </p:cNvSpPr>
          <p:nvPr/>
        </p:nvSpPr>
        <p:spPr>
          <a:xfrm xmlns:a="http://schemas.openxmlformats.org/drawingml/2006/main">
            <a:off x="609600" y="62579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4BDBF"/>
                </a:solidFill>
                <a:latin typeface="Helvetica Neue"/>
                <a:ea typeface="Helvetica Neue"/>
                <a:cs typeface="Helvetica Neue"/>
              </a:defRPr>
            </a:pPr>
            <a:r>
              <a:rPr sz="1800" b="0">
                <a:solidFill>
                  <a:srgbClr val="B4BDBF"/>
                </a:solidFill>
                <a:latin typeface="Helvetica Neue"/>
                <a:ea typeface="Helvetica Neue"/>
                <a:cs typeface="Helvetica Neue"/>
              </a:rPr>
              <a:t>These checks qualify the recorded CAD result. Powered hardware remains untested.</a:t>
            </a:r>
          </a:p>
        </p:txBody>
      </p:sp>
    </p:spTree>
    <p:extLst>
      <p:ext uri="{BB962C8B-B14F-4D97-AF65-F5344CB8AC3E}">
        <p14:creationId xmlns:p14="http://schemas.microsoft.com/office/powerpoint/2010/main" val="2077233116"/>
      </p:ext>
    </p:extLst>
  </p:cSld>
</p:sld>
</file>

<file path=ppt/slides/slide8.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9" name="text-45">
            <a:extLst xmlns:a="http://schemas.openxmlformats.org/drawingml/2006/main">
              <a:ext uri="{FF2B5EF4-FFF2-40B4-BE49-F238E27FC236}">
                <a16:creationId xmlns:a16="http://schemas.microsoft.com/office/drawing/2014/main" id="{DF232A31-35E6-4648-BF8A-7DC8E00E4E1D}"/>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Medium score fell by 45.8%</a:t>
            </a:r>
          </a:p>
        </p:txBody>
      </p:sp>
      <p:sp>
        <p:nvSpPr>
          <p:cNvPr id="2" name="text-46">
            <a:extLst xmlns:a="http://schemas.openxmlformats.org/drawingml/2006/main">
              <a:ext uri="{FF2B5EF4-FFF2-40B4-BE49-F238E27FC236}">
                <a16:creationId xmlns:a16="http://schemas.microsoft.com/office/drawing/2014/main" id="{EEA0C9BA-18BB-4B34-A492-509D863BEEB5}"/>
              </a:ext>
            </a:extLst>
          </p:cNvPr>
          <p:cNvSpPr>
            <a:spLocks xmlns:a="http://schemas.openxmlformats.org/drawingml/2006/main" noGrp="1"/>
          </p:cNvSpPr>
          <p:nvPr/>
        </p:nvSpPr>
        <p:spPr>
          <a:xfrm xmlns:a="http://schemas.openxmlformats.org/drawingml/2006/main">
            <a:off x="619125" y="1352550"/>
            <a:ext cx="285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B4BDBF"/>
                </a:solidFill>
                <a:latin typeface="Helvetica Neue"/>
                <a:ea typeface="Helvetica Neue"/>
                <a:cs typeface="Helvetica Neue"/>
              </a:defRPr>
            </a:pPr>
            <a:r>
              <a:rPr sz="4350" b="1">
                <a:solidFill>
                  <a:srgbClr val="B4BDBF"/>
                </a:solidFill>
                <a:latin typeface="Helvetica Neue"/>
                <a:ea typeface="Helvetica Neue"/>
                <a:cs typeface="Helvetica Neue"/>
              </a:rPr>
              <a:t>65,288</a:t>
            </a:r>
          </a:p>
        </p:txBody>
      </p:sp>
      <p:sp>
        <p:nvSpPr>
          <p:cNvPr id="3" name="text-47">
            <a:extLst xmlns:a="http://schemas.openxmlformats.org/drawingml/2006/main">
              <a:ext uri="{FF2B5EF4-FFF2-40B4-BE49-F238E27FC236}">
                <a16:creationId xmlns:a16="http://schemas.microsoft.com/office/drawing/2014/main" id="{7778163A-22D6-47AD-91AE-531ECB922F5F}"/>
              </a:ext>
            </a:extLst>
          </p:cNvPr>
          <p:cNvSpPr>
            <a:spLocks xmlns:a="http://schemas.openxmlformats.org/drawingml/2006/main" noGrp="1"/>
          </p:cNvSpPr>
          <p:nvPr/>
        </p:nvSpPr>
        <p:spPr>
          <a:xfrm xmlns:a="http://schemas.openxmlformats.org/drawingml/2006/main">
            <a:off x="4000500" y="1352550"/>
            <a:ext cx="314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8FE3BA"/>
                </a:solidFill>
                <a:latin typeface="Helvetica Neue"/>
                <a:ea typeface="Helvetica Neue"/>
                <a:cs typeface="Helvetica Neue"/>
              </a:defRPr>
            </a:pPr>
            <a:r>
              <a:rPr sz="4350" b="1">
                <a:solidFill>
                  <a:srgbClr val="8FE3BA"/>
                </a:solidFill>
                <a:latin typeface="Helvetica Neue"/>
                <a:ea typeface="Helvetica Neue"/>
                <a:cs typeface="Helvetica Neue"/>
              </a:rPr>
              <a:t>35,365</a:t>
            </a:r>
          </a:p>
        </p:txBody>
      </p:sp>
      <p:sp>
        <p:nvSpPr>
          <p:cNvPr id="4" name="text-48">
            <a:extLst xmlns:a="http://schemas.openxmlformats.org/drawingml/2006/main">
              <a:ext uri="{FF2B5EF4-FFF2-40B4-BE49-F238E27FC236}">
                <a16:creationId xmlns:a16="http://schemas.microsoft.com/office/drawing/2014/main" id="{4E321B24-2D54-40C0-BB8F-58B0CF3793B6}"/>
              </a:ext>
            </a:extLst>
          </p:cNvPr>
          <p:cNvSpPr>
            <a:spLocks xmlns:a="http://schemas.openxmlformats.org/drawingml/2006/main" noGrp="1"/>
          </p:cNvSpPr>
          <p:nvPr/>
        </p:nvSpPr>
        <p:spPr>
          <a:xfrm xmlns:a="http://schemas.openxmlformats.org/drawingml/2006/main">
            <a:off x="647700" y="2095500"/>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4BDBF"/>
                </a:solidFill>
                <a:latin typeface="Helvetica Neue"/>
                <a:ea typeface="Helvetica Neue"/>
                <a:cs typeface="Helvetica Neue"/>
              </a:defRPr>
            </a:pPr>
            <a:r>
              <a:rPr sz="1875" b="0">
                <a:solidFill>
                  <a:srgbClr val="B4BDBF"/>
                </a:solidFill>
                <a:latin typeface="Helvetica Neue"/>
                <a:ea typeface="Helvetica Neue"/>
                <a:cs typeface="Helvetica Neue"/>
              </a:rPr>
              <a:t>Starting valid board</a:t>
            </a:r>
          </a:p>
        </p:txBody>
      </p:sp>
      <p:sp>
        <p:nvSpPr>
          <p:cNvPr id="5" name="text-49">
            <a:extLst xmlns:a="http://schemas.openxmlformats.org/drawingml/2006/main">
              <a:ext uri="{FF2B5EF4-FFF2-40B4-BE49-F238E27FC236}">
                <a16:creationId xmlns:a16="http://schemas.microsoft.com/office/drawing/2014/main" id="{0DACCAF8-CE1A-4105-B0A8-B7C2A874DFBE}"/>
              </a:ext>
            </a:extLst>
          </p:cNvPr>
          <p:cNvSpPr>
            <a:spLocks xmlns:a="http://schemas.openxmlformats.org/drawingml/2006/main" noGrp="1"/>
          </p:cNvSpPr>
          <p:nvPr/>
        </p:nvSpPr>
        <p:spPr>
          <a:xfrm xmlns:a="http://schemas.openxmlformats.org/drawingml/2006/main">
            <a:off x="4019550" y="2095500"/>
            <a:ext cx="433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FE3BA"/>
                </a:solidFill>
                <a:latin typeface="Helvetica Neue"/>
                <a:ea typeface="Helvetica Neue"/>
                <a:cs typeface="Helvetica Neue"/>
              </a:defRPr>
            </a:pPr>
            <a:r>
              <a:rPr sz="1875" b="0">
                <a:solidFill>
                  <a:srgbClr val="8FE3BA"/>
                </a:solidFill>
                <a:latin typeface="Helvetica Neue"/>
                <a:ea typeface="Helvetica Neue"/>
                <a:cs typeface="Helvetica Neue"/>
              </a:rPr>
              <a:t>Best recorded valid board</a:t>
            </a:r>
          </a:p>
        </p:txBody>
      </p:sp>
      <p:graphicFrame>
        <p:nvGraphicFramePr>
          <p:cNvPr id="14" name="Chart"/>
          <p:cNvGraphicFramePr/>
          <p:nvPr/>
        </p:nvGraphicFramePr>
        <p:xfrm>
          <a:off xmlns:a="http://schemas.openxmlformats.org/drawingml/2006/main" x="571500" y="2762250"/>
          <a:ext xmlns:a="http://schemas.openxmlformats.org/drawingml/2006/main" cx="10906125" cy="2857500"/>
        </p:xfrm>
        <a:graphic xmlns:a="http://schemas.openxmlformats.org/drawingml/2006/main">
          <a:graphicData uri="http://schemas.openxmlformats.org/drawingml/2006/chart">
            <c:chart xmlns:r="http://schemas.openxmlformats.org/officeDocument/2006/relationships" xmlns:c="http://schemas.openxmlformats.org/drawingml/2006/chart" r:id="R4248405d703f4ae4"/>
          </a:graphicData>
        </a:graphic>
      </p:graphicFrame>
      <p:sp>
        <p:nvSpPr>
          <p:cNvPr id="7" name="text-50">
            <a:extLst xmlns:a="http://schemas.openxmlformats.org/drawingml/2006/main">
              <a:ext uri="{FF2B5EF4-FFF2-40B4-BE49-F238E27FC236}">
                <a16:creationId xmlns:a16="http://schemas.microsoft.com/office/drawing/2014/main" id="{C08BDC86-1EF5-44E4-AD02-5256CF68B1F2}"/>
              </a:ext>
            </a:extLst>
          </p:cNvPr>
          <p:cNvSpPr>
            <a:spLocks xmlns:a="http://schemas.openxmlformats.org/drawingml/2006/main" noGrp="1"/>
          </p:cNvSpPr>
          <p:nvPr/>
        </p:nvSpPr>
        <p:spPr>
          <a:xfrm xmlns:a="http://schemas.openxmlformats.org/drawingml/2006/main">
            <a:off x="619125" y="58578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3EA"/>
                </a:solidFill>
                <a:latin typeface="Helvetica Neue"/>
                <a:ea typeface="Helvetica Neue"/>
                <a:cs typeface="Helvetica Neue"/>
              </a:defRPr>
            </a:pPr>
            <a:r>
              <a:rPr sz="2025" b="0">
                <a:solidFill>
                  <a:srgbClr val="F6F3EA"/>
                </a:solidFill>
                <a:latin typeface="Helvetica Neue"/>
                <a:ea typeface="Helvetica Neue"/>
                <a:cs typeface="Helvetica Neue"/>
              </a:rPr>
              <a:t>Score = assembled volume (mm³) + 50 × vias + 5,000 × copper layers</a:t>
            </a:r>
          </a:p>
        </p:txBody>
      </p:sp>
      <p:sp>
        <p:nvSpPr>
          <p:cNvPr id="8" name="text-51">
            <a:extLst xmlns:a="http://schemas.openxmlformats.org/drawingml/2006/main">
              <a:ext uri="{FF2B5EF4-FFF2-40B4-BE49-F238E27FC236}">
                <a16:creationId xmlns:a16="http://schemas.microsoft.com/office/drawing/2014/main" id="{2677296A-66F0-40FC-B932-4286EACE7986}"/>
              </a:ext>
            </a:extLst>
          </p:cNvPr>
          <p:cNvSpPr>
            <a:spLocks xmlns:a="http://schemas.openxmlformats.org/drawingml/2006/main" noGrp="1"/>
          </p:cNvSpPr>
          <p:nvPr/>
        </p:nvSpPr>
        <p:spPr>
          <a:xfrm xmlns:a="http://schemas.openxmlformats.org/drawingml/2006/main">
            <a:off x="619125" y="633412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4BDBF"/>
                </a:solidFill>
                <a:latin typeface="Helvetica Neue"/>
                <a:ea typeface="Helvetica Neue"/>
                <a:cs typeface="Helvetica Neue"/>
              </a:defRPr>
            </a:pPr>
            <a:r>
              <a:rPr sz="1650" b="0">
                <a:solidFill>
                  <a:srgbClr val="B4BDBF"/>
                </a:solidFill>
                <a:latin typeface="Helvetica Neue"/>
                <a:ea typeface="Helvetica Neue"/>
                <a:cs typeface="Helvetica Neue"/>
              </a:rPr>
              <a:t>85 components, reduced demo circuit. Original/full board remains incomplete.</a:t>
            </a:r>
          </a:p>
        </p:txBody>
      </p:sp>
    </p:spTree>
    <p:extLst>
      <p:ext uri="{BB962C8B-B14F-4D97-AF65-F5344CB8AC3E}">
        <p14:creationId xmlns:p14="http://schemas.microsoft.com/office/powerpoint/2010/main" val="1189804556"/>
      </p:ext>
    </p:extLst>
  </p:cSld>
</p:sld>
</file>

<file path=ppt/slides/slide9.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10" name="text-52">
            <a:extLst xmlns:a="http://schemas.openxmlformats.org/drawingml/2006/main">
              <a:ext uri="{FF2B5EF4-FFF2-40B4-BE49-F238E27FC236}">
                <a16:creationId xmlns:a16="http://schemas.microsoft.com/office/drawing/2014/main" id="{9417097C-D9EC-40F7-A4A0-45963CC3A42A}"/>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Functional grouping reduced the via cost</a:t>
            </a:r>
          </a:p>
        </p:txBody>
      </p:sp>
      <p:sp>
        <p:nvSpPr>
          <p:cNvPr id="2" name="text-53">
            <a:extLst xmlns:a="http://schemas.openxmlformats.org/drawingml/2006/main">
              <a:ext uri="{FF2B5EF4-FFF2-40B4-BE49-F238E27FC236}">
                <a16:creationId xmlns:a16="http://schemas.microsoft.com/office/drawing/2014/main" id="{3D2EED38-DFB8-45C4-BBC8-DE9F76EF656C}"/>
              </a:ext>
            </a:extLst>
          </p:cNvPr>
          <p:cNvSpPr>
            <a:spLocks xmlns:a="http://schemas.openxmlformats.org/drawingml/2006/main" noGrp="1"/>
          </p:cNvSpPr>
          <p:nvPr/>
        </p:nvSpPr>
        <p:spPr>
          <a:xfrm xmlns:a="http://schemas.openxmlformats.org/drawingml/2006/main">
            <a:off x="647700" y="13811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B4BDBF"/>
                </a:solidFill>
                <a:latin typeface="Helvetica Neue"/>
                <a:ea typeface="Helvetica Neue"/>
                <a:cs typeface="Helvetica Neue"/>
              </a:defRPr>
            </a:pPr>
            <a:r>
              <a:rPr sz="2250" b="1">
                <a:solidFill>
                  <a:srgbClr val="B4BDBF"/>
                </a:solidFill>
                <a:latin typeface="Helvetica Neue"/>
                <a:ea typeface="Helvetica Neue"/>
                <a:cs typeface="Helvetica Neue"/>
              </a:rPr>
              <a:t>Before grouping</a:t>
            </a:r>
          </a:p>
        </p:txBody>
      </p:sp>
      <p:sp>
        <p:nvSpPr>
          <p:cNvPr id="3" name="text-54">
            <a:extLst xmlns:a="http://schemas.openxmlformats.org/drawingml/2006/main">
              <a:ext uri="{FF2B5EF4-FFF2-40B4-BE49-F238E27FC236}">
                <a16:creationId xmlns:a16="http://schemas.microsoft.com/office/drawing/2014/main" id="{50BE332C-EEEE-4F5B-9836-ACDFE13CB3E7}"/>
              </a:ext>
            </a:extLst>
          </p:cNvPr>
          <p:cNvSpPr>
            <a:spLocks xmlns:a="http://schemas.openxmlformats.org/drawingml/2006/main" noGrp="1"/>
          </p:cNvSpPr>
          <p:nvPr/>
        </p:nvSpPr>
        <p:spPr>
          <a:xfrm xmlns:a="http://schemas.openxmlformats.org/drawingml/2006/main">
            <a:off x="6400800" y="13811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FE3BA"/>
                </a:solidFill>
                <a:latin typeface="Helvetica Neue"/>
                <a:ea typeface="Helvetica Neue"/>
                <a:cs typeface="Helvetica Neue"/>
              </a:defRPr>
            </a:pPr>
            <a:r>
              <a:rPr sz="2250" b="1">
                <a:solidFill>
                  <a:srgbClr val="8FE3BA"/>
                </a:solidFill>
                <a:latin typeface="Helvetica Neue"/>
                <a:ea typeface="Helvetica Neue"/>
                <a:cs typeface="Helvetica Neue"/>
              </a:rPr>
              <a:t>Connected blocks near their headers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9c8c6f46de74a33"/>
          <a:stretch xmlns:a="http://schemas.openxmlformats.org/drawingml/2006/main"/>
        </p:blipFill>
        <p:spPr>
          <a:xfrm xmlns:a="http://schemas.openxmlformats.org/drawingml/2006/main">
            <a:off x="810179" y="2028825"/>
            <a:ext cx="4618517" cy="3971925"/>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0b329ddd1084976"/>
          <a:stretch xmlns:a="http://schemas.openxmlformats.org/drawingml/2006/main"/>
        </p:blipFill>
        <p:spPr>
          <a:xfrm xmlns:a="http://schemas.openxmlformats.org/drawingml/2006/main">
            <a:off x="6554580" y="1905000"/>
            <a:ext cx="4540665" cy="4219575"/>
          </a:xfrm>
          <a:prstGeom xmlns:a="http://schemas.openxmlformats.org/drawingml/2006/main" prst="rect">
            <a:avLst/>
          </a:prstGeom>
        </p:spPr>
      </p:pic>
      <p:sp>
        <p:nvSpPr>
          <p:cNvPr id="6" name="text-55">
            <a:extLst xmlns:a="http://schemas.openxmlformats.org/drawingml/2006/main">
              <a:ext uri="{FF2B5EF4-FFF2-40B4-BE49-F238E27FC236}">
                <a16:creationId xmlns:a16="http://schemas.microsoft.com/office/drawing/2014/main" id="{CC537D6F-7CAA-4E0F-B2F2-575675ECE4F9}"/>
              </a:ext>
            </a:extLst>
          </p:cNvPr>
          <p:cNvSpPr>
            <a:spLocks xmlns:a="http://schemas.openxmlformats.org/drawingml/2006/main" noGrp="1"/>
          </p:cNvSpPr>
          <p:nvPr/>
        </p:nvSpPr>
        <p:spPr>
          <a:xfrm xmlns:a="http://schemas.openxmlformats.org/drawingml/2006/main">
            <a:off x="742950" y="6057900"/>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3EA"/>
                </a:solidFill>
                <a:latin typeface="Helvetica Neue"/>
                <a:ea typeface="Helvetica Neue"/>
                <a:cs typeface="Helvetica Neue"/>
              </a:defRPr>
            </a:pPr>
            <a:r>
              <a:rPr sz="2400" b="1">
                <a:solidFill>
                  <a:srgbClr val="F6F3EA"/>
                </a:solidFill>
                <a:latin typeface="Helvetica Neue"/>
                <a:ea typeface="Helvetica Neue"/>
                <a:cs typeface="Helvetica Neue"/>
              </a:rPr>
              <a:t>148 vias</a:t>
            </a:r>
          </a:p>
        </p:txBody>
      </p:sp>
      <p:sp>
        <p:nvSpPr>
          <p:cNvPr id="7" name="text-56">
            <a:extLst xmlns:a="http://schemas.openxmlformats.org/drawingml/2006/main">
              <a:ext uri="{FF2B5EF4-FFF2-40B4-BE49-F238E27FC236}">
                <a16:creationId xmlns:a16="http://schemas.microsoft.com/office/drawing/2014/main" id="{F750801D-0A54-4AF5-B80C-9134678DF485}"/>
              </a:ext>
            </a:extLst>
          </p:cNvPr>
          <p:cNvSpPr>
            <a:spLocks xmlns:a="http://schemas.openxmlformats.org/drawingml/2006/main" noGrp="1"/>
          </p:cNvSpPr>
          <p:nvPr/>
        </p:nvSpPr>
        <p:spPr>
          <a:xfrm xmlns:a="http://schemas.openxmlformats.org/drawingml/2006/main">
            <a:off x="6524625" y="6057900"/>
            <a:ext cx="238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8FE3BA"/>
                </a:solidFill>
                <a:latin typeface="Helvetica Neue"/>
                <a:ea typeface="Helvetica Neue"/>
                <a:cs typeface="Helvetica Neue"/>
              </a:defRPr>
            </a:pPr>
            <a:r>
              <a:rPr sz="2400" b="1">
                <a:solidFill>
                  <a:srgbClr val="8FE3BA"/>
                </a:solidFill>
                <a:latin typeface="Helvetica Neue"/>
                <a:ea typeface="Helvetica Neue"/>
                <a:cs typeface="Helvetica Neue"/>
              </a:rPr>
              <a:t>29 vias</a:t>
            </a:r>
          </a:p>
        </p:txBody>
      </p:sp>
      <p:sp>
        <p:nvSpPr>
          <p:cNvPr id="8" name="text-57">
            <a:extLst xmlns:a="http://schemas.openxmlformats.org/drawingml/2006/main">
              <a:ext uri="{FF2B5EF4-FFF2-40B4-BE49-F238E27FC236}">
                <a16:creationId xmlns:a16="http://schemas.microsoft.com/office/drawing/2014/main" id="{67F085D1-DBF6-4C04-A416-EDEC09A28A76}"/>
              </a:ext>
            </a:extLst>
          </p:cNvPr>
          <p:cNvSpPr>
            <a:spLocks xmlns:a="http://schemas.openxmlformats.org/drawingml/2006/main" noGrp="1"/>
          </p:cNvSpPr>
          <p:nvPr/>
        </p:nvSpPr>
        <p:spPr>
          <a:xfrm xmlns:a="http://schemas.openxmlformats.org/drawingml/2006/main">
            <a:off x="3095625" y="6096000"/>
            <a:ext cx="276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4BDBF"/>
                </a:solidFill>
                <a:latin typeface="Helvetica Neue"/>
                <a:ea typeface="Helvetica Neue"/>
                <a:cs typeface="Helvetica Neue"/>
              </a:defRPr>
            </a:pPr>
            <a:r>
              <a:rPr sz="1875" b="0">
                <a:solidFill>
                  <a:srgbClr val="B4BDBF"/>
                </a:solidFill>
                <a:latin typeface="Helvetica Neue"/>
                <a:ea typeface="Helvetica Neue"/>
                <a:cs typeface="Helvetica Neue"/>
              </a:rPr>
              <a:t>Score 49,910.52</a:t>
            </a:r>
          </a:p>
        </p:txBody>
      </p:sp>
      <p:sp>
        <p:nvSpPr>
          <p:cNvPr id="9" name="text-58">
            <a:extLst xmlns:a="http://schemas.openxmlformats.org/drawingml/2006/main">
              <a:ext uri="{FF2B5EF4-FFF2-40B4-BE49-F238E27FC236}">
                <a16:creationId xmlns:a16="http://schemas.microsoft.com/office/drawing/2014/main" id="{CE081A53-BE87-46FF-AC60-F8FF0BEF25EB}"/>
              </a:ext>
            </a:extLst>
          </p:cNvPr>
          <p:cNvSpPr>
            <a:spLocks xmlns:a="http://schemas.openxmlformats.org/drawingml/2006/main" noGrp="1"/>
          </p:cNvSpPr>
          <p:nvPr/>
        </p:nvSpPr>
        <p:spPr>
          <a:xfrm xmlns:a="http://schemas.openxmlformats.org/drawingml/2006/main">
            <a:off x="8753475" y="6096000"/>
            <a:ext cx="276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FE3BA"/>
                </a:solidFill>
                <a:latin typeface="Helvetica Neue"/>
                <a:ea typeface="Helvetica Neue"/>
                <a:cs typeface="Helvetica Neue"/>
              </a:defRPr>
            </a:pPr>
            <a:r>
              <a:rPr sz="1875" b="0">
                <a:solidFill>
                  <a:srgbClr val="8FE3BA"/>
                </a:solidFill>
                <a:latin typeface="Helvetica Neue"/>
                <a:ea typeface="Helvetica Neue"/>
                <a:cs typeface="Helvetica Neue"/>
              </a:rPr>
              <a:t>Score 45,345.68</a:t>
            </a:r>
          </a:p>
        </p:txBody>
      </p:sp>
    </p:spTree>
    <p:extLst>
      <p:ext uri="{BB962C8B-B14F-4D97-AF65-F5344CB8AC3E}">
        <p14:creationId xmlns:p14="http://schemas.microsoft.com/office/powerpoint/2010/main" val="946082570"/>
      </p:ext>
    </p:extLst>
  </p:cSld>
</p:sld>
</file>

<file path=ppt/slides/slide10.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6" name="text-59">
            <a:extLst xmlns:a="http://schemas.openxmlformats.org/drawingml/2006/main">
              <a:ext uri="{FF2B5EF4-FFF2-40B4-BE49-F238E27FC236}">
                <a16:creationId xmlns:a16="http://schemas.microsoft.com/office/drawing/2014/main" id="{42CB2288-9C1C-415F-A2A9-5CF065AA935C}"/>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Each attempt preserves a candidate record</a:t>
            </a:r>
          </a:p>
        </p:txBody>
      </p:sp>
      <p:sp>
        <p:nvSpPr>
          <p:cNvPr id="2" name="text-60">
            <a:extLst xmlns:a="http://schemas.openxmlformats.org/drawingml/2006/main">
              <a:ext uri="{FF2B5EF4-FFF2-40B4-BE49-F238E27FC236}">
                <a16:creationId xmlns:a16="http://schemas.microsoft.com/office/drawing/2014/main" id="{211C580C-CACE-412C-81EC-31329D703218}"/>
              </a:ext>
            </a:extLst>
          </p:cNvPr>
          <p:cNvSpPr>
            <a:spLocks xmlns:a="http://schemas.openxmlformats.org/drawingml/2006/main" noGrp="1"/>
          </p:cNvSpPr>
          <p:nvPr/>
        </p:nvSpPr>
        <p:spPr>
          <a:xfrm xmlns:a="http://schemas.openxmlformats.org/drawingml/2006/main">
            <a:off x="609600" y="1428750"/>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EDA96E"/>
                </a:solidFill>
                <a:latin typeface="Helvetica Neue"/>
                <a:ea typeface="Helvetica Neue"/>
                <a:cs typeface="Helvetica Neue"/>
              </a:defRPr>
            </a:pPr>
            <a:r>
              <a:rPr sz="2700" b="1">
                <a:solidFill>
                  <a:srgbClr val="EDA96E"/>
                </a:solidFill>
                <a:latin typeface="Helvetica Neue"/>
                <a:ea typeface="Helvetica Neue"/>
                <a:cs typeface="Helvetica Neue"/>
              </a:rPr>
              <a:t>stage2 / study / candidate-NN</a:t>
            </a:r>
          </a:p>
        </p:txBody>
      </p:sp>
      <p:graphicFrame>
        <p:nvGraphicFramePr>
          <p:cNvPr id="8" name=""/>
          <p:cNvGraphicFramePr/>
          <p:nvPr/>
        </p:nvGraphicFramePr>
        <p:xfrm>
          <a:off xmlns:a="http://schemas.openxmlformats.org/drawingml/2006/main" x="609600" y="2286000"/>
          <a:ext xmlns:a="http://schemas.openxmlformats.org/drawingml/2006/main" cx="10953750" cy="2857500"/>
        </p:xfrm>
        <a:graphic xmlns:a="http://schemas.openxmlformats.org/drawingml/2006/main">
          <a:graphicData uri="http://schemas.openxmlformats.org/drawingml/2006/table">
            <a:tbl>
              <a:tblPr/>
              <a:tblGrid>
                <a:gridCol w="4238625"/>
                <a:gridCol w="6715125"/>
              </a:tblGrid>
              <a:tr h="571500">
                <a:tc>
                  <a:txBody>
                    <a:bodyPr/>
                    <a:lstStyle/>
                    <a:p>
                      <a:r>
                        <a:rPr sz="1725" b="1">
                          <a:solidFill>
                            <a:srgbClr val="B4BDBF"/>
                          </a:solidFill>
                          <a:latin typeface="Helvetica Neue"/>
                          <a:ea typeface="Helvetica Neue"/>
                          <a:cs typeface="Helvetica Neue"/>
                        </a:rPr>
                        <a:t>Saved artifact</a:t>
                      </a:r>
                    </a:p>
                  </a:txBody>
                  <a:tcPr marL="91440" marR="91440" marT="45720" marB="45720">
                    <a:solidFill>
                      <a:srgbClr val="101417"/>
                    </a:solidFill>
                  </a:tcPr>
                </a:tc>
                <a:tc>
                  <a:txBody>
                    <a:bodyPr/>
                    <a:lstStyle/>
                    <a:p>
                      <a:r>
                        <a:rPr sz="1725" b="1">
                          <a:solidFill>
                            <a:srgbClr val="B4BDBF"/>
                          </a:solidFill>
                          <a:latin typeface="Helvetica Neue"/>
                          <a:ea typeface="Helvetica Neue"/>
                          <a:cs typeface="Helvetica Neue"/>
                        </a:rPr>
                        <a:t>What it establishes</a:t>
                      </a:r>
                    </a:p>
                  </a:txBody>
                  <a:tcPr marL="91440" marR="91440" marT="45720" marB="45720">
                    <a:solidFill>
                      <a:srgbClr val="101417"/>
                    </a:solidFill>
                  </a:tcPr>
                </a:tc>
              </a:tr>
              <a:tr h="571500">
                <a:tc>
                  <a:txBody>
                    <a:bodyPr/>
                    <a:lstStyle/>
                    <a:p>
                      <a:r>
                        <a:rPr sz="1950" b="0">
                          <a:solidFill>
                            <a:srgbClr val="F6F3EA"/>
                          </a:solidFill>
                          <a:latin typeface="Helvetica Neue"/>
                          <a:ea typeface="Helvetica Neue"/>
                          <a:cs typeface="Helvetica Neue"/>
                        </a:rPr>
                        <a:t>preview.kicad_pcb</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Candidate geometry before routing</a:t>
                      </a:r>
                    </a:p>
                  </a:txBody>
                  <a:tcPr marL="91440" marR="91440" marT="45720" marB="45720">
                    <a:solidFill>
                      <a:srgbClr val="101417"/>
                    </a:solidFill>
                  </a:tcPr>
                </a:tc>
              </a:tr>
              <a:tr h="571500">
                <a:tc>
                  <a:txBody>
                    <a:bodyPr/>
                    <a:lstStyle/>
                    <a:p>
                      <a:r>
                        <a:rPr sz="1950" b="0">
                          <a:solidFill>
                            <a:srgbClr val="F6F3EA"/>
                          </a:solidFill>
                          <a:latin typeface="Helvetica Neue"/>
                          <a:ea typeface="Helvetica Neue"/>
                          <a:cs typeface="Helvetica Neue"/>
                        </a:rPr>
                        <a:t>pcbgolf.kicad_pcb</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Evaluated board after route import</a:t>
                      </a:r>
                    </a:p>
                  </a:txBody>
                  <a:tcPr marL="91440" marR="91440" marT="45720" marB="45720">
                    <a:solidFill>
                      <a:srgbClr val="101417"/>
                    </a:solidFill>
                  </a:tcPr>
                </a:tc>
              </a:tr>
              <a:tr h="571500">
                <a:tc>
                  <a:txBody>
                    <a:bodyPr/>
                    <a:lstStyle/>
                    <a:p>
                      <a:r>
                        <a:rPr sz="1950" b="0">
                          <a:solidFill>
                            <a:srgbClr val="F6F3EA"/>
                          </a:solidFill>
                          <a:latin typeface="Helvetica Neue"/>
                          <a:ea typeface="Helvetica Neue"/>
                          <a:cs typeface="Helvetica Neue"/>
                        </a:rPr>
                        <a:t>event.json + proposal.json</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Action, geometry source, comparator and decision</a:t>
                      </a:r>
                    </a:p>
                  </a:txBody>
                  <a:tcPr marL="91440" marR="91440" marT="45720" marB="45720">
                    <a:solidFill>
                      <a:srgbClr val="101417"/>
                    </a:solidFill>
                  </a:tcPr>
                </a:tc>
              </a:tr>
              <a:tr h="571500">
                <a:tc>
                  <a:txBody>
                    <a:bodyPr/>
                    <a:lstStyle/>
                    <a:p>
                      <a:r>
                        <a:rPr sz="1950" b="0">
                          <a:solidFill>
                            <a:srgbClr val="F6F3EA"/>
                          </a:solidFill>
                          <a:latin typeface="Helvetica Neue"/>
                          <a:ea typeface="Helvetica Neue"/>
                          <a:cs typeface="Helvetica Neue"/>
                        </a:rPr>
                        <a:t>Reports + source_sha</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Native checks, command logs and source commit</a:t>
                      </a:r>
                    </a:p>
                  </a:txBody>
                  <a:tcPr marL="91440" marR="91440" marT="45720" marB="45720">
                    <a:solidFill>
                      <a:srgbClr val="101417"/>
                    </a:solidFill>
                  </a:tcPr>
                </a:tc>
              </a:tr>
            </a:tbl>
          </a:graphicData>
        </a:graphic>
      </p:graphicFrame>
      <p:sp>
        <p:nvSpPr>
          <p:cNvPr id="4" name="text-61">
            <a:extLst xmlns:a="http://schemas.openxmlformats.org/drawingml/2006/main">
              <a:ext uri="{FF2B5EF4-FFF2-40B4-BE49-F238E27FC236}">
                <a16:creationId xmlns:a16="http://schemas.microsoft.com/office/drawing/2014/main" id="{ABACB586-12B0-45F8-AFB6-8384FE297717}"/>
              </a:ext>
            </a:extLst>
          </p:cNvPr>
          <p:cNvSpPr>
            <a:spLocks xmlns:a="http://schemas.openxmlformats.org/drawingml/2006/main" noGrp="1"/>
          </p:cNvSpPr>
          <p:nvPr/>
        </p:nvSpPr>
        <p:spPr>
          <a:xfrm xmlns:a="http://schemas.openxmlformats.org/drawingml/2006/main">
            <a:off x="609600" y="56197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8FE3BA"/>
                </a:solidFill>
                <a:latin typeface="Helvetica Neue"/>
                <a:ea typeface="Helvetica Neue"/>
                <a:cs typeface="Helvetica Neue"/>
              </a:defRPr>
            </a:pPr>
            <a:r>
              <a:rPr sz="2475" b="1">
                <a:solidFill>
                  <a:srgbClr val="8FE3BA"/>
                </a:solidFill>
                <a:latin typeface="Helvetica Neue"/>
                <a:ea typeface="Helvetica Neue"/>
                <a:cs typeface="Helvetica Neue"/>
              </a:rPr>
              <a:t>Records identify both geometry sources and comparison boards</a:t>
            </a:r>
          </a:p>
        </p:txBody>
      </p:sp>
      <p:sp>
        <p:nvSpPr>
          <p:cNvPr id="5" name="text-62">
            <a:extLst xmlns:a="http://schemas.openxmlformats.org/drawingml/2006/main">
              <a:ext uri="{FF2B5EF4-FFF2-40B4-BE49-F238E27FC236}">
                <a16:creationId xmlns:a16="http://schemas.microsoft.com/office/drawing/2014/main" id="{80EF6075-3046-4FEE-B9EA-D1B1C8C47C22}"/>
              </a:ext>
            </a:extLst>
          </p:cNvPr>
          <p:cNvSpPr>
            <a:spLocks xmlns:a="http://schemas.openxmlformats.org/drawingml/2006/main" noGrp="1"/>
          </p:cNvSpPr>
          <p:nvPr/>
        </p:nvSpPr>
        <p:spPr>
          <a:xfrm xmlns:a="http://schemas.openxmlformats.org/drawingml/2006/main">
            <a:off x="609600" y="6419850"/>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4BDBF"/>
                </a:solidFill>
                <a:latin typeface="Helvetica Neue"/>
                <a:ea typeface="Helvetica Neue"/>
                <a:cs typeface="Helvetica Neue"/>
              </a:defRPr>
            </a:pPr>
            <a:r>
              <a:rPr sz="1575" b="0">
                <a:solidFill>
                  <a:srgbClr val="B4BDBF"/>
                </a:solidFill>
                <a:latin typeface="Helvetica Neue"/>
                <a:ea typeface="Helvetica Neue"/>
                <a:cs typeface="Helvetica Neue"/>
              </a:rPr>
              <a:t>Python code evolves in the worktree. The runner does not copy each script into every candidate.</a:t>
            </a:r>
          </a:p>
        </p:txBody>
      </p:sp>
    </p:spTree>
    <p:extLst>
      <p:ext uri="{BB962C8B-B14F-4D97-AF65-F5344CB8AC3E}">
        <p14:creationId xmlns:p14="http://schemas.microsoft.com/office/powerpoint/2010/main" val="1711931696"/>
      </p:ext>
    </p:extLst>
  </p:cSld>
</p:sld>
</file>

<file path=ppt/slides/slide11.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7" name="text-63">
            <a:extLst xmlns:a="http://schemas.openxmlformats.org/drawingml/2006/main">
              <a:ext uri="{FF2B5EF4-FFF2-40B4-BE49-F238E27FC236}">
                <a16:creationId xmlns:a16="http://schemas.microsoft.com/office/drawing/2014/main" id="{4A0D1ACB-6E26-47ED-9C86-AC5980186A23}"/>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W&amp;B makes a result inspectable</a:t>
            </a:r>
          </a:p>
        </p:txBody>
      </p:sp>
      <p:graphicFrame>
        <p:nvGraphicFramePr>
          <p:cNvPr id="8" name=""/>
          <p:cNvGraphicFramePr/>
          <p:nvPr/>
        </p:nvGraphicFramePr>
        <p:xfrm>
          <a:off xmlns:a="http://schemas.openxmlformats.org/drawingml/2006/main" x="609600" y="1647825"/>
          <a:ext xmlns:a="http://schemas.openxmlformats.org/drawingml/2006/main" cx="10953750" cy="2952750"/>
        </p:xfrm>
        <a:graphic xmlns:a="http://schemas.openxmlformats.org/drawingml/2006/main">
          <a:graphicData uri="http://schemas.openxmlformats.org/drawingml/2006/table">
            <a:tbl>
              <a:tblPr/>
              <a:tblGrid>
                <a:gridCol w="2476500"/>
                <a:gridCol w="8477250"/>
              </a:tblGrid>
              <a:tr h="738188">
                <a:tc>
                  <a:txBody>
                    <a:bodyPr/>
                    <a:lstStyle/>
                    <a:p>
                      <a:r>
                        <a:rPr sz="1725" b="1">
                          <a:solidFill>
                            <a:srgbClr val="B4BDBF"/>
                          </a:solidFill>
                          <a:latin typeface="Helvetica Neue"/>
                          <a:ea typeface="Helvetica Neue"/>
                          <a:cs typeface="Helvetica Neue"/>
                        </a:rPr>
                        <a:t>Evidence</a:t>
                      </a:r>
                    </a:p>
                  </a:txBody>
                  <a:tcPr marL="91440" marR="91440" marT="45720" marB="45720">
                    <a:solidFill>
                      <a:srgbClr val="101417"/>
                    </a:solidFill>
                  </a:tcPr>
                </a:tc>
                <a:tc>
                  <a:txBody>
                    <a:bodyPr/>
                    <a:lstStyle/>
                    <a:p>
                      <a:r>
                        <a:rPr sz="1725" b="1">
                          <a:solidFill>
                            <a:srgbClr val="B4BDBF"/>
                          </a:solidFill>
                          <a:latin typeface="Helvetica Neue"/>
                          <a:ea typeface="Helvetica Neue"/>
                          <a:cs typeface="Helvetica Neue"/>
                        </a:rPr>
                        <a:t>What I can inspect</a:t>
                      </a:r>
                    </a:p>
                  </a:txBody>
                  <a:tcPr marL="91440" marR="91440" marT="45720" marB="45720">
                    <a:solidFill>
                      <a:srgbClr val="101417"/>
                    </a:solidFill>
                  </a:tcPr>
                </a:tc>
              </a:tr>
              <a:tr h="738188">
                <a:tc>
                  <a:txBody>
                    <a:bodyPr/>
                    <a:lstStyle/>
                    <a:p>
                      <a:r>
                        <a:rPr sz="1950" b="0">
                          <a:solidFill>
                            <a:srgbClr val="F6F3EA"/>
                          </a:solidFill>
                          <a:latin typeface="Helvetica Neue"/>
                          <a:ea typeface="Helvetica Neue"/>
                          <a:cs typeface="Helvetica Neue"/>
                        </a:rPr>
                        <a:t>Charts</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Valid score, vias, volume and rejected attempts</a:t>
                      </a:r>
                    </a:p>
                  </a:txBody>
                  <a:tcPr marL="91440" marR="91440" marT="45720" marB="45720">
                    <a:solidFill>
                      <a:srgbClr val="101417"/>
                    </a:solidFill>
                  </a:tcPr>
                </a:tc>
              </a:tr>
              <a:tr h="738188">
                <a:tc>
                  <a:txBody>
                    <a:bodyPr/>
                    <a:lstStyle/>
                    <a:p>
                      <a:r>
                        <a:rPr sz="1950" b="0">
                          <a:solidFill>
                            <a:srgbClr val="F6F3EA"/>
                          </a:solidFill>
                          <a:latin typeface="Helvetica Neue"/>
                          <a:ea typeface="Helvetica Neue"/>
                          <a:cs typeface="Helvetica Neue"/>
                        </a:rPr>
                        <a:t>Weave record</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Action parameters, commands and validation output</a:t>
                      </a:r>
                    </a:p>
                  </a:txBody>
                  <a:tcPr marL="91440" marR="91440" marT="45720" marB="45720">
                    <a:solidFill>
                      <a:srgbClr val="101417"/>
                    </a:solidFill>
                  </a:tcPr>
                </a:tc>
              </a:tr>
              <a:tr h="738188">
                <a:tc>
                  <a:txBody>
                    <a:bodyPr/>
                    <a:lstStyle/>
                    <a:p>
                      <a:r>
                        <a:rPr sz="1950" b="0">
                          <a:solidFill>
                            <a:srgbClr val="F6F3EA"/>
                          </a:solidFill>
                          <a:latin typeface="Helvetica Neue"/>
                          <a:ea typeface="Helvetica Neue"/>
                          <a:cs typeface="Helvetica Neue"/>
                        </a:rPr>
                        <a:t>Artifacts</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Candidate PCB, native reports and source hashes</a:t>
                      </a:r>
                    </a:p>
                  </a:txBody>
                  <a:tcPr marL="91440" marR="91440" marT="45720" marB="45720">
                    <a:solidFill>
                      <a:srgbClr val="101417"/>
                    </a:solidFill>
                  </a:tcPr>
                </a:tc>
              </a:tr>
            </a:tbl>
          </a:graphicData>
        </a:graphic>
      </p:graphicFrame>
      <p:sp>
        <p:nvSpPr>
          <p:cNvPr id="3" name="link-run">
            <a:extLst xmlns:a="http://schemas.openxmlformats.org/drawingml/2006/main">
              <a:ext uri="{FF2B5EF4-FFF2-40B4-BE49-F238E27FC236}">
                <a16:creationId xmlns:a16="http://schemas.microsoft.com/office/drawing/2014/main" id="{F8B4F7A3-EA7B-4DEA-B0F8-37D8C61DB203}"/>
              </a:ext>
            </a:extLst>
            <ns0:hlinkClick xmlns:ns0="http://schemas.openxmlformats.org/drawingml/2006/main" xmlns:ns1="http://schemas.openxmlformats.org/officeDocument/2006/relationships" ns1:id="rIdLink3"/>
          </p:cNvPr>
          <p:cNvSpPr>
            <a:spLocks xmlns:a="http://schemas.openxmlformats.org/drawingml/2006/main" noGrp="1"/>
          </p:cNvSpPr>
          <p:nvPr/>
        </p:nvSpPr>
        <p:spPr>
          <a:xfrm xmlns:a="http://schemas.openxmlformats.org/drawingml/2006/main">
            <a:off x="609600" y="50958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FE3BA"/>
                </a:solidFill>
                <a:latin typeface="Helvetica Neue"/>
                <a:ea typeface="Helvetica Neue"/>
                <a:cs typeface="Helvetica Neue"/>
              </a:defRPr>
            </a:pPr>
            <a:r>
              <a:rPr sz="2250" b="1">
                <a:solidFill>
                  <a:srgbClr val="8FE3BA"/>
                </a:solidFill>
                <a:latin typeface="Helvetica Neue"/>
                <a:ea typeface="Helvetica Neue"/>
                <a:cs typeface="Helvetica Neue"/>
              </a:rPr>
              <a:t>Open the optimization run</a:t>
            </a:r>
          </a:p>
        </p:txBody>
      </p:sp>
      <p:sp>
        <p:nvSpPr>
          <p:cNvPr id="4" name="link-trace">
            <a:extLst xmlns:a="http://schemas.openxmlformats.org/drawingml/2006/main">
              <a:ext uri="{FF2B5EF4-FFF2-40B4-BE49-F238E27FC236}">
                <a16:creationId xmlns:a16="http://schemas.microsoft.com/office/drawing/2014/main" id="{2FB895E4-0A08-449E-B0D3-10CBFBA2A5E3}"/>
              </a:ext>
            </a:extLst>
            <ns2:hlinkClick xmlns:ns2="http://schemas.openxmlformats.org/drawingml/2006/main" xmlns:ns3="http://schemas.openxmlformats.org/officeDocument/2006/relationships" ns3:id="rIdLink4"/>
          </p:cNvPr>
          <p:cNvSpPr>
            <a:spLocks xmlns:a="http://schemas.openxmlformats.org/drawingml/2006/main" noGrp="1"/>
          </p:cNvSpPr>
          <p:nvPr/>
        </p:nvSpPr>
        <p:spPr>
          <a:xfrm xmlns:a="http://schemas.openxmlformats.org/drawingml/2006/main">
            <a:off x="6381750" y="50958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EDA96E"/>
                </a:solidFill>
                <a:latin typeface="Helvetica Neue"/>
                <a:ea typeface="Helvetica Neue"/>
                <a:cs typeface="Helvetica Neue"/>
              </a:defRPr>
            </a:pPr>
            <a:r>
              <a:rPr sz="2250" b="1">
                <a:solidFill>
                  <a:srgbClr val="EDA96E"/>
                </a:solidFill>
                <a:latin typeface="Helvetica Neue"/>
                <a:ea typeface="Helvetica Neue"/>
                <a:cs typeface="Helvetica Neue"/>
              </a:rPr>
              <a:t>Inspect the 29-via result</a:t>
            </a:r>
          </a:p>
        </p:txBody>
      </p:sp>
      <p:sp>
        <p:nvSpPr>
          <p:cNvPr id="5" name="text-64">
            <a:extLst xmlns:a="http://schemas.openxmlformats.org/drawingml/2006/main">
              <a:ext uri="{FF2B5EF4-FFF2-40B4-BE49-F238E27FC236}">
                <a16:creationId xmlns:a16="http://schemas.microsoft.com/office/drawing/2014/main" id="{C5B47BD5-E48E-42DF-837B-BAF9772CB05F}"/>
              </a:ext>
            </a:extLst>
          </p:cNvPr>
          <p:cNvSpPr>
            <a:spLocks xmlns:a="http://schemas.openxmlformats.org/drawingml/2006/main" noGrp="1"/>
          </p:cNvSpPr>
          <p:nvPr/>
        </p:nvSpPr>
        <p:spPr>
          <a:xfrm xmlns:a="http://schemas.openxmlformats.org/drawingml/2006/main">
            <a:off x="609600" y="577215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4BDBF"/>
                </a:solidFill>
                <a:latin typeface="Helvetica Neue"/>
                <a:ea typeface="Helvetica Neue"/>
                <a:cs typeface="Helvetica Neue"/>
              </a:defRPr>
            </a:pPr>
            <a:r>
              <a:rPr sz="1725" b="0">
                <a:solidFill>
                  <a:srgbClr val="B4BDBF"/>
                </a:solidFill>
                <a:latin typeface="Helvetica Neue"/>
                <a:ea typeface="Helvetica Neue"/>
                <a:cs typeface="Helvetica Neue"/>
              </a:rPr>
              <a:t>Demo: open the grouping record, inspect the action, then read its native result.</a:t>
            </a:r>
          </a:p>
        </p:txBody>
      </p:sp>
      <p:sp>
        <p:nvSpPr>
          <p:cNvPr id="6" name="text-65">
            <a:extLst xmlns:a="http://schemas.openxmlformats.org/drawingml/2006/main">
              <a:ext uri="{FF2B5EF4-FFF2-40B4-BE49-F238E27FC236}">
                <a16:creationId xmlns:a16="http://schemas.microsoft.com/office/drawing/2014/main" id="{64C5F2FB-0332-449D-9605-1DE1791A8739}"/>
              </a:ext>
            </a:extLst>
          </p:cNvPr>
          <p:cNvSpPr>
            <a:spLocks xmlns:a="http://schemas.openxmlformats.org/drawingml/2006/main" noGrp="1"/>
          </p:cNvSpPr>
          <p:nvPr/>
        </p:nvSpPr>
        <p:spPr>
          <a:xfrm xmlns:a="http://schemas.openxmlformats.org/drawingml/2006/main">
            <a:off x="609600" y="62103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4BDBF"/>
                </a:solidFill>
                <a:latin typeface="Helvetica Neue"/>
                <a:ea typeface="Helvetica Neue"/>
                <a:cs typeface="Helvetica Neue"/>
              </a:defRPr>
            </a:pPr>
            <a:r>
              <a:rPr sz="1650" b="0">
                <a:solidFill>
                  <a:srgbClr val="B4BDBF"/>
                </a:solidFill>
                <a:latin typeface="Helvetica Neue"/>
                <a:ea typeface="Helvetica Neue"/>
                <a:cs typeface="Helvetica Neue"/>
              </a:rPr>
              <a:t>W&amp;B upload verified through 40,074.08. The latest local result is 35,365.44.</a:t>
            </a:r>
          </a:p>
        </p:txBody>
      </p:sp>
    </p:spTree>
    <p:extLst>
      <p:ext uri="{BB962C8B-B14F-4D97-AF65-F5344CB8AC3E}">
        <p14:creationId xmlns:p14="http://schemas.microsoft.com/office/powerpoint/2010/main" val="1985771343"/>
      </p:ext>
    </p:extLst>
  </p:cSld>
</p:sld>
</file>

<file path=ppt/slides/slide12.xml><?xml version="1.0" encoding="utf-8"?>
<p:sld xmlns:p="http://schemas.openxmlformats.org/presentationml/2006/main">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6" name="text-66">
            <a:extLst xmlns:a="http://schemas.openxmlformats.org/drawingml/2006/main">
              <a:ext uri="{FF2B5EF4-FFF2-40B4-BE49-F238E27FC236}">
                <a16:creationId xmlns:a16="http://schemas.microsoft.com/office/drawing/2014/main" id="{E1543BCF-6321-44E0-BCCF-725931F1527F}"/>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Results and next step</a:t>
            </a:r>
          </a:p>
        </p:txBody>
      </p:sp>
      <p:graphicFrame>
        <p:nvGraphicFramePr>
          <p:cNvPr id="7" name=""/>
          <p:cNvGraphicFramePr/>
          <p:nvPr/>
        </p:nvGraphicFramePr>
        <p:xfrm>
          <a:off xmlns:a="http://schemas.openxmlformats.org/drawingml/2006/main" x="609600" y="1619250"/>
          <a:ext xmlns:a="http://schemas.openxmlformats.org/drawingml/2006/main" cx="10953750" cy="2952750"/>
        </p:xfrm>
        <a:graphic xmlns:a="http://schemas.openxmlformats.org/drawingml/2006/main">
          <a:graphicData uri="http://schemas.openxmlformats.org/drawingml/2006/table">
            <a:tbl>
              <a:tblPr/>
              <a:tblGrid>
                <a:gridCol w="3619500"/>
                <a:gridCol w="2476500"/>
                <a:gridCol w="4857750"/>
              </a:tblGrid>
              <a:tr h="590550">
                <a:tc>
                  <a:txBody>
                    <a:bodyPr/>
                    <a:lstStyle/>
                    <a:p>
                      <a:r>
                        <a:rPr sz="1725" b="1">
                          <a:solidFill>
                            <a:srgbClr val="B4BDBF"/>
                          </a:solidFill>
                          <a:latin typeface="Helvetica Neue"/>
                          <a:ea typeface="Helvetica Neue"/>
                          <a:cs typeface="Helvetica Neue"/>
                        </a:rPr>
                        <a:t>Board family</a:t>
                      </a:r>
                    </a:p>
                  </a:txBody>
                  <a:tcPr marL="91440" marR="91440" marT="45720" marB="45720">
                    <a:solidFill>
                      <a:srgbClr val="101417"/>
                    </a:solidFill>
                  </a:tcPr>
                </a:tc>
                <a:tc>
                  <a:txBody>
                    <a:bodyPr/>
                    <a:lstStyle/>
                    <a:p>
                      <a:r>
                        <a:rPr sz="1725" b="1">
                          <a:solidFill>
                            <a:srgbClr val="B4BDBF"/>
                          </a:solidFill>
                          <a:latin typeface="Helvetica Neue"/>
                          <a:ea typeface="Helvetica Neue"/>
                          <a:cs typeface="Helvetica Neue"/>
                        </a:rPr>
                        <a:t>Components</a:t>
                      </a:r>
                    </a:p>
                  </a:txBody>
                  <a:tcPr marL="91440" marR="91440" marT="45720" marB="45720">
                    <a:solidFill>
                      <a:srgbClr val="101417"/>
                    </a:solidFill>
                  </a:tcPr>
                </a:tc>
                <a:tc>
                  <a:txBody>
                    <a:bodyPr/>
                    <a:lstStyle/>
                    <a:p>
                      <a:r>
                        <a:rPr sz="1725" b="1">
                          <a:solidFill>
                            <a:srgbClr val="B4BDBF"/>
                          </a:solidFill>
                          <a:latin typeface="Helvetica Neue"/>
                          <a:ea typeface="Helvetica Neue"/>
                          <a:cs typeface="Helvetica Neue"/>
                        </a:rPr>
                        <a:t>Recorded status</a:t>
                      </a:r>
                    </a:p>
                  </a:txBody>
                  <a:tcPr marL="91440" marR="91440" marT="45720" marB="45720">
                    <a:solidFill>
                      <a:srgbClr val="101417"/>
                    </a:solidFill>
                  </a:tcPr>
                </a:tc>
              </a:tr>
              <a:tr h="590550">
                <a:tc>
                  <a:txBody>
                    <a:bodyPr/>
                    <a:lstStyle/>
                    <a:p>
                      <a:r>
                        <a:rPr sz="1950" b="0">
                          <a:solidFill>
                            <a:srgbClr val="F6F3EA"/>
                          </a:solidFill>
                          <a:latin typeface="Helvetica Neue"/>
                          <a:ea typeface="Helvetica Neue"/>
                          <a:cs typeface="Helvetica Neue"/>
                        </a:rPr>
                        <a:t>Small</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15</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Valid reduced circuit</a:t>
                      </a:r>
                    </a:p>
                  </a:txBody>
                  <a:tcPr marL="91440" marR="91440" marT="45720" marB="45720">
                    <a:solidFill>
                      <a:srgbClr val="101417"/>
                    </a:solidFill>
                  </a:tcPr>
                </a:tc>
              </a:tr>
              <a:tr h="590550">
                <a:tc>
                  <a:txBody>
                    <a:bodyPr/>
                    <a:lstStyle/>
                    <a:p>
                      <a:r>
                        <a:rPr sz="1950" b="0">
                          <a:solidFill>
                            <a:srgbClr val="F6F3EA"/>
                          </a:solidFill>
                          <a:latin typeface="Helvetica Neue"/>
                          <a:ea typeface="Helvetica Neue"/>
                          <a:cs typeface="Helvetica Neue"/>
                        </a:rPr>
                        <a:t>Medium</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85</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Valid, 45.8% lower score</a:t>
                      </a:r>
                    </a:p>
                  </a:txBody>
                  <a:tcPr marL="91440" marR="91440" marT="45720" marB="45720">
                    <a:solidFill>
                      <a:srgbClr val="101417"/>
                    </a:solidFill>
                  </a:tcPr>
                </a:tc>
              </a:tr>
              <a:tr h="590550">
                <a:tc>
                  <a:txBody>
                    <a:bodyPr/>
                    <a:lstStyle/>
                    <a:p>
                      <a:r>
                        <a:rPr sz="1950" b="0">
                          <a:solidFill>
                            <a:srgbClr val="F6F3EA"/>
                          </a:solidFill>
                          <a:latin typeface="Helvetica Neue"/>
                          <a:ea typeface="Helvetica Neue"/>
                          <a:cs typeface="Helvetica Neue"/>
                        </a:rPr>
                        <a:t>Large</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156</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Incomplete</a:t>
                      </a:r>
                    </a:p>
                  </a:txBody>
                  <a:tcPr marL="91440" marR="91440" marT="45720" marB="45720">
                    <a:solidFill>
                      <a:srgbClr val="101417"/>
                    </a:solidFill>
                  </a:tcPr>
                </a:tc>
              </a:tr>
              <a:tr h="590550">
                <a:tc>
                  <a:txBody>
                    <a:bodyPr/>
                    <a:lstStyle/>
                    <a:p>
                      <a:r>
                        <a:rPr sz="1950" b="0">
                          <a:solidFill>
                            <a:srgbClr val="F6F3EA"/>
                          </a:solidFill>
                          <a:latin typeface="Helvetica Neue"/>
                          <a:ea typeface="Helvetica Neue"/>
                          <a:cs typeface="Helvetica Neue"/>
                        </a:rPr>
                        <a:t>Original / Full</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245</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Incomplete</a:t>
                      </a:r>
                    </a:p>
                  </a:txBody>
                  <a:tcPr marL="91440" marR="91440" marT="45720" marB="45720">
                    <a:solidFill>
                      <a:srgbClr val="101417"/>
                    </a:solidFill>
                  </a:tcPr>
                </a:tc>
              </a:tr>
            </a:tbl>
          </a:graphicData>
        </a:graphic>
      </p:graphicFrame>
      <p:sp>
        <p:nvSpPr>
          <p:cNvPr id="3" name="text-67">
            <a:extLst xmlns:a="http://schemas.openxmlformats.org/drawingml/2006/main">
              <a:ext uri="{FF2B5EF4-FFF2-40B4-BE49-F238E27FC236}">
                <a16:creationId xmlns:a16="http://schemas.microsoft.com/office/drawing/2014/main" id="{4D89EF30-9982-498E-A300-1D572C099A0C}"/>
              </a:ext>
            </a:extLst>
          </p:cNvPr>
          <p:cNvSpPr>
            <a:spLocks xmlns:a="http://schemas.openxmlformats.org/drawingml/2006/main" noGrp="1"/>
          </p:cNvSpPr>
          <p:nvPr/>
        </p:nvSpPr>
        <p:spPr>
          <a:xfrm xmlns:a="http://schemas.openxmlformats.org/drawingml/2006/main">
            <a:off x="609600" y="51054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EDA96E"/>
                </a:solidFill>
                <a:latin typeface="Helvetica Neue"/>
                <a:ea typeface="Helvetica Neue"/>
                <a:cs typeface="Helvetica Neue"/>
              </a:defRPr>
            </a:pPr>
            <a:r>
              <a:rPr sz="2700" b="1">
                <a:solidFill>
                  <a:srgbClr val="EDA96E"/>
                </a:solidFill>
                <a:latin typeface="Helvetica Neue"/>
                <a:ea typeface="Helvetica Neue"/>
                <a:cs typeface="Helvetica Neue"/>
              </a:rPr>
              <a:t>Next: qualify the original 245-component board</a:t>
            </a:r>
          </a:p>
        </p:txBody>
      </p:sp>
      <p:sp>
        <p:nvSpPr>
          <p:cNvPr id="4" name="link-repo">
            <a:extLst xmlns:a="http://schemas.openxmlformats.org/drawingml/2006/main">
              <a:ext uri="{FF2B5EF4-FFF2-40B4-BE49-F238E27FC236}">
                <a16:creationId xmlns:a16="http://schemas.microsoft.com/office/drawing/2014/main" id="{1B73ABB8-5F43-4849-83AF-42FA676F5216}"/>
              </a:ext>
            </a:extLst>
            <ns0:hlinkClick xmlns:ns0="http://schemas.openxmlformats.org/drawingml/2006/main" xmlns:ns1="http://schemas.openxmlformats.org/officeDocument/2006/relationships" ns1:id="rIdLink3"/>
          </p:cNvPr>
          <p:cNvSpPr>
            <a:spLocks xmlns:a="http://schemas.openxmlformats.org/drawingml/2006/main" noGrp="1"/>
          </p:cNvSpPr>
          <p:nvPr/>
        </p:nvSpPr>
        <p:spPr>
          <a:xfrm xmlns:a="http://schemas.openxmlformats.org/drawingml/2006/main">
            <a:off x="609600" y="583882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FE3BA"/>
                </a:solidFill>
                <a:latin typeface="Helvetica Neue"/>
                <a:ea typeface="Helvetica Neue"/>
                <a:cs typeface="Helvetica Neue"/>
              </a:defRPr>
            </a:pPr>
            <a:r>
              <a:rPr sz="2175" b="1">
                <a:solidFill>
                  <a:srgbClr val="8FE3BA"/>
                </a:solidFill>
                <a:latin typeface="Helvetica Neue"/>
                <a:ea typeface="Helvetica Neue"/>
                <a:cs typeface="Helvetica Neue"/>
              </a:rPr>
              <a:t>Public code, prompts and candidate history</a:t>
            </a:r>
          </a:p>
        </p:txBody>
      </p:sp>
      <p:sp>
        <p:nvSpPr>
          <p:cNvPr id="5" name="text-68">
            <a:extLst xmlns:a="http://schemas.openxmlformats.org/drawingml/2006/main">
              <a:ext uri="{FF2B5EF4-FFF2-40B4-BE49-F238E27FC236}">
                <a16:creationId xmlns:a16="http://schemas.microsoft.com/office/drawing/2014/main" id="{5C5F7C7D-A67B-47A4-A6CB-47DC932E91FF}"/>
              </a:ext>
            </a:extLst>
          </p:cNvPr>
          <p:cNvSpPr>
            <a:spLocks xmlns:a="http://schemas.openxmlformats.org/drawingml/2006/main" noGrp="1"/>
          </p:cNvSpPr>
          <p:nvPr/>
        </p:nvSpPr>
        <p:spPr>
          <a:xfrm xmlns:a="http://schemas.openxmlformats.org/drawingml/2006/main">
            <a:off x="609600" y="6305550"/>
            <a:ext cx="10810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4BDBF"/>
                </a:solidFill>
                <a:latin typeface="Helvetica Neue"/>
                <a:ea typeface="Helvetica Neue"/>
                <a:cs typeface="Helvetica Neue"/>
              </a:defRPr>
            </a:pPr>
            <a:r>
              <a:rPr sz="1650" b="0">
                <a:solidFill>
                  <a:srgbClr val="B4BDBF"/>
                </a:solidFill>
                <a:latin typeface="Helvetica Neue"/>
                <a:ea typeface="Helvetica Neue"/>
                <a:cs typeface="Helvetica Neue"/>
              </a:rPr>
              <a:t>github.com/PhilippeFerreiraDeSousa/copper-scar</a:t>
            </a:r>
          </a:p>
        </p:txBody>
      </p:sp>
    </p:spTree>
    <p:extLst>
      <p:ext uri="{BB962C8B-B14F-4D97-AF65-F5344CB8AC3E}">
        <p14:creationId xmlns:p14="http://schemas.microsoft.com/office/powerpoint/2010/main" val="732510327"/>
      </p:ext>
    </p:extLst>
  </p:cSld>
</p:sld>
</file>

<file path=ppt/slides/slide13.xml><?xml version="1.0" encoding="utf-8"?>
<p:sld xmlns:p="http://schemas.openxmlformats.org/presentationml/2006/main" show="0">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5" name="text-69">
            <a:extLst xmlns:a="http://schemas.openxmlformats.org/drawingml/2006/main">
              <a:ext uri="{FF2B5EF4-FFF2-40B4-BE49-F238E27FC236}">
                <a16:creationId xmlns:a16="http://schemas.microsoft.com/office/drawing/2014/main" id="{A7C01730-678E-40D7-A202-41B6074C3C51}"/>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Backup: score breakdown</a:t>
            </a:r>
          </a:p>
        </p:txBody>
      </p:sp>
      <p:graphicFrame>
        <p:nvGraphicFramePr>
          <p:cNvPr id="6" name=""/>
          <p:cNvGraphicFramePr/>
          <p:nvPr/>
        </p:nvGraphicFramePr>
        <p:xfrm>
          <a:off xmlns:a="http://schemas.openxmlformats.org/drawingml/2006/main" x="609600" y="1666875"/>
          <a:ext xmlns:a="http://schemas.openxmlformats.org/drawingml/2006/main" cx="10953750" cy="3476625"/>
        </p:xfrm>
        <a:graphic xmlns:a="http://schemas.openxmlformats.org/drawingml/2006/main">
          <a:graphicData uri="http://schemas.openxmlformats.org/drawingml/2006/table">
            <a:tbl>
              <a:tblPr/>
              <a:tblGrid>
                <a:gridCol w="4476750"/>
                <a:gridCol w="3238500"/>
                <a:gridCol w="3238500"/>
              </a:tblGrid>
              <a:tr h="695325">
                <a:tc>
                  <a:txBody>
                    <a:bodyPr/>
                    <a:lstStyle/>
                    <a:p>
                      <a:r>
                        <a:rPr sz="1725" b="1">
                          <a:solidFill>
                            <a:srgbClr val="B4BDBF"/>
                          </a:solidFill>
                          <a:latin typeface="Helvetica Neue"/>
                          <a:ea typeface="Helvetica Neue"/>
                          <a:cs typeface="Helvetica Neue"/>
                        </a:rPr>
                        <a:t>Score term</a:t>
                      </a:r>
                    </a:p>
                  </a:txBody>
                  <a:tcPr marL="91440" marR="91440" marT="45720" marB="45720">
                    <a:solidFill>
                      <a:srgbClr val="101417"/>
                    </a:solidFill>
                  </a:tcPr>
                </a:tc>
                <a:tc>
                  <a:txBody>
                    <a:bodyPr/>
                    <a:lstStyle/>
                    <a:p>
                      <a:r>
                        <a:rPr sz="1725" b="1">
                          <a:solidFill>
                            <a:srgbClr val="B4BDBF"/>
                          </a:solidFill>
                          <a:latin typeface="Helvetica Neue"/>
                          <a:ea typeface="Helvetica Neue"/>
                          <a:cs typeface="Helvetica Neue"/>
                        </a:rPr>
                        <a:t>Baseline</a:t>
                      </a:r>
                    </a:p>
                  </a:txBody>
                  <a:tcPr marL="91440" marR="91440" marT="45720" marB="45720">
                    <a:solidFill>
                      <a:srgbClr val="101417"/>
                    </a:solidFill>
                  </a:tcPr>
                </a:tc>
                <a:tc>
                  <a:txBody>
                    <a:bodyPr/>
                    <a:lstStyle/>
                    <a:p>
                      <a:r>
                        <a:rPr sz="1725" b="1">
                          <a:solidFill>
                            <a:srgbClr val="B4BDBF"/>
                          </a:solidFill>
                          <a:latin typeface="Helvetica Neue"/>
                          <a:ea typeface="Helvetica Neue"/>
                          <a:cs typeface="Helvetica Neue"/>
                        </a:rPr>
                        <a:t>Best recorded</a:t>
                      </a:r>
                    </a:p>
                  </a:txBody>
                  <a:tcPr marL="91440" marR="91440" marT="45720" marB="45720">
                    <a:solidFill>
                      <a:srgbClr val="101417"/>
                    </a:solidFill>
                  </a:tcPr>
                </a:tc>
              </a:tr>
              <a:tr h="695325">
                <a:tc>
                  <a:txBody>
                    <a:bodyPr/>
                    <a:lstStyle/>
                    <a:p>
                      <a:r>
                        <a:rPr sz="1950" b="0">
                          <a:solidFill>
                            <a:srgbClr val="F6F3EA"/>
                          </a:solidFill>
                          <a:latin typeface="Helvetica Neue"/>
                          <a:ea typeface="Helvetica Neue"/>
                          <a:cs typeface="Helvetica Neue"/>
                        </a:rPr>
                        <a:t>Assembled volume</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48,888.00</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23,815.44</a:t>
                      </a:r>
                    </a:p>
                  </a:txBody>
                  <a:tcPr marL="91440" marR="91440" marT="45720" marB="45720">
                    <a:solidFill>
                      <a:srgbClr val="101417"/>
                    </a:solidFill>
                  </a:tcPr>
                </a:tc>
              </a:tr>
              <a:tr h="695325">
                <a:tc>
                  <a:txBody>
                    <a:bodyPr/>
                    <a:lstStyle/>
                    <a:p>
                      <a:r>
                        <a:rPr sz="1950" b="0">
                          <a:solidFill>
                            <a:srgbClr val="F6F3EA"/>
                          </a:solidFill>
                          <a:latin typeface="Helvetica Neue"/>
                          <a:ea typeface="Helvetica Neue"/>
                          <a:cs typeface="Helvetica Neue"/>
                        </a:rPr>
                        <a:t>Via penalty</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6,400  (128 vias)</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1,550  (31 vias)</a:t>
                      </a:r>
                    </a:p>
                  </a:txBody>
                  <a:tcPr marL="91440" marR="91440" marT="45720" marB="45720">
                    <a:solidFill>
                      <a:srgbClr val="101417"/>
                    </a:solidFill>
                  </a:tcPr>
                </a:tc>
              </a:tr>
              <a:tr h="695325">
                <a:tc>
                  <a:txBody>
                    <a:bodyPr/>
                    <a:lstStyle/>
                    <a:p>
                      <a:r>
                        <a:rPr sz="1950" b="0">
                          <a:solidFill>
                            <a:srgbClr val="F6F3EA"/>
                          </a:solidFill>
                          <a:latin typeface="Helvetica Neue"/>
                          <a:ea typeface="Helvetica Neue"/>
                          <a:cs typeface="Helvetica Neue"/>
                        </a:rPr>
                        <a:t>Layer penalty</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10,000  (2 layers)</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10,000  (2 layers)</a:t>
                      </a:r>
                    </a:p>
                  </a:txBody>
                  <a:tcPr marL="91440" marR="91440" marT="45720" marB="45720">
                    <a:solidFill>
                      <a:srgbClr val="101417"/>
                    </a:solidFill>
                  </a:tcPr>
                </a:tc>
              </a:tr>
              <a:tr h="695325">
                <a:tc>
                  <a:txBody>
                    <a:bodyPr/>
                    <a:lstStyle/>
                    <a:p>
                      <a:r>
                        <a:rPr sz="1950" b="0">
                          <a:solidFill>
                            <a:srgbClr val="F6F3EA"/>
                          </a:solidFill>
                          <a:latin typeface="Helvetica Neue"/>
                          <a:ea typeface="Helvetica Neue"/>
                          <a:cs typeface="Helvetica Neue"/>
                        </a:rPr>
                        <a:t>Total</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65,288.00</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35,365.44</a:t>
                      </a:r>
                    </a:p>
                  </a:txBody>
                  <a:tcPr marL="91440" marR="91440" marT="45720" marB="45720">
                    <a:solidFill>
                      <a:srgbClr val="101417"/>
                    </a:solidFill>
                  </a:tcPr>
                </a:tc>
              </a:tr>
            </a:tbl>
          </a:graphicData>
        </a:graphic>
      </p:graphicFrame>
      <p:sp>
        <p:nvSpPr>
          <p:cNvPr id="3" name="text-70">
            <a:extLst xmlns:a="http://schemas.openxmlformats.org/drawingml/2006/main">
              <a:ext uri="{FF2B5EF4-FFF2-40B4-BE49-F238E27FC236}">
                <a16:creationId xmlns:a16="http://schemas.microsoft.com/office/drawing/2014/main" id="{2790D14C-B347-4AD7-84A3-22E3BFF887CF}"/>
              </a:ext>
            </a:extLst>
          </p:cNvPr>
          <p:cNvSpPr>
            <a:spLocks xmlns:a="http://schemas.openxmlformats.org/drawingml/2006/main" noGrp="1"/>
          </p:cNvSpPr>
          <p:nvPr/>
        </p:nvSpPr>
        <p:spPr>
          <a:xfrm xmlns:a="http://schemas.openxmlformats.org/drawingml/2006/main">
            <a:off x="609600" y="5581650"/>
            <a:ext cx="10953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8FE3BA"/>
                </a:solidFill>
                <a:latin typeface="Helvetica Neue"/>
                <a:ea typeface="Helvetica Neue"/>
                <a:cs typeface="Helvetica Neue"/>
              </a:defRPr>
            </a:pPr>
            <a:r>
              <a:rPr sz="2625" b="1">
                <a:solidFill>
                  <a:srgbClr val="8FE3BA"/>
                </a:solidFill>
                <a:latin typeface="Helvetica Neue"/>
                <a:ea typeface="Helvetica Neue"/>
                <a:cs typeface="Helvetica Neue"/>
              </a:rPr>
              <a:t>29,922.56 lower score, with the same two copper layers</a:t>
            </a:r>
          </a:p>
        </p:txBody>
      </p:sp>
      <p:sp>
        <p:nvSpPr>
          <p:cNvPr id="4" name="text-71">
            <a:extLst xmlns:a="http://schemas.openxmlformats.org/drawingml/2006/main">
              <a:ext uri="{FF2B5EF4-FFF2-40B4-BE49-F238E27FC236}">
                <a16:creationId xmlns:a16="http://schemas.microsoft.com/office/drawing/2014/main" id="{D12ABBEC-7C1D-42FD-BC00-F75D4DF9EB9D}"/>
              </a:ext>
            </a:extLst>
          </p:cNvPr>
          <p:cNvSpPr>
            <a:spLocks xmlns:a="http://schemas.openxmlformats.org/drawingml/2006/main" noGrp="1"/>
          </p:cNvSpPr>
          <p:nvPr/>
        </p:nvSpPr>
        <p:spPr>
          <a:xfrm xmlns:a="http://schemas.openxmlformats.org/drawingml/2006/main">
            <a:off x="609600" y="64198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4BDBF"/>
                </a:solidFill>
                <a:latin typeface="Helvetica Neue"/>
                <a:ea typeface="Helvetica Neue"/>
                <a:cs typeface="Helvetica Neue"/>
              </a:defRPr>
            </a:pPr>
            <a:r>
              <a:rPr sz="1650" b="0">
                <a:solidFill>
                  <a:srgbClr val="B4BDBF"/>
                </a:solidFill>
                <a:latin typeface="Helvetica Neue"/>
                <a:ea typeface="Helvetica Neue"/>
                <a:cs typeface="Helvetica Neue"/>
              </a:rPr>
              <a:t>This compares the baseline with the final best, not the two grouping-example boards.</a:t>
            </a:r>
          </a:p>
        </p:txBody>
      </p:sp>
    </p:spTree>
    <p:extLst>
      <p:ext uri="{BB962C8B-B14F-4D97-AF65-F5344CB8AC3E}">
        <p14:creationId xmlns:p14="http://schemas.microsoft.com/office/powerpoint/2010/main" val="2076630859"/>
      </p:ext>
    </p:extLst>
  </p:cSld>
</p:sld>
</file>

<file path=ppt/slides/slide14.xml><?xml version="1.0" encoding="utf-8"?>
<p:sld xmlns:p="http://schemas.openxmlformats.org/presentationml/2006/main" show="0">
  <p:cSld>
    <p:bg>
      <p:bgPr>
        <a:solidFill xmlns:a="http://schemas.openxmlformats.org/drawingml/2006/main">
          <a:srgbClr val="101417"/>
        </a:solidFill>
      </p:bgPr>
    </p:bg>
    <p:spTree>
      <p:nvGrpSpPr>
        <p:cNvPr id="1" name=""/>
        <p:cNvGrpSpPr/>
        <p:nvPr/>
      </p:nvGrpSpPr>
      <p:grpSpPr>
        <a:xfrm xmlns:a="http://schemas.openxmlformats.org/drawingml/2006/main"/>
      </p:grpSpPr>
      <p:sp>
        <p:nvSpPr>
          <p:cNvPr id="4" name="text-72">
            <a:extLst xmlns:a="http://schemas.openxmlformats.org/drawingml/2006/main">
              <a:ext uri="{FF2B5EF4-FFF2-40B4-BE49-F238E27FC236}">
                <a16:creationId xmlns:a16="http://schemas.microsoft.com/office/drawing/2014/main" id="{8ED008F5-620F-4312-98CE-C1689700772C}"/>
              </a:ext>
            </a:extLst>
          </p:cNvPr>
          <p:cNvSpPr>
            <a:spLocks xmlns:a="http://schemas.openxmlformats.org/drawingml/2006/main" noGrp="1"/>
          </p:cNvSpPr>
          <p:nvPr/>
        </p:nvSpPr>
        <p:spPr>
          <a:xfrm xmlns:a="http://schemas.openxmlformats.org/drawingml/2006/main">
            <a:off x="609600" y="4286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EA"/>
                </a:solidFill>
                <a:latin typeface="Helvetica Neue"/>
                <a:ea typeface="Helvetica Neue"/>
                <a:cs typeface="Helvetica Neue"/>
              </a:defRPr>
            </a:pPr>
            <a:r>
              <a:rPr sz="3600" b="1">
                <a:solidFill>
                  <a:srgbClr val="F6F3EA"/>
                </a:solidFill>
                <a:latin typeface="Helvetica Neue"/>
                <a:ea typeface="Helvetica Neue"/>
                <a:cs typeface="Helvetica Neue"/>
              </a:rPr>
              <a:t>Backup: tool roles</a:t>
            </a:r>
          </a:p>
        </p:txBody>
      </p:sp>
      <p:graphicFrame>
        <p:nvGraphicFramePr>
          <p:cNvPr id="5" name=""/>
          <p:cNvGraphicFramePr/>
          <p:nvPr/>
        </p:nvGraphicFramePr>
        <p:xfrm>
          <a:off xmlns:a="http://schemas.openxmlformats.org/drawingml/2006/main" x="609600" y="1638300"/>
          <a:ext xmlns:a="http://schemas.openxmlformats.org/drawingml/2006/main" cx="10953750" cy="3619500"/>
        </p:xfrm>
        <a:graphic xmlns:a="http://schemas.openxmlformats.org/drawingml/2006/main">
          <a:graphicData uri="http://schemas.openxmlformats.org/drawingml/2006/table">
            <a:tbl>
              <a:tblPr/>
              <a:tblGrid>
                <a:gridCol w="3048000"/>
                <a:gridCol w="7905750"/>
              </a:tblGrid>
              <a:tr h="603250">
                <a:tc>
                  <a:txBody>
                    <a:bodyPr/>
                    <a:lstStyle/>
                    <a:p>
                      <a:r>
                        <a:rPr sz="1725" b="1">
                          <a:solidFill>
                            <a:srgbClr val="B4BDBF"/>
                          </a:solidFill>
                          <a:latin typeface="Helvetica Neue"/>
                          <a:ea typeface="Helvetica Neue"/>
                          <a:cs typeface="Helvetica Neue"/>
                        </a:rPr>
                        <a:t>Tool</a:t>
                      </a:r>
                    </a:p>
                  </a:txBody>
                  <a:tcPr marL="91440" marR="91440" marT="45720" marB="45720">
                    <a:solidFill>
                      <a:srgbClr val="101417"/>
                    </a:solidFill>
                  </a:tcPr>
                </a:tc>
                <a:tc>
                  <a:txBody>
                    <a:bodyPr/>
                    <a:lstStyle/>
                    <a:p>
                      <a:r>
                        <a:rPr sz="1725" b="1">
                          <a:solidFill>
                            <a:srgbClr val="B4BDBF"/>
                          </a:solidFill>
                          <a:latin typeface="Helvetica Neue"/>
                          <a:ea typeface="Helvetica Neue"/>
                          <a:cs typeface="Helvetica Neue"/>
                        </a:rPr>
                        <a:t>Role in the four-family demo</a:t>
                      </a:r>
                    </a:p>
                  </a:txBody>
                  <a:tcPr marL="91440" marR="91440" marT="45720" marB="45720">
                    <a:solidFill>
                      <a:srgbClr val="101417"/>
                    </a:solidFill>
                  </a:tcPr>
                </a:tc>
              </a:tr>
              <a:tr h="603250">
                <a:tc>
                  <a:txBody>
                    <a:bodyPr/>
                    <a:lstStyle/>
                    <a:p>
                      <a:r>
                        <a:rPr sz="1950" b="0">
                          <a:solidFill>
                            <a:srgbClr val="F6F3EA"/>
                          </a:solidFill>
                          <a:latin typeface="Helvetica Neue"/>
                          <a:ea typeface="Helvetica Neue"/>
                          <a:cs typeface="Helvetica Neue"/>
                        </a:rPr>
                        <a:t>Codex + Python</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Propose and implement experiment changes</a:t>
                      </a:r>
                    </a:p>
                  </a:txBody>
                  <a:tcPr marL="91440" marR="91440" marT="45720" marB="45720">
                    <a:solidFill>
                      <a:srgbClr val="101417"/>
                    </a:solidFill>
                  </a:tcPr>
                </a:tc>
              </a:tr>
              <a:tr h="603250">
                <a:tc>
                  <a:txBody>
                    <a:bodyPr/>
                    <a:lstStyle/>
                    <a:p>
                      <a:r>
                        <a:rPr sz="1950" b="0">
                          <a:solidFill>
                            <a:srgbClr val="F6F3EA"/>
                          </a:solidFill>
                          <a:latin typeface="Helvetica Neue"/>
                          <a:ea typeface="Helvetica Neue"/>
                          <a:cs typeface="Helvetica Neue"/>
                        </a:rPr>
                        <a:t>Freerouting</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Trace paths and automatic via transitions</a:t>
                      </a:r>
                    </a:p>
                  </a:txBody>
                  <a:tcPr marL="91440" marR="91440" marT="45720" marB="45720">
                    <a:solidFill>
                      <a:srgbClr val="101417"/>
                    </a:solidFill>
                  </a:tcPr>
                </a:tc>
              </a:tr>
              <a:tr h="603250">
                <a:tc>
                  <a:txBody>
                    <a:bodyPr/>
                    <a:lstStyle/>
                    <a:p>
                      <a:r>
                        <a:rPr sz="1950" b="0">
                          <a:solidFill>
                            <a:srgbClr val="F6F3EA"/>
                          </a:solidFill>
                          <a:latin typeface="Helvetica Neue"/>
                          <a:ea typeface="Helvetica Neue"/>
                          <a:cs typeface="Helvetica Neue"/>
                        </a:rPr>
                        <a:t>KiCad</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Native geometry, connectivity and rule checks</a:t>
                      </a:r>
                    </a:p>
                  </a:txBody>
                  <a:tcPr marL="91440" marR="91440" marT="45720" marB="45720">
                    <a:solidFill>
                      <a:srgbClr val="101417"/>
                    </a:solidFill>
                  </a:tcPr>
                </a:tc>
              </a:tr>
              <a:tr h="603250">
                <a:tc>
                  <a:txBody>
                    <a:bodyPr/>
                    <a:lstStyle/>
                    <a:p>
                      <a:r>
                        <a:rPr sz="1950" b="0">
                          <a:solidFill>
                            <a:srgbClr val="F6F3EA"/>
                          </a:solidFill>
                          <a:latin typeface="Helvetica Neue"/>
                          <a:ea typeface="Helvetica Neue"/>
                          <a:cs typeface="Helvetica Neue"/>
                        </a:rPr>
                        <a:t>JITX</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Initial input import/display; separate routing research</a:t>
                      </a:r>
                    </a:p>
                  </a:txBody>
                  <a:tcPr marL="91440" marR="91440" marT="45720" marB="45720">
                    <a:solidFill>
                      <a:srgbClr val="101417"/>
                    </a:solidFill>
                  </a:tcPr>
                </a:tc>
              </a:tr>
              <a:tr h="603250">
                <a:tc>
                  <a:txBody>
                    <a:bodyPr/>
                    <a:lstStyle/>
                    <a:p>
                      <a:r>
                        <a:rPr sz="1950" b="0">
                          <a:solidFill>
                            <a:srgbClr val="F6F3EA"/>
                          </a:solidFill>
                          <a:latin typeface="Helvetica Neue"/>
                          <a:ea typeface="Helvetica Neue"/>
                          <a:cs typeface="Helvetica Neue"/>
                        </a:rPr>
                        <a:t>W&amp;B + Weave</a:t>
                      </a:r>
                    </a:p>
                  </a:txBody>
                  <a:tcPr marL="91440" marR="91440" marT="45720" marB="45720">
                    <a:solidFill>
                      <a:srgbClr val="101417"/>
                    </a:solidFill>
                  </a:tcPr>
                </a:tc>
                <a:tc>
                  <a:txBody>
                    <a:bodyPr/>
                    <a:lstStyle/>
                    <a:p>
                      <a:r>
                        <a:rPr sz="1950" b="0">
                          <a:solidFill>
                            <a:srgbClr val="F6F3EA"/>
                          </a:solidFill>
                          <a:latin typeface="Helvetica Neue"/>
                          <a:ea typeface="Helvetica Neue"/>
                          <a:cs typeface="Helvetica Neue"/>
                        </a:rPr>
                        <a:t>Recorded metrics, actions and artifact evidence</a:t>
                      </a:r>
                    </a:p>
                  </a:txBody>
                  <a:tcPr marL="91440" marR="91440" marT="45720" marB="45720">
                    <a:solidFill>
                      <a:srgbClr val="101417"/>
                    </a:solidFill>
                  </a:tcPr>
                </a:tc>
              </a:tr>
            </a:tbl>
          </a:graphicData>
        </a:graphic>
      </p:graphicFrame>
      <p:sp>
        <p:nvSpPr>
          <p:cNvPr id="3" name="text-73">
            <a:extLst xmlns:a="http://schemas.openxmlformats.org/drawingml/2006/main">
              <a:ext uri="{FF2B5EF4-FFF2-40B4-BE49-F238E27FC236}">
                <a16:creationId xmlns:a16="http://schemas.microsoft.com/office/drawing/2014/main" id="{6D7389D7-9490-4DA3-99C0-A7D1D896ED8D}"/>
              </a:ext>
            </a:extLst>
          </p:cNvPr>
          <p:cNvSpPr>
            <a:spLocks xmlns:a="http://schemas.openxmlformats.org/drawingml/2006/main" noGrp="1"/>
          </p:cNvSpPr>
          <p:nvPr/>
        </p:nvSpPr>
        <p:spPr>
          <a:xfrm xmlns:a="http://schemas.openxmlformats.org/drawingml/2006/main">
            <a:off x="609600" y="567690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FE3BA"/>
                </a:solidFill>
                <a:latin typeface="Helvetica Neue"/>
                <a:ea typeface="Helvetica Neue"/>
                <a:cs typeface="Helvetica Neue"/>
              </a:defRPr>
            </a:pPr>
            <a:r>
              <a:rPr sz="2175" b="0">
                <a:solidFill>
                  <a:srgbClr val="8FE3BA"/>
                </a:solidFill>
                <a:latin typeface="Helvetica Neue"/>
                <a:ea typeface="Helvetica Neue"/>
                <a:cs typeface="Helvetica Neue"/>
              </a:rPr>
              <a:t>Candidates are KiCad snapshots. Each completed attempt has its own folder.</a:t>
            </a:r>
          </a:p>
        </p:txBody>
      </p:sp>
    </p:spTree>
    <p:extLst>
      <p:ext uri="{BB962C8B-B14F-4D97-AF65-F5344CB8AC3E}">
        <p14:creationId xmlns:p14="http://schemas.microsoft.com/office/powerpoint/2010/main" val="5679044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2026-09-13T23:28:10.9630000Z</dcterms:created>
  <dcterms:modified xsi:type="dcterms:W3CDTF">2026-09-13T23:28:10.9630000Z</dcterms:modified>
</coreProperties>
</file>