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8807a71adc0466b" /><Relationship Type="http://schemas.openxmlformats.org/officeDocument/2006/relationships/extended-properties" Target="/docProps/app.xml" Id="R88e285e5db1f4bd9" /><Relationship Type="http://schemas.openxmlformats.org/officeDocument/2006/relationships/officeDocument" Target="/ppt/presentation.xml" Id="Re33b3fe6bd4c456a" /></Relationships>
</file>

<file path=ppt/presentation.xml><?xml version="1.0" encoding="utf-8"?>
<p:presentation xmlns:p="http://schemas.openxmlformats.org/presentationml/2006/main">
  <p:sldMasterIdLst>
    <p:sldMasterId xmlns:r="http://schemas.openxmlformats.org/officeDocument/2006/relationships" id="2147483648" r:id="Raf70fa085b694902"/>
  </p:sldMasterIdLst>
  <p:notesMasterIdLst>
    <p:notesMasterId xmlns:r="http://schemas.openxmlformats.org/officeDocument/2006/relationships" r:id="Rca1cb9b53c9b43c2"/>
  </p:notesMasterIdLst>
  <p:sldIdLst>
    <p:sldId xmlns:r="http://schemas.openxmlformats.org/officeDocument/2006/relationships" id="256" r:id="R39fa3f734bb14815"/>
    <p:sldId xmlns:r="http://schemas.openxmlformats.org/officeDocument/2006/relationships" id="257" r:id="R5638986203b14929"/>
    <p:sldId xmlns:r="http://schemas.openxmlformats.org/officeDocument/2006/relationships" id="258" r:id="Rd799d255ce484419"/>
    <p:sldId xmlns:r="http://schemas.openxmlformats.org/officeDocument/2006/relationships" id="259" r:id="Rb59fb5b7ad1041a8"/>
    <p:sldId xmlns:r="http://schemas.openxmlformats.org/officeDocument/2006/relationships" id="260" r:id="R31c45a3e7bb94fff"/>
    <p:sldId xmlns:r="http://schemas.openxmlformats.org/officeDocument/2006/relationships" id="261" r:id="Rbd8d21fa8a054af6"/>
    <p:sldId xmlns:r="http://schemas.openxmlformats.org/officeDocument/2006/relationships" id="262" r:id="R4cca7c9cfd434de0"/>
    <p:sldId xmlns:r="http://schemas.openxmlformats.org/officeDocument/2006/relationships" id="263" r:id="Rb8604dd7f81d43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0a749c43c1427d" /><Relationship Type="http://schemas.openxmlformats.org/officeDocument/2006/relationships/slideMaster" Target="/ppt/slideMasters/slideMaster1.xml" Id="Raf70fa085b694902" /><Relationship Type="http://schemas.openxmlformats.org/officeDocument/2006/relationships/notesMaster" Target="/ppt/notesMasters/notesMaster1.xml" Id="Rca1cb9b53c9b43c2" /><Relationship Type="http://schemas.openxmlformats.org/officeDocument/2006/relationships/presProps" Target="/ppt/presProps.xml" Id="Rb1209957abb64ee9" /><Relationship Type="http://schemas.openxmlformats.org/officeDocument/2006/relationships/tableStyles" Target="/ppt/tableStyles.xml" Id="Rcb61ec66959c4a21" /><Relationship Type="http://schemas.openxmlformats.org/officeDocument/2006/relationships/slide" Target="/ppt/slides/slide1.xml" Id="R39fa3f734bb14815" /><Relationship Type="http://schemas.openxmlformats.org/officeDocument/2006/relationships/slide" Target="/ppt/slides/slide2.xml" Id="R5638986203b14929" /><Relationship Type="http://schemas.openxmlformats.org/officeDocument/2006/relationships/slide" Target="/ppt/slides/slide3.xml" Id="Rd799d255ce484419" /><Relationship Type="http://schemas.openxmlformats.org/officeDocument/2006/relationships/slide" Target="/ppt/slides/slide4.xml" Id="Rb59fb5b7ad1041a8" /><Relationship Type="http://schemas.openxmlformats.org/officeDocument/2006/relationships/slide" Target="/ppt/slides/slide5.xml" Id="R31c45a3e7bb94fff" /><Relationship Type="http://schemas.openxmlformats.org/officeDocument/2006/relationships/slide" Target="/ppt/slides/slide6.xml" Id="Rbd8d21fa8a054af6" /><Relationship Type="http://schemas.openxmlformats.org/officeDocument/2006/relationships/slide" Target="/ppt/slides/slide7.xml" Id="R4cca7c9cfd434de0" /><Relationship Type="http://schemas.openxmlformats.org/officeDocument/2006/relationships/slide" Target="/ppt/slides/slide8.xml" Id="Rb8604dd7f81d43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72b69a5ddc4d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776194f6e94862" /><Relationship Type="http://schemas.openxmlformats.org/officeDocument/2006/relationships/notesMaster" Target="/ppt/notesMasters/notesMaster1.xml" Id="R0cf15b4bde364d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9848a249cd4b16" /><Relationship Type="http://schemas.openxmlformats.org/officeDocument/2006/relationships/notesMaster" Target="/ppt/notesMasters/notesMaster1.xml" Id="R066813cf821f43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2de7658e194cae" /><Relationship Type="http://schemas.openxmlformats.org/officeDocument/2006/relationships/notesMaster" Target="/ppt/notesMasters/notesMaster1.xml" Id="Re5c919e1b6064a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64d05497a14110" /><Relationship Type="http://schemas.openxmlformats.org/officeDocument/2006/relationships/notesMaster" Target="/ppt/notesMasters/notesMaster1.xml" Id="Ra7500175ff2747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31dd9291ea4027" /><Relationship Type="http://schemas.openxmlformats.org/officeDocument/2006/relationships/notesMaster" Target="/ppt/notesMasters/notesMaster1.xml" Id="R4e676cb6308942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48595f67de4354" /><Relationship Type="http://schemas.openxmlformats.org/officeDocument/2006/relationships/notesMaster" Target="/ppt/notesMasters/notesMaster1.xml" Id="Rc01e32f59b4242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75dd16a9a0470c" /><Relationship Type="http://schemas.openxmlformats.org/officeDocument/2006/relationships/notesMaster" Target="/ppt/notesMasters/notesMaster1.xml" Id="R60926fbdf96543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dff7233a024443" /><Relationship Type="http://schemas.openxmlformats.org/officeDocument/2006/relationships/notesMaster" Target="/ppt/notesMasters/notesMaster1.xml" Id="R686a311d90d44c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a:t>
            </a:r>
          </a:p>
          <a:p xmlns:a="http://schemas.openxmlformats.org/drawingml/2006/main">
            <a:r>
              <a:t>I built PCB Loop to explore whether an AI agent can improve a circuit board by changing its placement, measuring the result, and trying again. The hard part is shrinking the design while keeping every required connection and manufacturing rule intact.</a:t>
            </a:r>
          </a:p>
          <a:p xmlns:a="http://schemas.openxmlformats.org/drawingml/2006/main">
            <a:r>
              <a:t/>
            </a:r>
          </a:p>
          <a:p xmlns:a="http://schemas.openxmlformats.org/drawingml/2006/main">
            <a:r>
              <a:t>SOURCES</a:t>
            </a:r>
          </a:p>
          <a:p xmlns:a="http://schemas.openxmlformats.org/drawingml/2006/main">
            <a:r>
              <a:t>https://github.com/PhilippeFerreiraDeSousa/copper-scar/blob/main/docs/hackathon/README.md</a:t>
            </a:r>
          </a:p>
          <a:p xmlns:a="http://schemas.openxmlformats.org/drawingml/2006/main">
            <a:r>
              <a:t>/Users/philippe/.codex/worktrees/3bde/copper-scar/.local/medium-loop/stage2/edge-x-tight-01/candidate-01/score.json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0:20–0:55</a:t>
            </a:r>
          </a:p>
          <a:p xmlns:a="http://schemas.openxmlformats.org/drawingml/2006/main">
            <a:r>
              <a:t>There are two stages: first get a valid board, then improve its score while preserving validity. A persistent Codex task reads the board, constraints, and previous failures. It writes or revises Python experiments. Freerouting chooses trace paths and vias across the allowed layers, and native KiCad checks decide whether the result passes. The saved diagnostics guide the next experiment. Some experiments evaluate a batch without another model decision between candidates. JITX import and display are separate from this demo routing path.</a:t>
            </a:r>
          </a:p>
          <a:p xmlns:a="http://schemas.openxmlformats.org/drawingml/2006/main">
            <a:r>
              <a:t/>
            </a:r>
          </a:p>
          <a:p xmlns:a="http://schemas.openxmlformats.org/drawingml/2006/main">
            <a:r>
              <a:t>SOURCES</a:t>
            </a:r>
          </a:p>
          <a:p xmlns:a="http://schemas.openxmlformats.org/drawingml/2006/main">
            <a:r>
              <a:t>https://github.com/PhilippeFerreiraDeSousa/copper-scar/blob/main/docs/hackathon/README.md</a:t>
            </a:r>
          </a:p>
          <a:p xmlns:a="http://schemas.openxmlformats.org/drawingml/2006/main">
            <a:r>
              <a:t>https://github.com/PhilippeFerreiraDeSousa/copper-scar/blob/codex/medium-pcb-loop/experiments/medium-loop/shared_backend.py</a:t>
            </a:r>
          </a:p>
          <a:p xmlns:a="http://schemas.openxmlformats.org/drawingml/2006/main">
            <a:r>
              <a:t>https://github.com/PhilippeFerreiraDeSousa/copper-scar/blob/codex/medium-pcb-loop/scripts/copperhead_route.py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0:55–1:25</a:t>
            </a:r>
          </a:p>
          <a:p xmlns:a="http://schemas.openxmlformats.org/drawingml/2006/main">
            <a:r>
              <a:t>On the 85-component Medium circuit, the recorded score fell from 65,288 to 35,365, a 45.8 percent reduction. The score combines assembled volume with via and layer penalties. This line shows the best valid result after each completed attempt, including flat sections when attempts fail or do not improve it. These are native CAD checks on a reduced demo circuit. I am not claiming the full original competition board is solved or that this hardware has been manufactured.</a:t>
            </a:r>
          </a:p>
          <a:p xmlns:a="http://schemas.openxmlformats.org/drawingml/2006/main">
            <a:r>
              <a:t/>
            </a:r>
          </a:p>
          <a:p xmlns:a="http://schemas.openxmlformats.org/drawingml/2006/main">
            <a:r>
              <a:t>SOURCES</a:t>
            </a:r>
          </a:p>
          <a:p xmlns:a="http://schemas.openxmlformats.org/drawingml/2006/main">
            <a:r>
              <a:t>/Users/philippe/.codex/worktrees/3bde/copper-scar/.local/medium-loop/stage2/baseline/score.json</a:t>
            </a:r>
          </a:p>
          <a:p xmlns:a="http://schemas.openxmlformats.org/drawingml/2006/main">
            <a:r>
              <a:t>/Users/philippe/.codex/worktrees/3bde/copper-scar/.local/medium-loop/stage2/edge-x-tight-01/candidate-01/score.json</a:t>
            </a:r>
          </a:p>
          <a:p xmlns:a="http://schemas.openxmlformats.org/drawingml/2006/main">
            <a:r>
              <a:t>https://github.com/PhilippeFerreiraDeSousa/copper-scar/blob/main/docs/hackathon/medium-candidate-ledger.json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1:25–1:55</a:t>
            </a:r>
          </a:p>
          <a:p xmlns:a="http://schemas.openxmlformats.org/drawingml/2006/main">
            <a:r>
              <a:t>One useful experiment regrouped components around their own external headers. The resulting route used 29 vias instead of 148. The assembled volume actually increased slightly, but the lower via penalty more than compensated, improving the score by about 9 percent. This is why the loop measures the full objective rather than just trying to make the outline smaller. The pictures are the recorded native board renders; Python proposed placement, and Freerouting generated the routes.</a:t>
            </a:r>
          </a:p>
          <a:p xmlns:a="http://schemas.openxmlformats.org/drawingml/2006/main">
            <a:r>
              <a:t/>
            </a:r>
          </a:p>
          <a:p xmlns:a="http://schemas.openxmlformats.org/drawingml/2006/main">
            <a:r>
              <a:t>SOURCES</a:t>
            </a:r>
          </a:p>
          <a:p xmlns:a="http://schemas.openxmlformats.org/drawingml/2006/main">
            <a:r>
              <a:t>/Users/philippe/.codex/worktrees/3bde/copper-scar/.local/medium-loop/stage2/continuation-01/candidate-02/score.json</a:t>
            </a:r>
          </a:p>
          <a:p xmlns:a="http://schemas.openxmlformats.org/drawingml/2006/main">
            <a:r>
              <a:t>/Users/philippe/.codex/worktrees/3bde/copper-scar/.local/medium-loop/stage2/functional-probe-01/candidate-01/score.json</a:t>
            </a:r>
          </a:p>
          <a:p xmlns:a="http://schemas.openxmlformats.org/drawingml/2006/main">
            <a:r>
              <a:t>https://github.com/PhilippeFerreiraDeSousa/copper-scar/blob/codex/medium-pcb-loop/experiments/medium-loop/grouped_input.py</a:t>
            </a:r>
          </a:p>
          <a:p xmlns:a="http://schemas.openxmlformats.org/drawingml/2006/main">
            <a:r>
              <a:t>https://wandb.ai/philippe-fdesousa/copper-scar/weave/calls/4ea50c71-2ab3-549f-8917-d32b321e2fa7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1:55–2:30</a:t>
            </a:r>
          </a:p>
          <a:p xmlns:a="http://schemas.openxmlformats.org/drawingml/2006/main">
            <a:r>
              <a:t>W&amp;B is how I inspect and compare the experiments. The charts show which attempts improved the retained score. In Weave, I can open a concrete attempt and see its action, source commit, commands, router log, and validation result. The artifact ties those measurements to the exact board. These records were uploaded after execution, so they are experiment evidence rather than live LLM spans. If time permits, click the grouping trace and expand action and result. The latest verified remote upload predates the latest local result.</a:t>
            </a:r>
          </a:p>
          <a:p xmlns:a="http://schemas.openxmlformats.org/drawingml/2006/main">
            <a:r>
              <a:t/>
            </a:r>
          </a:p>
          <a:p xmlns:a="http://schemas.openxmlformats.org/drawingml/2006/main">
            <a:r>
              <a:t>SOURCES</a:t>
            </a:r>
          </a:p>
          <a:p xmlns:a="http://schemas.openxmlformats.org/drawingml/2006/main">
            <a:r>
              <a:t>https://wandb.ai/philippe-fdesousa/copper-scar/runs/medium-stage2-continuation-20260913</a:t>
            </a:r>
          </a:p>
          <a:p xmlns:a="http://schemas.openxmlformats.org/drawingml/2006/main">
            <a:r>
              <a:t>https://wandb.ai/philippe-fdesousa/copper-scar/weave/calls/4ea50c71-2ab3-549f-8917-d32b321e2fa7</a:t>
            </a:r>
          </a:p>
          <a:p xmlns:a="http://schemas.openxmlformats.org/drawingml/2006/main">
            <a:r>
              <a:t>/Users/philippe/.codex/worktrees/3bde/copper-scar/.local/medium-loop/stage2/continuation-observability/verified.json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2:30–3:00</a:t>
            </a:r>
          </a:p>
          <a:p xmlns:a="http://schemas.openxmlformats.org/drawingml/2006/main">
            <a:r>
              <a:t>We now have valid reduced Small and Medium circuits, and a saved history of how each candidate was generated and evaluated. Large and the original 245-component board remain incomplete. The next step is qualifying that original board while preserving the same circuit and manufacturing constraints. The source, agent instructions, and candidate action history are public, so people can inspect what ran and build on the experiment. Thank you.</a:t>
            </a:r>
          </a:p>
          <a:p xmlns:a="http://schemas.openxmlformats.org/drawingml/2006/main">
            <a:r>
              <a:t/>
            </a:r>
          </a:p>
          <a:p xmlns:a="http://schemas.openxmlformats.org/drawingml/2006/main">
            <a:r>
              <a:t>SOURCES</a:t>
            </a:r>
          </a:p>
          <a:p xmlns:a="http://schemas.openxmlformats.org/drawingml/2006/main">
            <a:r>
              <a:t>https://github.com/PhilippeFerreiraDeSousa/copper-scar/blob/main/docs/hackathon/README.md</a:t>
            </a:r>
          </a:p>
          <a:p xmlns:a="http://schemas.openxmlformats.org/drawingml/2006/main">
            <a:r>
              <a:t>https://github.com/PhilippeFerreiraDeSousa/copper-scar/blob/codex/small-pcb-loop/experiments/small-loop/RESULTS.md</a:t>
            </a:r>
          </a:p>
          <a:p xmlns:a="http://schemas.openxmlformats.org/drawingml/2006/main">
            <a:r>
              <a:t>https://github.com/PhilippeFerreiraDeSousa/copper-scar/blob/codex/large-pcb-loop/experiments/large-loop/RESULTS.md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excluded from the three-minute script. The excerpt is from the actual creation prompt. A task continues across experiments; there is no fresh agent spawn for every candidate. Some candidates come from a deterministic batch. Later Coordinator messages ask for a specific diagnostic-driven intervention. The prompt describes intended action space, while the recorded actions establish what actually ran.</a:t>
            </a:r>
          </a:p>
          <a:p xmlns:a="http://schemas.openxmlformats.org/drawingml/2006/main">
            <a:r>
              <a:t/>
            </a:r>
          </a:p>
          <a:p xmlns:a="http://schemas.openxmlformats.org/drawingml/2006/main">
            <a:r>
              <a:t>SOURCES</a:t>
            </a:r>
          </a:p>
          <a:p xmlns:a="http://schemas.openxmlformats.org/drawingml/2006/main">
            <a:r>
              <a:t>https://github.com/PhilippeFerreiraDeSousa/copper-scar/blob/main/docs/hackathon/prompts/stage-1-medium-initial.md</a:t>
            </a:r>
          </a:p>
          <a:p xmlns:a="http://schemas.openxmlformats.org/drawingml/2006/main">
            <a:r>
              <a:t>https://github.com/PhilippeFerreiraDeSousa/copper-scar/blob/main/docs/hackathon/prompts/stage-2-medium-transition.md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All four demo families used Freerouting for full-board trials. Earlier original/full work also used KiCadRoutingTools for targeted repairs. Separate JITX source-authored routing and transfer fixtures exist, but they do not establish the four-family demo as a JITX routing loop. Candidate directories preserve before-routing preview, evaluated board, actions, source hashes, and reports.</a:t>
            </a:r>
          </a:p>
          <a:p xmlns:a="http://schemas.openxmlformats.org/drawingml/2006/main">
            <a:r>
              <a:t/>
            </a:r>
          </a:p>
          <a:p xmlns:a="http://schemas.openxmlformats.org/drawingml/2006/main">
            <a:r>
              <a:t>SOURCES</a:t>
            </a:r>
          </a:p>
          <a:p xmlns:a="http://schemas.openxmlformats.org/drawingml/2006/main">
            <a:r>
              <a:t>https://github.com/PhilippeFerreiraDeSousa/copper-scar/blob/main/docs/hackathon/README.md</a:t>
            </a:r>
          </a:p>
          <a:p xmlns:a="http://schemas.openxmlformats.org/drawingml/2006/main">
            <a:r>
              <a:t>https://github.com/PhilippeFerreiraDeSousa/copper-scar/blob/codex/medium-pcb-loop/experiments/medium-loop/jitx_input.py</a:t>
            </a:r>
          </a:p>
          <a:p xmlns:a="http://schemas.openxmlformats.org/drawingml/2006/main">
            <a:r>
              <a:t>https://github.com/PhilippeFerreiraDeSousa/copper-scar/blob/codex/medium-pcb-loop/scripts/copperhead_route.py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e2f4bb5ca344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69fa7d3a774d41" /><Relationship Type="http://schemas.openxmlformats.org/officeDocument/2006/relationships/slideLayout" Target="/ppt/slideLayouts/slideLayout1.xml" Id="R71acb71d39024f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acb71d39024f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47a5fc25e0454cea"/><Relationship Type="http://schemas.openxmlformats.org/officeDocument/2006/relationships/image" Target="/ppt/media/image.png" Id="R8e86233882604cbc"/><Relationship Type="http://schemas.openxmlformats.org/officeDocument/2006/relationships/notesSlide" Target="/ppt/notesSlides/notesSlide1.xml" Id="Rc73041f6bc6d4a19"/></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2765e13fa0d94956"/><Relationship Type="http://schemas.openxmlformats.org/officeDocument/2006/relationships/notesSlide" Target="/ppt/notesSlides/notesSlide2.xml" Id="Rf10e46a87ff44357"/></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4484533fb23e4c20"/><Relationship Type="http://schemas.openxmlformats.org/officeDocument/2006/relationships/chart" Target="/ppt/slides/charts/chart1.xml" Id="R35def05145d74c0a"/><Relationship Type="http://schemas.openxmlformats.org/officeDocument/2006/relationships/notesSlide" Target="/ppt/notesSlides/notesSlide3.xml" Id="Ra0bf1d777b0441d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d9ed30e17f5f452b"/><Relationship Type="http://schemas.openxmlformats.org/officeDocument/2006/relationships/image" Target="/ppt/media/image2.png" Id="R92953a2ba1c14e77"/><Relationship Type="http://schemas.openxmlformats.org/officeDocument/2006/relationships/image" Target="/ppt/media/image3.png" Id="R2956246ced48442d"/><Relationship Type="http://schemas.openxmlformats.org/officeDocument/2006/relationships/notesSlide" Target="/ppt/notesSlides/notesSlide4.xml" Id="Rbe90cdaa6bd8438f"/></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ac446db30a944393"/><Relationship Type="http://schemas.openxmlformats.org/officeDocument/2006/relationships/notesSlide" Target="/ppt/notesSlides/notesSlide5.xml" Id="R5cf1ec2d87284a78"/><Relationship Id="rIdLink3" Type="http://schemas.openxmlformats.org/officeDocument/2006/relationships/hyperlink" Target="https://wandb.ai/philippe-fdesousa/copper-scar/runs/medium-stage2-continuation-20260913" TargetMode="External"/><Relationship Id="rIdLink4" Type="http://schemas.openxmlformats.org/officeDocument/2006/relationships/hyperlink" Target="https://wandb.ai/philippe-fdesousa/copper-scar/weave/calls/4ea50c71-2ab3-549f-8917-d32b321e2fa7" TargetMode="External"/></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4941ef6571894fd6"/><Relationship Type="http://schemas.openxmlformats.org/officeDocument/2006/relationships/notesSlide" Target="/ppt/notesSlides/notesSlide6.xml" Id="Ra70fee5ecebb452f"/><Relationship Id="rIdLink3" Type="http://schemas.openxmlformats.org/officeDocument/2006/relationships/hyperlink" Target="https://github.com/PhilippeFerreiraDeSousa/copper-scar/blob/main/docs/hackathon/README.md" TargetMode="External"/></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55c6ebc6246d41fa"/><Relationship Type="http://schemas.openxmlformats.org/officeDocument/2006/relationships/notesSlide" Target="/ppt/notesSlides/notesSlide7.xml" Id="Re03df90e04d140d7"/><Relationship Id="rIdLink3" Type="http://schemas.openxmlformats.org/officeDocument/2006/relationships/hyperlink" Target="https://github.com/PhilippeFerreiraDeSousa/copper-scar/tree/main/docs/hackathon/prompts" TargetMode="External"/></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76715799a2594195"/><Relationship Type="http://schemas.openxmlformats.org/officeDocument/2006/relationships/notesSlide" Target="/ppt/notesSlides/notesSlide8.xml" Id="R9bcb5b7098df4eff"/></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Best valid score</c:v>
          </c:tx>
          <c:spPr>
            <a:ln xmlns:a="http://schemas.openxmlformats.org/drawingml/2006/main" w="38100">
              <a:solidFill>
                <a:srgbClr val="8FE3BA"/>
              </a:solidFill>
            </a:ln>
          </c:spPr>
          <c:marker>
            <c:symbol val="none"/>
          </c:marker>
          <c:cat>
            <c:numRef>
              <c:f>'Chart Data'!$A$2:$A$27</c:f>
              <c:numCache>
                <c:formatCode>General</c:formatCode>
                <c:ptCount val="2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numCache>
            </c:numRef>
          </c:cat>
          <c:val>
            <c:numRef>
              <c:f>'Chart Data'!$B$2:$B$27</c:f>
              <c:numCache>
                <c:formatCode>#,##0</c:formatCode>
                <c:ptCount val="26"/>
                <c:pt idx="0">
                  <c:v>65288</c:v>
                </c:pt>
                <c:pt idx="1">
                  <c:v>65288</c:v>
                </c:pt>
                <c:pt idx="2">
                  <c:v>65288</c:v>
                </c:pt>
                <c:pt idx="3">
                  <c:v>59976.2</c:v>
                </c:pt>
                <c:pt idx="4">
                  <c:v>56499.28</c:v>
                </c:pt>
                <c:pt idx="5">
                  <c:v>56499.28</c:v>
                </c:pt>
                <c:pt idx="6">
                  <c:v>56499.28</c:v>
                </c:pt>
                <c:pt idx="7">
                  <c:v>53666.8</c:v>
                </c:pt>
                <c:pt idx="8">
                  <c:v>49910.52</c:v>
                </c:pt>
                <c:pt idx="9">
                  <c:v>49910.52</c:v>
                </c:pt>
                <c:pt idx="10">
                  <c:v>45345.68</c:v>
                </c:pt>
                <c:pt idx="11">
                  <c:v>42663.72</c:v>
                </c:pt>
                <c:pt idx="12">
                  <c:v>40074.08</c:v>
                </c:pt>
                <c:pt idx="13">
                  <c:v>40074.08</c:v>
                </c:pt>
                <c:pt idx="14">
                  <c:v>40074.08</c:v>
                </c:pt>
                <c:pt idx="15">
                  <c:v>40074.08</c:v>
                </c:pt>
                <c:pt idx="16">
                  <c:v>40074.08</c:v>
                </c:pt>
                <c:pt idx="17">
                  <c:v>40074.08</c:v>
                </c:pt>
                <c:pt idx="18">
                  <c:v>38347.92</c:v>
                </c:pt>
                <c:pt idx="19">
                  <c:v>38347.92</c:v>
                </c:pt>
                <c:pt idx="20">
                  <c:v>38347.92</c:v>
                </c:pt>
                <c:pt idx="21">
                  <c:v>38347.92</c:v>
                </c:pt>
                <c:pt idx="22">
                  <c:v>38347.92</c:v>
                </c:pt>
                <c:pt idx="23">
                  <c:v>36339.76</c:v>
                </c:pt>
                <c:pt idx="24">
                  <c:v>35365.44</c:v>
                </c:pt>
                <c:pt idx="25">
                  <c:v>35365.44</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Completed Stage 2 attempt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424D52"/>
            </a:solidFill>
          </a:ln>
        </c:spPr>
        <c:txPr>
          <a:bodyPr xmlns:a="http://schemas.openxmlformats.org/drawingml/2006/main" anchorCtr="1"/>
          <a:lstStyle xmlns:a="http://schemas.openxmlformats.org/drawingml/2006/main"/>
          <a:p xmlns:a="http://schemas.openxmlformats.org/drawingml/2006/main">
            <a:pPr>
              <a:defRPr sz="1425">
                <a:solidFill>
                  <a:srgbClr val="B4BDBF"/>
                </a:solidFill>
                <a:latin typeface="Helvetica Neue"/>
                <a:ea typeface="Helvetica Neue"/>
                <a:cs typeface="Helvetica Neue"/>
              </a:defRPr>
            </a:pPr>
          </a:p>
        </c:txPr>
        <c:crossAx val="48672768"/>
      </c:catAx>
      <c:valAx>
        <c:axId val="48672768"/>
        <c:scaling>
          <c:orientation val="minMax"/>
          <c:max val="70000"/>
          <c:min val="30000"/>
        </c:scaling>
        <c:delete val="0"/>
        <c:axPos val="l"/>
        <c:majorGridlines>
          <c:spPr>
            <a:ln xmlns:a="http://schemas.openxmlformats.org/drawingml/2006/main" w="9525">
              <a:solidFill>
                <a:srgbClr val="424D52"/>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B4BDBF"/>
                </a:solidFill>
                <a:latin typeface="Helvetica Neue"/>
                <a:ea typeface="Helvetica Neue"/>
                <a:cs typeface="Helvetica Neue"/>
              </a:defRPr>
            </a:pPr>
          </a:p>
        </c:txPr>
        <c:crossAx val="48650112"/>
        <c:crossBetween val="between"/>
        <c:majorUnit val="10000"/>
      </c:valAx>
      <c:spPr>
        <a:solidFill xmlns:a="http://schemas.openxmlformats.org/drawingml/2006/main">
          <a:srgbClr val="101417"/>
        </a:solidFill>
        <a:ln xmlns:a="http://schemas.openxmlformats.org/drawingml/2006/main" w="0">
          <a:noFill/>
        </a:ln>
      </c:spPr>
    </c:plotArea>
    <c:plotVisOnly val="1"/>
  </c:chart>
  <c:spPr>
    <a:solidFill xmlns:a="http://schemas.openxmlformats.org/drawingml/2006/main">
      <a:srgbClr val="101417"/>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DC3C3C71-CCB7-4354-9136-F10EE986F8FB}"/>
              </a:ext>
            </a:extLst>
          </p:cNvPr>
          <p:cNvSpPr>
            <a:spLocks xmlns:a="http://schemas.openxmlformats.org/drawingml/2006/main" noGrp="1"/>
          </p:cNvSpPr>
          <p:nvPr/>
        </p:nvSpPr>
        <p:spPr>
          <a:xfrm xmlns:a="http://schemas.openxmlformats.org/drawingml/2006/main">
            <a:off x="609600" y="1238250"/>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F6F3EA"/>
                </a:solidFill>
                <a:latin typeface="Helvetica Neue"/>
                <a:ea typeface="Helvetica Neue"/>
                <a:cs typeface="Helvetica Neue"/>
              </a:defRPr>
            </a:pPr>
            <a:r>
              <a:rPr sz="6150" b="1">
                <a:solidFill>
                  <a:srgbClr val="F6F3EA"/>
                </a:solidFill>
                <a:latin typeface="Helvetica Neue"/>
                <a:ea typeface="Helvetica Neue"/>
                <a:cs typeface="Helvetica Neue"/>
              </a:rPr>
              <a:t>PCB Loop</a:t>
            </a:r>
          </a:p>
        </p:txBody>
      </p:sp>
      <p:sp>
        <p:nvSpPr>
          <p:cNvPr id="2" name="text-2">
            <a:extLst xmlns:a="http://schemas.openxmlformats.org/drawingml/2006/main">
              <a:ext uri="{FF2B5EF4-FFF2-40B4-BE49-F238E27FC236}">
                <a16:creationId xmlns:a16="http://schemas.microsoft.com/office/drawing/2014/main" id="{DDE76766-6214-49CE-8FEE-13B26150A4D4}"/>
              </a:ext>
            </a:extLst>
          </p:cNvPr>
          <p:cNvSpPr>
            <a:spLocks xmlns:a="http://schemas.openxmlformats.org/drawingml/2006/main" noGrp="1"/>
          </p:cNvSpPr>
          <p:nvPr/>
        </p:nvSpPr>
        <p:spPr>
          <a:xfrm xmlns:a="http://schemas.openxmlformats.org/drawingml/2006/main">
            <a:off x="647700" y="2457450"/>
            <a:ext cx="5095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EDA96E"/>
                </a:solidFill>
                <a:latin typeface="Helvetica Neue"/>
                <a:ea typeface="Helvetica Neue"/>
                <a:cs typeface="Helvetica Neue"/>
              </a:defRPr>
            </a:pPr>
            <a:r>
              <a:rPr sz="3225" b="0">
                <a:solidFill>
                  <a:srgbClr val="EDA96E"/>
                </a:solidFill>
                <a:latin typeface="Helvetica Neue"/>
                <a:ea typeface="Helvetica Neue"/>
                <a:cs typeface="Helvetica Neue"/>
              </a:rPr>
              <a:t>AI-guided PCB</a:t>
            </a:r>
          </a:p>
          <a:p xmlns:a="http://schemas.openxmlformats.org/drawingml/2006/main">
            <a:pPr>
              <a:defRPr sz="3225" b="0">
                <a:solidFill>
                  <a:srgbClr val="EDA96E"/>
                </a:solidFill>
                <a:latin typeface="Helvetica Neue"/>
                <a:ea typeface="Helvetica Neue"/>
                <a:cs typeface="Helvetica Neue"/>
              </a:defRPr>
            </a:pPr>
            <a:r>
              <a:rPr sz="3225" b="0">
                <a:solidFill>
                  <a:srgbClr val="EDA96E"/>
                </a:solidFill>
                <a:latin typeface="Helvetica Neue"/>
                <a:ea typeface="Helvetica Neue"/>
                <a:cs typeface="Helvetica Neue"/>
              </a:rPr>
              <a:t>placement optimization</a:t>
            </a:r>
          </a:p>
        </p:txBody>
      </p:sp>
      <p:sp>
        <p:nvSpPr>
          <p:cNvPr id="3" name="text-3">
            <a:extLst xmlns:a="http://schemas.openxmlformats.org/drawingml/2006/main">
              <a:ext uri="{FF2B5EF4-FFF2-40B4-BE49-F238E27FC236}">
                <a16:creationId xmlns:a16="http://schemas.microsoft.com/office/drawing/2014/main" id="{C1814F72-745C-41C6-9213-5B94F79BF6F5}"/>
              </a:ext>
            </a:extLst>
          </p:cNvPr>
          <p:cNvSpPr>
            <a:spLocks xmlns:a="http://schemas.openxmlformats.org/drawingml/2006/main" noGrp="1"/>
          </p:cNvSpPr>
          <p:nvPr/>
        </p:nvSpPr>
        <p:spPr>
          <a:xfrm xmlns:a="http://schemas.openxmlformats.org/drawingml/2006/main">
            <a:off x="647700" y="500062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3EA"/>
                </a:solidFill>
                <a:latin typeface="Helvetica Neue"/>
                <a:ea typeface="Helvetica Neue"/>
                <a:cs typeface="Helvetica Neue"/>
              </a:defRPr>
            </a:pPr>
            <a:r>
              <a:rPr sz="2025" b="0">
                <a:solidFill>
                  <a:srgbClr val="F6F3EA"/>
                </a:solidFill>
                <a:latin typeface="Helvetica Neue"/>
                <a:ea typeface="Helvetica Neue"/>
                <a:cs typeface="Helvetica Neue"/>
              </a:rPr>
              <a:t>Philippe Ferreira De Sousa</a:t>
            </a:r>
          </a:p>
        </p:txBody>
      </p:sp>
      <p:sp>
        <p:nvSpPr>
          <p:cNvPr id="4" name="text-4">
            <a:extLst xmlns:a="http://schemas.openxmlformats.org/drawingml/2006/main">
              <a:ext uri="{FF2B5EF4-FFF2-40B4-BE49-F238E27FC236}">
                <a16:creationId xmlns:a16="http://schemas.microsoft.com/office/drawing/2014/main" id="{8139C63E-2540-4EC4-B9A1-E0264DF205B7}"/>
              </a:ext>
            </a:extLst>
          </p:cNvPr>
          <p:cNvSpPr>
            <a:spLocks xmlns:a="http://schemas.openxmlformats.org/drawingml/2006/main" noGrp="1"/>
          </p:cNvSpPr>
          <p:nvPr/>
        </p:nvSpPr>
        <p:spPr>
          <a:xfrm xmlns:a="http://schemas.openxmlformats.org/drawingml/2006/main">
            <a:off x="647700" y="5467350"/>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4BDBF"/>
                </a:solidFill>
                <a:latin typeface="Helvetica Neue"/>
                <a:ea typeface="Helvetica Neue"/>
                <a:cs typeface="Helvetica Neue"/>
              </a:defRPr>
            </a:pPr>
            <a:r>
              <a:rPr sz="1800" b="0">
                <a:solidFill>
                  <a:srgbClr val="B4BDBF"/>
                </a:solidFill>
                <a:latin typeface="Helvetica Neue"/>
                <a:ea typeface="Helvetica Neue"/>
                <a:cs typeface="Helvetica Neue"/>
              </a:rPr>
              <a:t>CoreWeave Hackathon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e86233882604cbc"/>
          <a:stretch xmlns:a="http://schemas.openxmlformats.org/drawingml/2006/main"/>
        </p:blipFill>
        <p:spPr>
          <a:xfrm xmlns:a="http://schemas.openxmlformats.org/drawingml/2006/main">
            <a:off x="6334125" y="900453"/>
            <a:ext cx="5238750" cy="4961845"/>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C8C37F94-53B0-4BE4-A448-3492703ACB71}"/>
              </a:ext>
            </a:extLst>
          </p:cNvPr>
          <p:cNvSpPr>
            <a:spLocks xmlns:a="http://schemas.openxmlformats.org/drawingml/2006/main" noGrp="1"/>
          </p:cNvSpPr>
          <p:nvPr/>
        </p:nvSpPr>
        <p:spPr>
          <a:xfrm xmlns:a="http://schemas.openxmlformats.org/drawingml/2006/main">
            <a:off x="6762750" y="62293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4BDBF"/>
                </a:solidFill>
                <a:latin typeface="Helvetica Neue"/>
                <a:ea typeface="Helvetica Neue"/>
                <a:cs typeface="Helvetica Neue"/>
              </a:defRPr>
            </a:pPr>
            <a:r>
              <a:rPr sz="1575" b="0">
                <a:solidFill>
                  <a:srgbClr val="B4BDBF"/>
                </a:solidFill>
                <a:latin typeface="Helvetica Neue"/>
                <a:ea typeface="Helvetica Neue"/>
                <a:cs typeface="Helvetica Neue"/>
              </a:rPr>
              <a:t>Recorded Medium candidate</a:t>
            </a:r>
          </a:p>
        </p:txBody>
      </p:sp>
    </p:spTree>
    <p:extLst>
      <p:ext uri="{BB962C8B-B14F-4D97-AF65-F5344CB8AC3E}">
        <p14:creationId xmlns:p14="http://schemas.microsoft.com/office/powerpoint/2010/main" val="317765803"/>
      </p:ext>
    </p:extLst>
  </p:cSld>
</p:sld>
</file>

<file path=ppt/slides/slide2.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25" name="text-6">
            <a:extLst xmlns:a="http://schemas.openxmlformats.org/drawingml/2006/main">
              <a:ext uri="{FF2B5EF4-FFF2-40B4-BE49-F238E27FC236}">
                <a16:creationId xmlns:a16="http://schemas.microsoft.com/office/drawing/2014/main" id="{F292B565-4232-4E39-9B9C-6A448DC1E2CF}"/>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Placement and routing loop</a:t>
            </a:r>
          </a:p>
        </p:txBody>
      </p:sp>
      <p:sp>
        <p:nvSpPr>
          <p:cNvPr id="2" name="text-7">
            <a:extLst xmlns:a="http://schemas.openxmlformats.org/drawingml/2006/main">
              <a:ext uri="{FF2B5EF4-FFF2-40B4-BE49-F238E27FC236}">
                <a16:creationId xmlns:a16="http://schemas.microsoft.com/office/drawing/2014/main" id="{F699810A-5D5C-4188-8454-73D14595687F}"/>
              </a:ext>
            </a:extLst>
          </p:cNvPr>
          <p:cNvSpPr>
            <a:spLocks xmlns:a="http://schemas.openxmlformats.org/drawingml/2006/main" noGrp="1"/>
          </p:cNvSpPr>
          <p:nvPr/>
        </p:nvSpPr>
        <p:spPr>
          <a:xfrm xmlns:a="http://schemas.openxmlformats.org/drawingml/2006/main">
            <a:off x="609600" y="14097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EDA96E"/>
                </a:solidFill>
                <a:latin typeface="Helvetica Neue"/>
                <a:ea typeface="Helvetica Neue"/>
                <a:cs typeface="Helvetica Neue"/>
              </a:defRPr>
            </a:pPr>
            <a:r>
              <a:rPr sz="2325" b="1">
                <a:solidFill>
                  <a:srgbClr val="EDA96E"/>
                </a:solidFill>
                <a:latin typeface="Helvetica Neue"/>
                <a:ea typeface="Helvetica Neue"/>
                <a:cs typeface="Helvetica Neue"/>
              </a:rPr>
              <a:t>Stage 1: reach validity</a:t>
            </a:r>
          </a:p>
        </p:txBody>
      </p:sp>
      <p:sp>
        <p:nvSpPr>
          <p:cNvPr id="3" name="text-8">
            <a:extLst xmlns:a="http://schemas.openxmlformats.org/drawingml/2006/main">
              <a:ext uri="{FF2B5EF4-FFF2-40B4-BE49-F238E27FC236}">
                <a16:creationId xmlns:a16="http://schemas.microsoft.com/office/drawing/2014/main" id="{7F04B022-C79B-4DD0-B7AD-2A8D744FCB38}"/>
              </a:ext>
            </a:extLst>
          </p:cNvPr>
          <p:cNvSpPr>
            <a:spLocks xmlns:a="http://schemas.openxmlformats.org/drawingml/2006/main" noGrp="1"/>
          </p:cNvSpPr>
          <p:nvPr/>
        </p:nvSpPr>
        <p:spPr>
          <a:xfrm xmlns:a="http://schemas.openxmlformats.org/drawingml/2006/main">
            <a:off x="6572250" y="14097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8FE3BA"/>
                </a:solidFill>
                <a:latin typeface="Helvetica Neue"/>
                <a:ea typeface="Helvetica Neue"/>
                <a:cs typeface="Helvetica Neue"/>
              </a:defRPr>
            </a:pPr>
            <a:r>
              <a:rPr sz="2325" b="1">
                <a:solidFill>
                  <a:srgbClr val="8FE3BA"/>
                </a:solidFill>
                <a:latin typeface="Helvetica Neue"/>
                <a:ea typeface="Helvetica Neue"/>
                <a:cs typeface="Helvetica Neue"/>
              </a:rPr>
              <a:t>Stage 2: lower the score</a:t>
            </a:r>
          </a:p>
        </p:txBody>
      </p:sp>
      <p:sp>
        <p:nvSpPr>
          <p:cNvPr id="4" name="text-9">
            <a:extLst xmlns:a="http://schemas.openxmlformats.org/drawingml/2006/main">
              <a:ext uri="{FF2B5EF4-FFF2-40B4-BE49-F238E27FC236}">
                <a16:creationId xmlns:a16="http://schemas.microsoft.com/office/drawing/2014/main" id="{4A529569-13A9-4AAD-A61A-422DFA28B179}"/>
              </a:ext>
            </a:extLst>
          </p:cNvPr>
          <p:cNvSpPr>
            <a:spLocks xmlns:a="http://schemas.openxmlformats.org/drawingml/2006/main" noGrp="1"/>
          </p:cNvSpPr>
          <p:nvPr/>
        </p:nvSpPr>
        <p:spPr>
          <a:xfrm xmlns:a="http://schemas.openxmlformats.org/drawingml/2006/main">
            <a:off x="609600" y="20193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4BDBF"/>
                </a:solidFill>
                <a:latin typeface="Helvetica Neue"/>
                <a:ea typeface="Helvetica Neue"/>
                <a:cs typeface="Helvetica Neue"/>
              </a:defRPr>
            </a:pPr>
            <a:r>
              <a:rPr sz="2100" b="0">
                <a:solidFill>
                  <a:srgbClr val="B4BDBF"/>
                </a:solidFill>
                <a:latin typeface="Helvetica Neue"/>
                <a:ea typeface="Helvetica Neue"/>
                <a:cs typeface="Helvetica Neue"/>
              </a:rPr>
              <a:t>Preserve the circuit and manufacturing constraints</a:t>
            </a:r>
          </a:p>
        </p:txBody>
      </p:sp>
      <p:sp>
        <p:nvSpPr>
          <p:cNvPr id="5" name="pipeline-0">
            <a:extLst xmlns:a="http://schemas.openxmlformats.org/drawingml/2006/main">
              <a:ext uri="{FF2B5EF4-FFF2-40B4-BE49-F238E27FC236}">
                <a16:creationId xmlns:a16="http://schemas.microsoft.com/office/drawing/2014/main" id="{D221FA4D-03A1-4F2F-AC29-63A6D98307F0}"/>
              </a:ext>
            </a:extLst>
          </p:cNvPr>
          <p:cNvSpPr>
            <a:spLocks xmlns:a="http://schemas.openxmlformats.org/drawingml/2006/main" noGrp="1"/>
          </p:cNvSpPr>
          <p:nvPr/>
        </p:nvSpPr>
        <p:spPr>
          <a:xfrm xmlns:a="http://schemas.openxmlformats.org/drawingml/2006/main">
            <a:off x="609600" y="3028950"/>
            <a:ext cx="2333625" cy="1066800"/>
          </a:xfrm>
          <a:prstGeom xmlns:a="http://schemas.openxmlformats.org/drawingml/2006/main" prst="rect">
            <a:avLst/>
          </a:prstGeom>
          <a:noFill xmlns:a="http://schemas.openxmlformats.org/drawingml/2006/main"/>
          <a:ln xmlns:a="http://schemas.openxmlformats.org/drawingml/2006/main" w="19050">
            <a:solidFill>
              <a:srgbClr val="EDA96E"/>
            </a:solidFill>
          </a:ln>
        </p:spPr>
      </p:sp>
      <p:sp>
        <p:nvSpPr>
          <p:cNvPr id="6" name="text-10">
            <a:extLst xmlns:a="http://schemas.openxmlformats.org/drawingml/2006/main">
              <a:ext uri="{FF2B5EF4-FFF2-40B4-BE49-F238E27FC236}">
                <a16:creationId xmlns:a16="http://schemas.microsoft.com/office/drawing/2014/main" id="{82F5DACC-7CB8-4518-8D97-3B1BE72AE83F}"/>
              </a:ext>
            </a:extLst>
          </p:cNvPr>
          <p:cNvSpPr>
            <a:spLocks xmlns:a="http://schemas.openxmlformats.org/drawingml/2006/main" noGrp="1"/>
          </p:cNvSpPr>
          <p:nvPr/>
        </p:nvSpPr>
        <p:spPr>
          <a:xfrm xmlns:a="http://schemas.openxmlformats.org/drawingml/2006/main">
            <a:off x="781050" y="3143250"/>
            <a:ext cx="2038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EDA96E"/>
                </a:solidFill>
                <a:latin typeface="Helvetica Neue"/>
                <a:ea typeface="Helvetica Neue"/>
                <a:cs typeface="Helvetica Neue"/>
              </a:defRPr>
            </a:pPr>
            <a:r>
              <a:rPr sz="2400" b="1">
                <a:solidFill>
                  <a:srgbClr val="EDA96E"/>
                </a:solidFill>
                <a:latin typeface="Helvetica Neue"/>
                <a:ea typeface="Helvetica Neue"/>
                <a:cs typeface="Helvetica Neue"/>
              </a:rPr>
              <a:t>Codex task</a:t>
            </a:r>
          </a:p>
        </p:txBody>
      </p:sp>
      <p:sp>
        <p:nvSpPr>
          <p:cNvPr id="7" name="text-11">
            <a:extLst xmlns:a="http://schemas.openxmlformats.org/drawingml/2006/main">
              <a:ext uri="{FF2B5EF4-FFF2-40B4-BE49-F238E27FC236}">
                <a16:creationId xmlns:a16="http://schemas.microsoft.com/office/drawing/2014/main" id="{5C5DF45C-AF46-42DC-8D0B-6B0CD8EC4CC0}"/>
              </a:ext>
            </a:extLst>
          </p:cNvPr>
          <p:cNvSpPr>
            <a:spLocks xmlns:a="http://schemas.openxmlformats.org/drawingml/2006/main" noGrp="1"/>
          </p:cNvSpPr>
          <p:nvPr/>
        </p:nvSpPr>
        <p:spPr>
          <a:xfrm xmlns:a="http://schemas.openxmlformats.org/drawingml/2006/main">
            <a:off x="781050" y="36195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4BDBF"/>
                </a:solidFill>
                <a:latin typeface="Helvetica Neue"/>
                <a:ea typeface="Helvetica Neue"/>
                <a:cs typeface="Helvetica Neue"/>
              </a:defRPr>
            </a:pPr>
            <a:r>
              <a:rPr sz="1650" b="0">
                <a:solidFill>
                  <a:srgbClr val="B4BDBF"/>
                </a:solidFill>
                <a:latin typeface="Helvetica Neue"/>
                <a:ea typeface="Helvetica Neue"/>
                <a:cs typeface="Helvetica Neue"/>
              </a:rPr>
              <a:t>Selects experiment</a:t>
            </a:r>
          </a:p>
        </p:txBody>
      </p:sp>
      <p:sp>
        <p:nvSpPr>
          <p:cNvPr id="8" name="pipeline-1">
            <a:extLst xmlns:a="http://schemas.openxmlformats.org/drawingml/2006/main">
              <a:ext uri="{FF2B5EF4-FFF2-40B4-BE49-F238E27FC236}">
                <a16:creationId xmlns:a16="http://schemas.microsoft.com/office/drawing/2014/main" id="{3B827B19-D743-4A73-8978-FF315AC75D11}"/>
              </a:ext>
            </a:extLst>
          </p:cNvPr>
          <p:cNvSpPr>
            <a:spLocks xmlns:a="http://schemas.openxmlformats.org/drawingml/2006/main" noGrp="1"/>
          </p:cNvSpPr>
          <p:nvPr/>
        </p:nvSpPr>
        <p:spPr>
          <a:xfrm xmlns:a="http://schemas.openxmlformats.org/drawingml/2006/main">
            <a:off x="3486150" y="3028950"/>
            <a:ext cx="2333625" cy="1066800"/>
          </a:xfrm>
          <a:prstGeom xmlns:a="http://schemas.openxmlformats.org/drawingml/2006/main" prst="rect">
            <a:avLst/>
          </a:prstGeom>
          <a:noFill xmlns:a="http://schemas.openxmlformats.org/drawingml/2006/main"/>
          <a:ln xmlns:a="http://schemas.openxmlformats.org/drawingml/2006/main" w="19050">
            <a:solidFill>
              <a:srgbClr val="424D52"/>
            </a:solidFill>
          </a:ln>
        </p:spPr>
      </p:sp>
      <p:sp>
        <p:nvSpPr>
          <p:cNvPr id="9" name="text-12">
            <a:extLst xmlns:a="http://schemas.openxmlformats.org/drawingml/2006/main">
              <a:ext uri="{FF2B5EF4-FFF2-40B4-BE49-F238E27FC236}">
                <a16:creationId xmlns:a16="http://schemas.microsoft.com/office/drawing/2014/main" id="{F7179402-3DD2-4DD2-9AF2-A93C1EC85F35}"/>
              </a:ext>
            </a:extLst>
          </p:cNvPr>
          <p:cNvSpPr>
            <a:spLocks xmlns:a="http://schemas.openxmlformats.org/drawingml/2006/main" noGrp="1"/>
          </p:cNvSpPr>
          <p:nvPr/>
        </p:nvSpPr>
        <p:spPr>
          <a:xfrm xmlns:a="http://schemas.openxmlformats.org/drawingml/2006/main">
            <a:off x="3657600" y="3143250"/>
            <a:ext cx="2038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3EA"/>
                </a:solidFill>
                <a:latin typeface="Helvetica Neue"/>
                <a:ea typeface="Helvetica Neue"/>
                <a:cs typeface="Helvetica Neue"/>
              </a:defRPr>
            </a:pPr>
            <a:r>
              <a:rPr sz="2400" b="1">
                <a:solidFill>
                  <a:srgbClr val="F6F3EA"/>
                </a:solidFill>
                <a:latin typeface="Helvetica Neue"/>
                <a:ea typeface="Helvetica Neue"/>
                <a:cs typeface="Helvetica Neue"/>
              </a:rPr>
              <a:t>Python</a:t>
            </a:r>
          </a:p>
        </p:txBody>
      </p:sp>
      <p:sp>
        <p:nvSpPr>
          <p:cNvPr id="10" name="text-13">
            <a:extLst xmlns:a="http://schemas.openxmlformats.org/drawingml/2006/main">
              <a:ext uri="{FF2B5EF4-FFF2-40B4-BE49-F238E27FC236}">
                <a16:creationId xmlns:a16="http://schemas.microsoft.com/office/drawing/2014/main" id="{D6DEA9BE-E99C-4B52-BB40-392B4EF05585}"/>
              </a:ext>
            </a:extLst>
          </p:cNvPr>
          <p:cNvSpPr>
            <a:spLocks xmlns:a="http://schemas.openxmlformats.org/drawingml/2006/main" noGrp="1"/>
          </p:cNvSpPr>
          <p:nvPr/>
        </p:nvSpPr>
        <p:spPr>
          <a:xfrm xmlns:a="http://schemas.openxmlformats.org/drawingml/2006/main">
            <a:off x="3657600" y="36195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4BDBF"/>
                </a:solidFill>
                <a:latin typeface="Helvetica Neue"/>
                <a:ea typeface="Helvetica Neue"/>
                <a:cs typeface="Helvetica Neue"/>
              </a:defRPr>
            </a:pPr>
            <a:r>
              <a:rPr sz="1650" b="0">
                <a:solidFill>
                  <a:srgbClr val="B4BDBF"/>
                </a:solidFill>
                <a:latin typeface="Helvetica Neue"/>
                <a:ea typeface="Helvetica Neue"/>
                <a:cs typeface="Helvetica Neue"/>
              </a:rPr>
              <a:t>Creates a candidate</a:t>
            </a:r>
          </a:p>
        </p:txBody>
      </p:sp>
      <p:sp>
        <p:nvSpPr>
          <p:cNvPr id="11" name="pipeline-2">
            <a:extLst xmlns:a="http://schemas.openxmlformats.org/drawingml/2006/main">
              <a:ext uri="{FF2B5EF4-FFF2-40B4-BE49-F238E27FC236}">
                <a16:creationId xmlns:a16="http://schemas.microsoft.com/office/drawing/2014/main" id="{04CCEEEF-33F9-4118-8958-16C09F5614F1}"/>
              </a:ext>
            </a:extLst>
          </p:cNvPr>
          <p:cNvSpPr>
            <a:spLocks xmlns:a="http://schemas.openxmlformats.org/drawingml/2006/main" noGrp="1"/>
          </p:cNvSpPr>
          <p:nvPr/>
        </p:nvSpPr>
        <p:spPr>
          <a:xfrm xmlns:a="http://schemas.openxmlformats.org/drawingml/2006/main">
            <a:off x="6362700" y="3028950"/>
            <a:ext cx="2333625" cy="1066800"/>
          </a:xfrm>
          <a:prstGeom xmlns:a="http://schemas.openxmlformats.org/drawingml/2006/main" prst="rect">
            <a:avLst/>
          </a:prstGeom>
          <a:noFill xmlns:a="http://schemas.openxmlformats.org/drawingml/2006/main"/>
          <a:ln xmlns:a="http://schemas.openxmlformats.org/drawingml/2006/main" w="19050">
            <a:solidFill>
              <a:srgbClr val="424D52"/>
            </a:solidFill>
          </a:ln>
        </p:spPr>
      </p:sp>
      <p:sp>
        <p:nvSpPr>
          <p:cNvPr id="12" name="text-14">
            <a:extLst xmlns:a="http://schemas.openxmlformats.org/drawingml/2006/main">
              <a:ext uri="{FF2B5EF4-FFF2-40B4-BE49-F238E27FC236}">
                <a16:creationId xmlns:a16="http://schemas.microsoft.com/office/drawing/2014/main" id="{C96C6A81-E11A-4CEF-A5B4-F8F09255ADFC}"/>
              </a:ext>
            </a:extLst>
          </p:cNvPr>
          <p:cNvSpPr>
            <a:spLocks xmlns:a="http://schemas.openxmlformats.org/drawingml/2006/main" noGrp="1"/>
          </p:cNvSpPr>
          <p:nvPr/>
        </p:nvSpPr>
        <p:spPr>
          <a:xfrm xmlns:a="http://schemas.openxmlformats.org/drawingml/2006/main">
            <a:off x="6534150" y="3143250"/>
            <a:ext cx="2038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3EA"/>
                </a:solidFill>
                <a:latin typeface="Helvetica Neue"/>
                <a:ea typeface="Helvetica Neue"/>
                <a:cs typeface="Helvetica Neue"/>
              </a:defRPr>
            </a:pPr>
            <a:r>
              <a:rPr sz="2400" b="1">
                <a:solidFill>
                  <a:srgbClr val="F6F3EA"/>
                </a:solidFill>
                <a:latin typeface="Helvetica Neue"/>
                <a:ea typeface="Helvetica Neue"/>
                <a:cs typeface="Helvetica Neue"/>
              </a:rPr>
              <a:t>Freerouting</a:t>
            </a:r>
          </a:p>
        </p:txBody>
      </p:sp>
      <p:sp>
        <p:nvSpPr>
          <p:cNvPr id="13" name="text-15">
            <a:extLst xmlns:a="http://schemas.openxmlformats.org/drawingml/2006/main">
              <a:ext uri="{FF2B5EF4-FFF2-40B4-BE49-F238E27FC236}">
                <a16:creationId xmlns:a16="http://schemas.microsoft.com/office/drawing/2014/main" id="{4C341B0C-75B2-40D6-928F-5CA9ED304793}"/>
              </a:ext>
            </a:extLst>
          </p:cNvPr>
          <p:cNvSpPr>
            <a:spLocks xmlns:a="http://schemas.openxmlformats.org/drawingml/2006/main" noGrp="1"/>
          </p:cNvSpPr>
          <p:nvPr/>
        </p:nvSpPr>
        <p:spPr>
          <a:xfrm xmlns:a="http://schemas.openxmlformats.org/drawingml/2006/main">
            <a:off x="6534150" y="36195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4BDBF"/>
                </a:solidFill>
                <a:latin typeface="Helvetica Neue"/>
                <a:ea typeface="Helvetica Neue"/>
                <a:cs typeface="Helvetica Neue"/>
              </a:defRPr>
            </a:pPr>
            <a:r>
              <a:rPr sz="1650" b="0">
                <a:solidFill>
                  <a:srgbClr val="B4BDBF"/>
                </a:solidFill>
                <a:latin typeface="Helvetica Neue"/>
                <a:ea typeface="Helvetica Neue"/>
                <a:cs typeface="Helvetica Neue"/>
              </a:rPr>
              <a:t>Traces and vias</a:t>
            </a:r>
          </a:p>
        </p:txBody>
      </p:sp>
      <p:sp>
        <p:nvSpPr>
          <p:cNvPr id="14" name="pipeline-3">
            <a:extLst xmlns:a="http://schemas.openxmlformats.org/drawingml/2006/main">
              <a:ext uri="{FF2B5EF4-FFF2-40B4-BE49-F238E27FC236}">
                <a16:creationId xmlns:a16="http://schemas.microsoft.com/office/drawing/2014/main" id="{ADC2D862-AFDB-42D0-AD36-C8B6CB836C1E}"/>
              </a:ext>
            </a:extLst>
          </p:cNvPr>
          <p:cNvSpPr>
            <a:spLocks xmlns:a="http://schemas.openxmlformats.org/drawingml/2006/main" noGrp="1"/>
          </p:cNvSpPr>
          <p:nvPr/>
        </p:nvSpPr>
        <p:spPr>
          <a:xfrm xmlns:a="http://schemas.openxmlformats.org/drawingml/2006/main">
            <a:off x="9239250" y="3028950"/>
            <a:ext cx="2333625" cy="1066800"/>
          </a:xfrm>
          <a:prstGeom xmlns:a="http://schemas.openxmlformats.org/drawingml/2006/main" prst="rect">
            <a:avLst/>
          </a:prstGeom>
          <a:noFill xmlns:a="http://schemas.openxmlformats.org/drawingml/2006/main"/>
          <a:ln xmlns:a="http://schemas.openxmlformats.org/drawingml/2006/main" w="19050">
            <a:solidFill>
              <a:srgbClr val="424D52"/>
            </a:solidFill>
          </a:ln>
        </p:spPr>
      </p:sp>
      <p:sp>
        <p:nvSpPr>
          <p:cNvPr id="15" name="text-16">
            <a:extLst xmlns:a="http://schemas.openxmlformats.org/drawingml/2006/main">
              <a:ext uri="{FF2B5EF4-FFF2-40B4-BE49-F238E27FC236}">
                <a16:creationId xmlns:a16="http://schemas.microsoft.com/office/drawing/2014/main" id="{5DEB3C9E-BF44-46D9-B4F1-C06BBAE7D685}"/>
              </a:ext>
            </a:extLst>
          </p:cNvPr>
          <p:cNvSpPr>
            <a:spLocks xmlns:a="http://schemas.openxmlformats.org/drawingml/2006/main" noGrp="1"/>
          </p:cNvSpPr>
          <p:nvPr/>
        </p:nvSpPr>
        <p:spPr>
          <a:xfrm xmlns:a="http://schemas.openxmlformats.org/drawingml/2006/main">
            <a:off x="9410700" y="3143250"/>
            <a:ext cx="2038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3EA"/>
                </a:solidFill>
                <a:latin typeface="Helvetica Neue"/>
                <a:ea typeface="Helvetica Neue"/>
                <a:cs typeface="Helvetica Neue"/>
              </a:defRPr>
            </a:pPr>
            <a:r>
              <a:rPr sz="2400" b="1">
                <a:solidFill>
                  <a:srgbClr val="F6F3EA"/>
                </a:solidFill>
                <a:latin typeface="Helvetica Neue"/>
                <a:ea typeface="Helvetica Neue"/>
                <a:cs typeface="Helvetica Neue"/>
              </a:rPr>
              <a:t>KiCad</a:t>
            </a:r>
          </a:p>
        </p:txBody>
      </p:sp>
      <p:sp>
        <p:nvSpPr>
          <p:cNvPr id="16" name="text-17">
            <a:extLst xmlns:a="http://schemas.openxmlformats.org/drawingml/2006/main">
              <a:ext uri="{FF2B5EF4-FFF2-40B4-BE49-F238E27FC236}">
                <a16:creationId xmlns:a16="http://schemas.microsoft.com/office/drawing/2014/main" id="{98303980-0C23-4693-8533-685E42222919}"/>
              </a:ext>
            </a:extLst>
          </p:cNvPr>
          <p:cNvSpPr>
            <a:spLocks xmlns:a="http://schemas.openxmlformats.org/drawingml/2006/main" noGrp="1"/>
          </p:cNvSpPr>
          <p:nvPr/>
        </p:nvSpPr>
        <p:spPr>
          <a:xfrm xmlns:a="http://schemas.openxmlformats.org/drawingml/2006/main">
            <a:off x="9410700" y="36195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4BDBF"/>
                </a:solidFill>
                <a:latin typeface="Helvetica Neue"/>
                <a:ea typeface="Helvetica Neue"/>
                <a:cs typeface="Helvetica Neue"/>
              </a:defRPr>
            </a:pPr>
            <a:r>
              <a:rPr sz="1650" b="0">
                <a:solidFill>
                  <a:srgbClr val="B4BDBF"/>
                </a:solidFill>
                <a:latin typeface="Helvetica Neue"/>
                <a:ea typeface="Helvetica Neue"/>
                <a:cs typeface="Helvetica Neue"/>
              </a:rPr>
              <a:t>Checks and scores</a:t>
            </a:r>
          </a:p>
        </p:txBody>
      </p:sp>
      <p:cxnSp>
        <p:nvCxnSpPr>
          <p:cNvPr id="41" name=""/>
          <p:cNvCxnSpPr>
            <a:stCxn xmlns:a="http://schemas.openxmlformats.org/drawingml/2006/main" id="5" idx="3"/>
            <a:endCxn xmlns:a="http://schemas.openxmlformats.org/drawingml/2006/main" id="8" idx="1"/>
          </p:cNvCxnSpPr>
          <p:nvPr/>
        </p:nvCxnSpPr>
        <p:spPr>
          <a:xfrm xmlns:a="http://schemas.openxmlformats.org/drawingml/2006/main">
            <a:off x="2943225" y="3562350"/>
            <a:ext cx="542925" cy="0"/>
          </a:xfrm>
          <a:prstGeom xmlns:a="http://schemas.openxmlformats.org/drawingml/2006/main" prst="straightConnector1">
            <a:avLst/>
          </a:prstGeom>
          <a:ln xmlns:a="http://schemas.openxmlformats.org/drawingml/2006/main" w="19050">
            <a:solidFill>
              <a:srgbClr val="B4BDBF"/>
            </a:solidFill>
            <a:tailEnd type="triangle" w="med" len="med"/>
          </a:ln>
        </p:spPr>
      </p:cxnSp>
      <p:cxnSp>
        <p:nvCxnSpPr>
          <p:cNvPr id="42" name=""/>
          <p:cNvCxnSpPr>
            <a:stCxn xmlns:a="http://schemas.openxmlformats.org/drawingml/2006/main" id="8" idx="3"/>
            <a:endCxn xmlns:a="http://schemas.openxmlformats.org/drawingml/2006/main" id="11" idx="1"/>
          </p:cNvCxnSpPr>
          <p:nvPr/>
        </p:nvCxnSpPr>
        <p:spPr>
          <a:xfrm xmlns:a="http://schemas.openxmlformats.org/drawingml/2006/main">
            <a:off x="5819775" y="3562350"/>
            <a:ext cx="542925" cy="0"/>
          </a:xfrm>
          <a:prstGeom xmlns:a="http://schemas.openxmlformats.org/drawingml/2006/main" prst="straightConnector1">
            <a:avLst/>
          </a:prstGeom>
          <a:ln xmlns:a="http://schemas.openxmlformats.org/drawingml/2006/main" w="19050">
            <a:solidFill>
              <a:srgbClr val="B4BDBF"/>
            </a:solidFill>
            <a:tailEnd type="triangle" w="med" len="med"/>
          </a:ln>
        </p:spPr>
      </p:cxnSp>
      <p:cxnSp>
        <p:nvCxnSpPr>
          <p:cNvPr id="43" name=""/>
          <p:cNvCxnSpPr>
            <a:stCxn xmlns:a="http://schemas.openxmlformats.org/drawingml/2006/main" id="11" idx="3"/>
            <a:endCxn xmlns:a="http://schemas.openxmlformats.org/drawingml/2006/main" id="14" idx="1"/>
          </p:cNvCxnSpPr>
          <p:nvPr/>
        </p:nvCxnSpPr>
        <p:spPr>
          <a:xfrm xmlns:a="http://schemas.openxmlformats.org/drawingml/2006/main">
            <a:off x="8696325" y="3562350"/>
            <a:ext cx="542925" cy="0"/>
          </a:xfrm>
          <a:prstGeom xmlns:a="http://schemas.openxmlformats.org/drawingml/2006/main" prst="straightConnector1">
            <a:avLst/>
          </a:prstGeom>
          <a:ln xmlns:a="http://schemas.openxmlformats.org/drawingml/2006/main" w="19050">
            <a:solidFill>
              <a:srgbClr val="B4BDBF"/>
            </a:solidFill>
            <a:tailEnd type="triangle" w="med" len="med"/>
          </a:ln>
        </p:spPr>
      </p:cxnSp>
      <p:sp>
        <p:nvSpPr>
          <p:cNvPr id="20" name="feedback">
            <a:extLst xmlns:a="http://schemas.openxmlformats.org/drawingml/2006/main">
              <a:ext uri="{FF2B5EF4-FFF2-40B4-BE49-F238E27FC236}">
                <a16:creationId xmlns:a16="http://schemas.microsoft.com/office/drawing/2014/main" id="{CD4EE531-975C-419C-B9A1-D8FAF67BEB58}"/>
              </a:ext>
            </a:extLst>
          </p:cNvPr>
          <p:cNvSpPr>
            <a:spLocks xmlns:a="http://schemas.openxmlformats.org/drawingml/2006/main" noGrp="1"/>
          </p:cNvSpPr>
          <p:nvPr/>
        </p:nvSpPr>
        <p:spPr>
          <a:xfrm xmlns:a="http://schemas.openxmlformats.org/drawingml/2006/main">
            <a:off x="4019550" y="4781550"/>
            <a:ext cx="4229100" cy="704850"/>
          </a:xfrm>
          <a:prstGeom xmlns:a="http://schemas.openxmlformats.org/drawingml/2006/main" prst="rect">
            <a:avLst/>
          </a:prstGeom>
          <a:noFill xmlns:a="http://schemas.openxmlformats.org/drawingml/2006/main"/>
          <a:ln xmlns:a="http://schemas.openxmlformats.org/drawingml/2006/main" w="19050">
            <a:solidFill>
              <a:srgbClr val="8FE3BA"/>
            </a:solidFill>
          </a:ln>
        </p:spPr>
      </p:sp>
      <p:sp>
        <p:nvSpPr>
          <p:cNvPr id="21" name="text-18">
            <a:extLst xmlns:a="http://schemas.openxmlformats.org/drawingml/2006/main">
              <a:ext uri="{FF2B5EF4-FFF2-40B4-BE49-F238E27FC236}">
                <a16:creationId xmlns:a16="http://schemas.microsoft.com/office/drawing/2014/main" id="{ABE42BFA-9D5E-412F-B10A-2958E0CDD690}"/>
              </a:ext>
            </a:extLst>
          </p:cNvPr>
          <p:cNvSpPr>
            <a:spLocks xmlns:a="http://schemas.openxmlformats.org/drawingml/2006/main" noGrp="1"/>
          </p:cNvSpPr>
          <p:nvPr/>
        </p:nvSpPr>
        <p:spPr>
          <a:xfrm xmlns:a="http://schemas.openxmlformats.org/drawingml/2006/main">
            <a:off x="4238625" y="4924425"/>
            <a:ext cx="3857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FE3BA"/>
                </a:solidFill>
                <a:latin typeface="Helvetica Neue"/>
                <a:ea typeface="Helvetica Neue"/>
                <a:cs typeface="Helvetica Neue"/>
              </a:defRPr>
            </a:pPr>
            <a:r>
              <a:rPr sz="2100" b="1">
                <a:solidFill>
                  <a:srgbClr val="8FE3BA"/>
                </a:solidFill>
                <a:latin typeface="Helvetica Neue"/>
                <a:ea typeface="Helvetica Neue"/>
                <a:cs typeface="Helvetica Neue"/>
              </a:rPr>
              <a:t>Saved result and diagnostics</a:t>
            </a:r>
          </a:p>
        </p:txBody>
      </p:sp>
      <p:cxnSp>
        <p:nvCxnSpPr>
          <p:cNvPr id="46" name=""/>
          <p:cNvCxnSpPr>
            <a:stCxn xmlns:a="http://schemas.openxmlformats.org/drawingml/2006/main" id="14" idx="2"/>
            <a:endCxn xmlns:a="http://schemas.openxmlformats.org/drawingml/2006/main" id="20" idx="3"/>
          </p:cNvCxnSpPr>
          <p:nvPr/>
        </p:nvCxnSpPr>
        <p:spPr>
          <a:xfrm xmlns:a="http://schemas.openxmlformats.org/drawingml/2006/main" flipH="1">
            <a:off x="8248650" y="4095750"/>
            <a:ext cx="2157413" cy="1038225"/>
          </a:xfrm>
          <a:prstGeom xmlns:a="http://schemas.openxmlformats.org/drawingml/2006/main" prst="bentConnector5">
            <a:avLst>
              <a:gd name="adj1" fmla="val 0"/>
              <a:gd name="adj2" fmla="val 22018"/>
              <a:gd name="adj3" fmla="val 89404"/>
            </a:avLst>
          </a:prstGeom>
          <a:ln xmlns:a="http://schemas.openxmlformats.org/drawingml/2006/main" w="19050">
            <a:solidFill>
              <a:srgbClr val="8FE3BA"/>
            </a:solidFill>
            <a:tailEnd type="triangle" w="med" len="med"/>
          </a:ln>
        </p:spPr>
      </p:cxnSp>
      <p:cxnSp>
        <p:nvCxnSpPr>
          <p:cNvPr id="47" name=""/>
          <p:cNvCxnSpPr>
            <a:stCxn xmlns:a="http://schemas.openxmlformats.org/drawingml/2006/main" id="20" idx="1"/>
            <a:endCxn xmlns:a="http://schemas.openxmlformats.org/drawingml/2006/main" id="5" idx="2"/>
          </p:cNvCxnSpPr>
          <p:nvPr/>
        </p:nvCxnSpPr>
        <p:spPr>
          <a:xfrm xmlns:a="http://schemas.openxmlformats.org/drawingml/2006/main" flipH="1" flipV="1">
            <a:off x="1776413" y="4095750"/>
            <a:ext cx="2243138" cy="1038225"/>
          </a:xfrm>
          <a:prstGeom xmlns:a="http://schemas.openxmlformats.org/drawingml/2006/main" prst="bentConnector2">
            <a:avLst/>
          </a:prstGeom>
          <a:ln xmlns:a="http://schemas.openxmlformats.org/drawingml/2006/main" w="19050">
            <a:solidFill>
              <a:srgbClr val="8FE3BA"/>
            </a:solidFill>
            <a:tailEnd type="triangle" w="med" len="med"/>
          </a:ln>
        </p:spPr>
      </p:cxnSp>
      <p:sp>
        <p:nvSpPr>
          <p:cNvPr id="24" name="text-19">
            <a:extLst xmlns:a="http://schemas.openxmlformats.org/drawingml/2006/main">
              <a:ext uri="{FF2B5EF4-FFF2-40B4-BE49-F238E27FC236}">
                <a16:creationId xmlns:a16="http://schemas.microsoft.com/office/drawing/2014/main" id="{30EE0711-4D67-474D-A241-CCDA21DA1DD0}"/>
              </a:ext>
            </a:extLst>
          </p:cNvPr>
          <p:cNvSpPr>
            <a:spLocks xmlns:a="http://schemas.openxmlformats.org/drawingml/2006/main" noGrp="1"/>
          </p:cNvSpPr>
          <p:nvPr/>
        </p:nvSpPr>
        <p:spPr>
          <a:xfrm xmlns:a="http://schemas.openxmlformats.org/drawingml/2006/main">
            <a:off x="609600" y="6029325"/>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4BDBF"/>
                </a:solidFill>
                <a:latin typeface="Helvetica Neue"/>
                <a:ea typeface="Helvetica Neue"/>
                <a:cs typeface="Helvetica Neue"/>
              </a:defRPr>
            </a:pPr>
            <a:r>
              <a:rPr sz="1875" b="0">
                <a:solidFill>
                  <a:srgbClr val="B4BDBF"/>
                </a:solidFill>
                <a:latin typeface="Helvetica Neue"/>
                <a:ea typeface="Helvetica Neue"/>
                <a:cs typeface="Helvetica Neue"/>
              </a:rPr>
              <a:t>One persistent task can run a candidate or a batch, then revise the experiment</a:t>
            </a:r>
          </a:p>
        </p:txBody>
      </p:sp>
    </p:spTree>
    <p:extLst>
      <p:ext uri="{BB962C8B-B14F-4D97-AF65-F5344CB8AC3E}">
        <p14:creationId xmlns:p14="http://schemas.microsoft.com/office/powerpoint/2010/main" val="1144125968"/>
      </p:ext>
    </p:extLst>
  </p:cSld>
</p:sld>
</file>

<file path=ppt/slides/slide3.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9" name="text-20">
            <a:extLst xmlns:a="http://schemas.openxmlformats.org/drawingml/2006/main">
              <a:ext uri="{FF2B5EF4-FFF2-40B4-BE49-F238E27FC236}">
                <a16:creationId xmlns:a16="http://schemas.microsoft.com/office/drawing/2014/main" id="{F58BD5B3-A307-4E15-9630-BB8301BEB04F}"/>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Medium score fell by 45.8%</a:t>
            </a:r>
          </a:p>
        </p:txBody>
      </p:sp>
      <p:sp>
        <p:nvSpPr>
          <p:cNvPr id="2" name="text-21">
            <a:extLst xmlns:a="http://schemas.openxmlformats.org/drawingml/2006/main">
              <a:ext uri="{FF2B5EF4-FFF2-40B4-BE49-F238E27FC236}">
                <a16:creationId xmlns:a16="http://schemas.microsoft.com/office/drawing/2014/main" id="{6BEB5413-F810-4A2B-ADEC-C1505038EE12}"/>
              </a:ext>
            </a:extLst>
          </p:cNvPr>
          <p:cNvSpPr>
            <a:spLocks xmlns:a="http://schemas.openxmlformats.org/drawingml/2006/main" noGrp="1"/>
          </p:cNvSpPr>
          <p:nvPr/>
        </p:nvSpPr>
        <p:spPr>
          <a:xfrm xmlns:a="http://schemas.openxmlformats.org/drawingml/2006/main">
            <a:off x="619125" y="1352550"/>
            <a:ext cx="285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B4BDBF"/>
                </a:solidFill>
                <a:latin typeface="Helvetica Neue"/>
                <a:ea typeface="Helvetica Neue"/>
                <a:cs typeface="Helvetica Neue"/>
              </a:defRPr>
            </a:pPr>
            <a:r>
              <a:rPr sz="4350" b="1">
                <a:solidFill>
                  <a:srgbClr val="B4BDBF"/>
                </a:solidFill>
                <a:latin typeface="Helvetica Neue"/>
                <a:ea typeface="Helvetica Neue"/>
                <a:cs typeface="Helvetica Neue"/>
              </a:rPr>
              <a:t>65,288</a:t>
            </a:r>
          </a:p>
        </p:txBody>
      </p:sp>
      <p:sp>
        <p:nvSpPr>
          <p:cNvPr id="3" name="text-22">
            <a:extLst xmlns:a="http://schemas.openxmlformats.org/drawingml/2006/main">
              <a:ext uri="{FF2B5EF4-FFF2-40B4-BE49-F238E27FC236}">
                <a16:creationId xmlns:a16="http://schemas.microsoft.com/office/drawing/2014/main" id="{A3651C4D-F152-43BF-AF11-7549A63995DF}"/>
              </a:ext>
            </a:extLst>
          </p:cNvPr>
          <p:cNvSpPr>
            <a:spLocks xmlns:a="http://schemas.openxmlformats.org/drawingml/2006/main" noGrp="1"/>
          </p:cNvSpPr>
          <p:nvPr/>
        </p:nvSpPr>
        <p:spPr>
          <a:xfrm xmlns:a="http://schemas.openxmlformats.org/drawingml/2006/main">
            <a:off x="4000500" y="1352550"/>
            <a:ext cx="314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8FE3BA"/>
                </a:solidFill>
                <a:latin typeface="Helvetica Neue"/>
                <a:ea typeface="Helvetica Neue"/>
                <a:cs typeface="Helvetica Neue"/>
              </a:defRPr>
            </a:pPr>
            <a:r>
              <a:rPr sz="4350" b="1">
                <a:solidFill>
                  <a:srgbClr val="8FE3BA"/>
                </a:solidFill>
                <a:latin typeface="Helvetica Neue"/>
                <a:ea typeface="Helvetica Neue"/>
                <a:cs typeface="Helvetica Neue"/>
              </a:rPr>
              <a:t>35,365</a:t>
            </a:r>
          </a:p>
        </p:txBody>
      </p:sp>
      <p:sp>
        <p:nvSpPr>
          <p:cNvPr id="4" name="text-23">
            <a:extLst xmlns:a="http://schemas.openxmlformats.org/drawingml/2006/main">
              <a:ext uri="{FF2B5EF4-FFF2-40B4-BE49-F238E27FC236}">
                <a16:creationId xmlns:a16="http://schemas.microsoft.com/office/drawing/2014/main" id="{FBEC0684-91B3-4556-8665-F3FCD1082E9D}"/>
              </a:ext>
            </a:extLst>
          </p:cNvPr>
          <p:cNvSpPr>
            <a:spLocks xmlns:a="http://schemas.openxmlformats.org/drawingml/2006/main" noGrp="1"/>
          </p:cNvSpPr>
          <p:nvPr/>
        </p:nvSpPr>
        <p:spPr>
          <a:xfrm xmlns:a="http://schemas.openxmlformats.org/drawingml/2006/main">
            <a:off x="647700" y="2095500"/>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4BDBF"/>
                </a:solidFill>
                <a:latin typeface="Helvetica Neue"/>
                <a:ea typeface="Helvetica Neue"/>
                <a:cs typeface="Helvetica Neue"/>
              </a:defRPr>
            </a:pPr>
            <a:r>
              <a:rPr sz="1875" b="0">
                <a:solidFill>
                  <a:srgbClr val="B4BDBF"/>
                </a:solidFill>
                <a:latin typeface="Helvetica Neue"/>
                <a:ea typeface="Helvetica Neue"/>
                <a:cs typeface="Helvetica Neue"/>
              </a:rPr>
              <a:t>Starting valid board</a:t>
            </a:r>
          </a:p>
        </p:txBody>
      </p:sp>
      <p:sp>
        <p:nvSpPr>
          <p:cNvPr id="5" name="text-24">
            <a:extLst xmlns:a="http://schemas.openxmlformats.org/drawingml/2006/main">
              <a:ext uri="{FF2B5EF4-FFF2-40B4-BE49-F238E27FC236}">
                <a16:creationId xmlns:a16="http://schemas.microsoft.com/office/drawing/2014/main" id="{2F1D29EF-33E8-400E-A6B4-B08AA4741F8F}"/>
              </a:ext>
            </a:extLst>
          </p:cNvPr>
          <p:cNvSpPr>
            <a:spLocks xmlns:a="http://schemas.openxmlformats.org/drawingml/2006/main" noGrp="1"/>
          </p:cNvSpPr>
          <p:nvPr/>
        </p:nvSpPr>
        <p:spPr>
          <a:xfrm xmlns:a="http://schemas.openxmlformats.org/drawingml/2006/main">
            <a:off x="4019550" y="2095500"/>
            <a:ext cx="433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FE3BA"/>
                </a:solidFill>
                <a:latin typeface="Helvetica Neue"/>
                <a:ea typeface="Helvetica Neue"/>
                <a:cs typeface="Helvetica Neue"/>
              </a:defRPr>
            </a:pPr>
            <a:r>
              <a:rPr sz="1875" b="0">
                <a:solidFill>
                  <a:srgbClr val="8FE3BA"/>
                </a:solidFill>
                <a:latin typeface="Helvetica Neue"/>
                <a:ea typeface="Helvetica Neue"/>
                <a:cs typeface="Helvetica Neue"/>
              </a:rPr>
              <a:t>Best recorded valid board</a:t>
            </a:r>
          </a:p>
        </p:txBody>
      </p:sp>
      <p:graphicFrame>
        <p:nvGraphicFramePr>
          <p:cNvPr id="14" name="Chart"/>
          <p:cNvGraphicFramePr/>
          <p:nvPr/>
        </p:nvGraphicFramePr>
        <p:xfrm>
          <a:off xmlns:a="http://schemas.openxmlformats.org/drawingml/2006/main" x="571500" y="2762250"/>
          <a:ext xmlns:a="http://schemas.openxmlformats.org/drawingml/2006/main" cx="10906125" cy="2857500"/>
        </p:xfrm>
        <a:graphic xmlns:a="http://schemas.openxmlformats.org/drawingml/2006/main">
          <a:graphicData uri="http://schemas.openxmlformats.org/drawingml/2006/chart">
            <c:chart xmlns:r="http://schemas.openxmlformats.org/officeDocument/2006/relationships" xmlns:c="http://schemas.openxmlformats.org/drawingml/2006/chart" r:id="R35def05145d74c0a"/>
          </a:graphicData>
        </a:graphic>
      </p:graphicFrame>
      <p:sp>
        <p:nvSpPr>
          <p:cNvPr id="7" name="text-25">
            <a:extLst xmlns:a="http://schemas.openxmlformats.org/drawingml/2006/main">
              <a:ext uri="{FF2B5EF4-FFF2-40B4-BE49-F238E27FC236}">
                <a16:creationId xmlns:a16="http://schemas.microsoft.com/office/drawing/2014/main" id="{123C6626-C61F-4E42-BF3F-69773E046BEF}"/>
              </a:ext>
            </a:extLst>
          </p:cNvPr>
          <p:cNvSpPr>
            <a:spLocks xmlns:a="http://schemas.openxmlformats.org/drawingml/2006/main" noGrp="1"/>
          </p:cNvSpPr>
          <p:nvPr/>
        </p:nvSpPr>
        <p:spPr>
          <a:xfrm xmlns:a="http://schemas.openxmlformats.org/drawingml/2006/main">
            <a:off x="619125" y="58578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3EA"/>
                </a:solidFill>
                <a:latin typeface="Helvetica Neue"/>
                <a:ea typeface="Helvetica Neue"/>
                <a:cs typeface="Helvetica Neue"/>
              </a:defRPr>
            </a:pPr>
            <a:r>
              <a:rPr sz="2025" b="0">
                <a:solidFill>
                  <a:srgbClr val="F6F3EA"/>
                </a:solidFill>
                <a:latin typeface="Helvetica Neue"/>
                <a:ea typeface="Helvetica Neue"/>
                <a:cs typeface="Helvetica Neue"/>
              </a:rPr>
              <a:t>Score = assembled volume (mm³) + 50 × vias + 5,000 × copper layers</a:t>
            </a:r>
          </a:p>
        </p:txBody>
      </p:sp>
      <p:sp>
        <p:nvSpPr>
          <p:cNvPr id="8" name="text-26">
            <a:extLst xmlns:a="http://schemas.openxmlformats.org/drawingml/2006/main">
              <a:ext uri="{FF2B5EF4-FFF2-40B4-BE49-F238E27FC236}">
                <a16:creationId xmlns:a16="http://schemas.microsoft.com/office/drawing/2014/main" id="{A06A6E4D-FB9B-4357-BDD2-D0BC74815C49}"/>
              </a:ext>
            </a:extLst>
          </p:cNvPr>
          <p:cNvSpPr>
            <a:spLocks xmlns:a="http://schemas.openxmlformats.org/drawingml/2006/main" noGrp="1"/>
          </p:cNvSpPr>
          <p:nvPr/>
        </p:nvSpPr>
        <p:spPr>
          <a:xfrm xmlns:a="http://schemas.openxmlformats.org/drawingml/2006/main">
            <a:off x="619125" y="6334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4BDBF"/>
                </a:solidFill>
                <a:latin typeface="Helvetica Neue"/>
                <a:ea typeface="Helvetica Neue"/>
                <a:cs typeface="Helvetica Neue"/>
              </a:defRPr>
            </a:pPr>
            <a:r>
              <a:rPr sz="1650" b="0">
                <a:solidFill>
                  <a:srgbClr val="B4BDBF"/>
                </a:solidFill>
                <a:latin typeface="Helvetica Neue"/>
                <a:ea typeface="Helvetica Neue"/>
                <a:cs typeface="Helvetica Neue"/>
              </a:rPr>
              <a:t>85 components, reduced demo circuit. Original/full board remains incomplete.</a:t>
            </a:r>
          </a:p>
        </p:txBody>
      </p:sp>
    </p:spTree>
    <p:extLst>
      <p:ext uri="{BB962C8B-B14F-4D97-AF65-F5344CB8AC3E}">
        <p14:creationId xmlns:p14="http://schemas.microsoft.com/office/powerpoint/2010/main" val="1955381059"/>
      </p:ext>
    </p:extLst>
  </p:cSld>
</p:sld>
</file>

<file path=ppt/slides/slide4.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10" name="text-27">
            <a:extLst xmlns:a="http://schemas.openxmlformats.org/drawingml/2006/main">
              <a:ext uri="{FF2B5EF4-FFF2-40B4-BE49-F238E27FC236}">
                <a16:creationId xmlns:a16="http://schemas.microsoft.com/office/drawing/2014/main" id="{92E8BB94-A166-4B8B-9341-88403A62189D}"/>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Functional grouping reduced the via cost</a:t>
            </a:r>
          </a:p>
        </p:txBody>
      </p:sp>
      <p:sp>
        <p:nvSpPr>
          <p:cNvPr id="2" name="text-28">
            <a:extLst xmlns:a="http://schemas.openxmlformats.org/drawingml/2006/main">
              <a:ext uri="{FF2B5EF4-FFF2-40B4-BE49-F238E27FC236}">
                <a16:creationId xmlns:a16="http://schemas.microsoft.com/office/drawing/2014/main" id="{1374A847-9278-4C28-A4D8-7821D5403807}"/>
              </a:ext>
            </a:extLst>
          </p:cNvPr>
          <p:cNvSpPr>
            <a:spLocks xmlns:a="http://schemas.openxmlformats.org/drawingml/2006/main" noGrp="1"/>
          </p:cNvSpPr>
          <p:nvPr/>
        </p:nvSpPr>
        <p:spPr>
          <a:xfrm xmlns:a="http://schemas.openxmlformats.org/drawingml/2006/main">
            <a:off x="647700" y="13811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4BDBF"/>
                </a:solidFill>
                <a:latin typeface="Helvetica Neue"/>
                <a:ea typeface="Helvetica Neue"/>
                <a:cs typeface="Helvetica Neue"/>
              </a:defRPr>
            </a:pPr>
            <a:r>
              <a:rPr sz="2250" b="1">
                <a:solidFill>
                  <a:srgbClr val="B4BDBF"/>
                </a:solidFill>
                <a:latin typeface="Helvetica Neue"/>
                <a:ea typeface="Helvetica Neue"/>
                <a:cs typeface="Helvetica Neue"/>
              </a:rPr>
              <a:t>Before grouping</a:t>
            </a:r>
          </a:p>
        </p:txBody>
      </p:sp>
      <p:sp>
        <p:nvSpPr>
          <p:cNvPr id="3" name="text-29">
            <a:extLst xmlns:a="http://schemas.openxmlformats.org/drawingml/2006/main">
              <a:ext uri="{FF2B5EF4-FFF2-40B4-BE49-F238E27FC236}">
                <a16:creationId xmlns:a16="http://schemas.microsoft.com/office/drawing/2014/main" id="{D58FB8CD-0C00-4EAE-9224-3538BE5A7E5B}"/>
              </a:ext>
            </a:extLst>
          </p:cNvPr>
          <p:cNvSpPr>
            <a:spLocks xmlns:a="http://schemas.openxmlformats.org/drawingml/2006/main" noGrp="1"/>
          </p:cNvSpPr>
          <p:nvPr/>
        </p:nvSpPr>
        <p:spPr>
          <a:xfrm xmlns:a="http://schemas.openxmlformats.org/drawingml/2006/main">
            <a:off x="6400800" y="13811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FE3BA"/>
                </a:solidFill>
                <a:latin typeface="Helvetica Neue"/>
                <a:ea typeface="Helvetica Neue"/>
                <a:cs typeface="Helvetica Neue"/>
              </a:defRPr>
            </a:pPr>
            <a:r>
              <a:rPr sz="2250" b="1">
                <a:solidFill>
                  <a:srgbClr val="8FE3BA"/>
                </a:solidFill>
                <a:latin typeface="Helvetica Neue"/>
                <a:ea typeface="Helvetica Neue"/>
                <a:cs typeface="Helvetica Neue"/>
              </a:rPr>
              <a:t>Connected blocks near their headers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2953a2ba1c14e77"/>
          <a:stretch xmlns:a="http://schemas.openxmlformats.org/drawingml/2006/main"/>
        </p:blipFill>
        <p:spPr>
          <a:xfrm xmlns:a="http://schemas.openxmlformats.org/drawingml/2006/main">
            <a:off x="810179" y="2028825"/>
            <a:ext cx="4618517" cy="3971925"/>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956246ced48442d"/>
          <a:stretch xmlns:a="http://schemas.openxmlformats.org/drawingml/2006/main"/>
        </p:blipFill>
        <p:spPr>
          <a:xfrm xmlns:a="http://schemas.openxmlformats.org/drawingml/2006/main">
            <a:off x="6554580" y="1905000"/>
            <a:ext cx="4540665" cy="4219575"/>
          </a:xfrm>
          <a:prstGeom xmlns:a="http://schemas.openxmlformats.org/drawingml/2006/main" prst="rect">
            <a:avLst/>
          </a:prstGeom>
        </p:spPr>
      </p:pic>
      <p:sp>
        <p:nvSpPr>
          <p:cNvPr id="6" name="text-30">
            <a:extLst xmlns:a="http://schemas.openxmlformats.org/drawingml/2006/main">
              <a:ext uri="{FF2B5EF4-FFF2-40B4-BE49-F238E27FC236}">
                <a16:creationId xmlns:a16="http://schemas.microsoft.com/office/drawing/2014/main" id="{2D4139CA-69EC-4834-9FD3-3B05B2AFB0C9}"/>
              </a:ext>
            </a:extLst>
          </p:cNvPr>
          <p:cNvSpPr>
            <a:spLocks xmlns:a="http://schemas.openxmlformats.org/drawingml/2006/main" noGrp="1"/>
          </p:cNvSpPr>
          <p:nvPr/>
        </p:nvSpPr>
        <p:spPr>
          <a:xfrm xmlns:a="http://schemas.openxmlformats.org/drawingml/2006/main">
            <a:off x="742950" y="6057900"/>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3EA"/>
                </a:solidFill>
                <a:latin typeface="Helvetica Neue"/>
                <a:ea typeface="Helvetica Neue"/>
                <a:cs typeface="Helvetica Neue"/>
              </a:defRPr>
            </a:pPr>
            <a:r>
              <a:rPr sz="2400" b="1">
                <a:solidFill>
                  <a:srgbClr val="F6F3EA"/>
                </a:solidFill>
                <a:latin typeface="Helvetica Neue"/>
                <a:ea typeface="Helvetica Neue"/>
                <a:cs typeface="Helvetica Neue"/>
              </a:rPr>
              <a:t>148 vias</a:t>
            </a:r>
          </a:p>
        </p:txBody>
      </p:sp>
      <p:sp>
        <p:nvSpPr>
          <p:cNvPr id="7" name="text-31">
            <a:extLst xmlns:a="http://schemas.openxmlformats.org/drawingml/2006/main">
              <a:ext uri="{FF2B5EF4-FFF2-40B4-BE49-F238E27FC236}">
                <a16:creationId xmlns:a16="http://schemas.microsoft.com/office/drawing/2014/main" id="{0D5C9321-59CD-433A-A09E-2BCCEB30BFD7}"/>
              </a:ext>
            </a:extLst>
          </p:cNvPr>
          <p:cNvSpPr>
            <a:spLocks xmlns:a="http://schemas.openxmlformats.org/drawingml/2006/main" noGrp="1"/>
          </p:cNvSpPr>
          <p:nvPr/>
        </p:nvSpPr>
        <p:spPr>
          <a:xfrm xmlns:a="http://schemas.openxmlformats.org/drawingml/2006/main">
            <a:off x="6524625" y="6057900"/>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8FE3BA"/>
                </a:solidFill>
                <a:latin typeface="Helvetica Neue"/>
                <a:ea typeface="Helvetica Neue"/>
                <a:cs typeface="Helvetica Neue"/>
              </a:defRPr>
            </a:pPr>
            <a:r>
              <a:rPr sz="2400" b="1">
                <a:solidFill>
                  <a:srgbClr val="8FE3BA"/>
                </a:solidFill>
                <a:latin typeface="Helvetica Neue"/>
                <a:ea typeface="Helvetica Neue"/>
                <a:cs typeface="Helvetica Neue"/>
              </a:rPr>
              <a:t>29 vias</a:t>
            </a:r>
          </a:p>
        </p:txBody>
      </p:sp>
      <p:sp>
        <p:nvSpPr>
          <p:cNvPr id="8" name="text-32">
            <a:extLst xmlns:a="http://schemas.openxmlformats.org/drawingml/2006/main">
              <a:ext uri="{FF2B5EF4-FFF2-40B4-BE49-F238E27FC236}">
                <a16:creationId xmlns:a16="http://schemas.microsoft.com/office/drawing/2014/main" id="{20BED9CB-F67B-41D6-9B34-E10B93C54C5D}"/>
              </a:ext>
            </a:extLst>
          </p:cNvPr>
          <p:cNvSpPr>
            <a:spLocks xmlns:a="http://schemas.openxmlformats.org/drawingml/2006/main" noGrp="1"/>
          </p:cNvSpPr>
          <p:nvPr/>
        </p:nvSpPr>
        <p:spPr>
          <a:xfrm xmlns:a="http://schemas.openxmlformats.org/drawingml/2006/main">
            <a:off x="3095625" y="6096000"/>
            <a:ext cx="276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4BDBF"/>
                </a:solidFill>
                <a:latin typeface="Helvetica Neue"/>
                <a:ea typeface="Helvetica Neue"/>
                <a:cs typeface="Helvetica Neue"/>
              </a:defRPr>
            </a:pPr>
            <a:r>
              <a:rPr sz="1875" b="0">
                <a:solidFill>
                  <a:srgbClr val="B4BDBF"/>
                </a:solidFill>
                <a:latin typeface="Helvetica Neue"/>
                <a:ea typeface="Helvetica Neue"/>
                <a:cs typeface="Helvetica Neue"/>
              </a:rPr>
              <a:t>Score 49,910.52</a:t>
            </a:r>
          </a:p>
        </p:txBody>
      </p:sp>
      <p:sp>
        <p:nvSpPr>
          <p:cNvPr id="9" name="text-33">
            <a:extLst xmlns:a="http://schemas.openxmlformats.org/drawingml/2006/main">
              <a:ext uri="{FF2B5EF4-FFF2-40B4-BE49-F238E27FC236}">
                <a16:creationId xmlns:a16="http://schemas.microsoft.com/office/drawing/2014/main" id="{3C8491C9-70AC-4718-9568-D435A3D1DDB5}"/>
              </a:ext>
            </a:extLst>
          </p:cNvPr>
          <p:cNvSpPr>
            <a:spLocks xmlns:a="http://schemas.openxmlformats.org/drawingml/2006/main" noGrp="1"/>
          </p:cNvSpPr>
          <p:nvPr/>
        </p:nvSpPr>
        <p:spPr>
          <a:xfrm xmlns:a="http://schemas.openxmlformats.org/drawingml/2006/main">
            <a:off x="8753475" y="6096000"/>
            <a:ext cx="276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FE3BA"/>
                </a:solidFill>
                <a:latin typeface="Helvetica Neue"/>
                <a:ea typeface="Helvetica Neue"/>
                <a:cs typeface="Helvetica Neue"/>
              </a:defRPr>
            </a:pPr>
            <a:r>
              <a:rPr sz="1875" b="0">
                <a:solidFill>
                  <a:srgbClr val="8FE3BA"/>
                </a:solidFill>
                <a:latin typeface="Helvetica Neue"/>
                <a:ea typeface="Helvetica Neue"/>
                <a:cs typeface="Helvetica Neue"/>
              </a:rPr>
              <a:t>Score 45,345.68</a:t>
            </a:r>
          </a:p>
        </p:txBody>
      </p:sp>
    </p:spTree>
    <p:extLst>
      <p:ext uri="{BB962C8B-B14F-4D97-AF65-F5344CB8AC3E}">
        <p14:creationId xmlns:p14="http://schemas.microsoft.com/office/powerpoint/2010/main" val="750713911"/>
      </p:ext>
    </p:extLst>
  </p:cSld>
</p:sld>
</file>

<file path=ppt/slides/slide5.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7" name="text-34">
            <a:extLst xmlns:a="http://schemas.openxmlformats.org/drawingml/2006/main">
              <a:ext uri="{FF2B5EF4-FFF2-40B4-BE49-F238E27FC236}">
                <a16:creationId xmlns:a16="http://schemas.microsoft.com/office/drawing/2014/main" id="{7089F243-B496-4540-AA67-23191C5D6202}"/>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W&amp;B connects each result to its evidence</a:t>
            </a:r>
          </a:p>
        </p:txBody>
      </p:sp>
      <p:graphicFrame>
        <p:nvGraphicFramePr>
          <p:cNvPr id="8" name=""/>
          <p:cNvGraphicFramePr/>
          <p:nvPr/>
        </p:nvGraphicFramePr>
        <p:xfrm>
          <a:off xmlns:a="http://schemas.openxmlformats.org/drawingml/2006/main" x="609600" y="1647825"/>
          <a:ext xmlns:a="http://schemas.openxmlformats.org/drawingml/2006/main" cx="10953750" cy="2952750"/>
        </p:xfrm>
        <a:graphic xmlns:a="http://schemas.openxmlformats.org/drawingml/2006/main">
          <a:graphicData uri="http://schemas.openxmlformats.org/drawingml/2006/table">
            <a:tbl>
              <a:tblPr/>
              <a:tblGrid>
                <a:gridCol w="2476500"/>
                <a:gridCol w="8477250"/>
              </a:tblGrid>
              <a:tr h="738188">
                <a:tc>
                  <a:txBody>
                    <a:bodyPr/>
                    <a:lstStyle/>
                    <a:p>
                      <a:r>
                        <a:rPr sz="1725" b="1">
                          <a:solidFill>
                            <a:srgbClr val="B4BDBF"/>
                          </a:solidFill>
                          <a:latin typeface="Helvetica Neue"/>
                          <a:ea typeface="Helvetica Neue"/>
                          <a:cs typeface="Helvetica Neue"/>
                        </a:rPr>
                        <a:t>Evidence</a:t>
                      </a:r>
                    </a:p>
                  </a:txBody>
                  <a:tcPr marL="91440" marR="91440" marT="45720" marB="45720">
                    <a:solidFill>
                      <a:srgbClr val="101417"/>
                    </a:solidFill>
                  </a:tcPr>
                </a:tc>
                <a:tc>
                  <a:txBody>
                    <a:bodyPr/>
                    <a:lstStyle/>
                    <a:p>
                      <a:r>
                        <a:rPr sz="1725" b="1">
                          <a:solidFill>
                            <a:srgbClr val="B4BDBF"/>
                          </a:solidFill>
                          <a:latin typeface="Helvetica Neue"/>
                          <a:ea typeface="Helvetica Neue"/>
                          <a:cs typeface="Helvetica Neue"/>
                        </a:rPr>
                        <a:t>What I can inspect</a:t>
                      </a:r>
                    </a:p>
                  </a:txBody>
                  <a:tcPr marL="91440" marR="91440" marT="45720" marB="45720">
                    <a:solidFill>
                      <a:srgbClr val="101417"/>
                    </a:solidFill>
                  </a:tcPr>
                </a:tc>
              </a:tr>
              <a:tr h="738188">
                <a:tc>
                  <a:txBody>
                    <a:bodyPr/>
                    <a:lstStyle/>
                    <a:p>
                      <a:r>
                        <a:rPr sz="1950" b="0">
                          <a:solidFill>
                            <a:srgbClr val="F6F3EA"/>
                          </a:solidFill>
                          <a:latin typeface="Helvetica Neue"/>
                          <a:ea typeface="Helvetica Neue"/>
                          <a:cs typeface="Helvetica Neue"/>
                        </a:rPr>
                        <a:t>Charts</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Valid score, vias, volume and rejected attempts</a:t>
                      </a:r>
                    </a:p>
                  </a:txBody>
                  <a:tcPr marL="91440" marR="91440" marT="45720" marB="45720">
                    <a:solidFill>
                      <a:srgbClr val="101417"/>
                    </a:solidFill>
                  </a:tcPr>
                </a:tc>
              </a:tr>
              <a:tr h="738188">
                <a:tc>
                  <a:txBody>
                    <a:bodyPr/>
                    <a:lstStyle/>
                    <a:p>
                      <a:r>
                        <a:rPr sz="1950" b="0">
                          <a:solidFill>
                            <a:srgbClr val="F6F3EA"/>
                          </a:solidFill>
                          <a:latin typeface="Helvetica Neue"/>
                          <a:ea typeface="Helvetica Neue"/>
                          <a:cs typeface="Helvetica Neue"/>
                        </a:rPr>
                        <a:t>Weave record</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Action parameters, commands and validation output</a:t>
                      </a:r>
                    </a:p>
                  </a:txBody>
                  <a:tcPr marL="91440" marR="91440" marT="45720" marB="45720">
                    <a:solidFill>
                      <a:srgbClr val="101417"/>
                    </a:solidFill>
                  </a:tcPr>
                </a:tc>
              </a:tr>
              <a:tr h="738188">
                <a:tc>
                  <a:txBody>
                    <a:bodyPr/>
                    <a:lstStyle/>
                    <a:p>
                      <a:r>
                        <a:rPr sz="1950" b="0">
                          <a:solidFill>
                            <a:srgbClr val="F6F3EA"/>
                          </a:solidFill>
                          <a:latin typeface="Helvetica Neue"/>
                          <a:ea typeface="Helvetica Neue"/>
                          <a:cs typeface="Helvetica Neue"/>
                        </a:rPr>
                        <a:t>Artifacts</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Candidate PCB, native reports and source hashes</a:t>
                      </a:r>
                    </a:p>
                  </a:txBody>
                  <a:tcPr marL="91440" marR="91440" marT="45720" marB="45720">
                    <a:solidFill>
                      <a:srgbClr val="101417"/>
                    </a:solidFill>
                  </a:tcPr>
                </a:tc>
              </a:tr>
            </a:tbl>
          </a:graphicData>
        </a:graphic>
      </p:graphicFrame>
      <p:sp>
        <p:nvSpPr>
          <p:cNvPr id="3" name="link-run">
            <a:extLst xmlns:a="http://schemas.openxmlformats.org/drawingml/2006/main">
              <a:ext uri="{FF2B5EF4-FFF2-40B4-BE49-F238E27FC236}">
                <a16:creationId xmlns:a16="http://schemas.microsoft.com/office/drawing/2014/main" id="{E02A4D59-30C8-4FF1-88C7-89987B8076CE}"/>
              </a:ext>
            </a:extLst>
            <ns0:hlinkClick xmlns:ns0="http://schemas.openxmlformats.org/drawingml/2006/main" xmlns:ns1="http://schemas.openxmlformats.org/officeDocument/2006/relationships" ns1:id="rIdLink3"/>
          </p:cNvPr>
          <p:cNvSpPr>
            <a:spLocks xmlns:a="http://schemas.openxmlformats.org/drawingml/2006/main" noGrp="1"/>
          </p:cNvSpPr>
          <p:nvPr/>
        </p:nvSpPr>
        <p:spPr>
          <a:xfrm xmlns:a="http://schemas.openxmlformats.org/drawingml/2006/main">
            <a:off x="609600" y="50958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FE3BA"/>
                </a:solidFill>
                <a:latin typeface="Helvetica Neue"/>
                <a:ea typeface="Helvetica Neue"/>
                <a:cs typeface="Helvetica Neue"/>
              </a:defRPr>
            </a:pPr>
            <a:r>
              <a:rPr sz="2250" b="1">
                <a:solidFill>
                  <a:srgbClr val="8FE3BA"/>
                </a:solidFill>
                <a:latin typeface="Helvetica Neue"/>
                <a:ea typeface="Helvetica Neue"/>
                <a:cs typeface="Helvetica Neue"/>
              </a:rPr>
              <a:t>Open the optimization run</a:t>
            </a:r>
          </a:p>
        </p:txBody>
      </p:sp>
      <p:sp>
        <p:nvSpPr>
          <p:cNvPr id="4" name="link-trace">
            <a:extLst xmlns:a="http://schemas.openxmlformats.org/drawingml/2006/main">
              <a:ext uri="{FF2B5EF4-FFF2-40B4-BE49-F238E27FC236}">
                <a16:creationId xmlns:a16="http://schemas.microsoft.com/office/drawing/2014/main" id="{47C770A3-62AD-4EDC-9F89-A78C78B538FF}"/>
              </a:ext>
            </a:extLst>
            <ns2:hlinkClick xmlns:ns2="http://schemas.openxmlformats.org/drawingml/2006/main" xmlns:ns3="http://schemas.openxmlformats.org/officeDocument/2006/relationships" ns3:id="rIdLink4"/>
          </p:cNvPr>
          <p:cNvSpPr>
            <a:spLocks xmlns:a="http://schemas.openxmlformats.org/drawingml/2006/main" noGrp="1"/>
          </p:cNvSpPr>
          <p:nvPr/>
        </p:nvSpPr>
        <p:spPr>
          <a:xfrm xmlns:a="http://schemas.openxmlformats.org/drawingml/2006/main">
            <a:off x="6381750" y="50958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DA96E"/>
                </a:solidFill>
                <a:latin typeface="Helvetica Neue"/>
                <a:ea typeface="Helvetica Neue"/>
                <a:cs typeface="Helvetica Neue"/>
              </a:defRPr>
            </a:pPr>
            <a:r>
              <a:rPr sz="2250" b="1">
                <a:solidFill>
                  <a:srgbClr val="EDA96E"/>
                </a:solidFill>
                <a:latin typeface="Helvetica Neue"/>
                <a:ea typeface="Helvetica Neue"/>
                <a:cs typeface="Helvetica Neue"/>
              </a:rPr>
              <a:t>Open the grouping trace</a:t>
            </a:r>
          </a:p>
        </p:txBody>
      </p:sp>
      <p:sp>
        <p:nvSpPr>
          <p:cNvPr id="5" name="text-35">
            <a:extLst xmlns:a="http://schemas.openxmlformats.org/drawingml/2006/main">
              <a:ext uri="{FF2B5EF4-FFF2-40B4-BE49-F238E27FC236}">
                <a16:creationId xmlns:a16="http://schemas.microsoft.com/office/drawing/2014/main" id="{037450AE-8A64-4430-B7F3-4F35EDA29F61}"/>
              </a:ext>
            </a:extLst>
          </p:cNvPr>
          <p:cNvSpPr>
            <a:spLocks xmlns:a="http://schemas.openxmlformats.org/drawingml/2006/main" noGrp="1"/>
          </p:cNvSpPr>
          <p:nvPr/>
        </p:nvSpPr>
        <p:spPr>
          <a:xfrm xmlns:a="http://schemas.openxmlformats.org/drawingml/2006/main">
            <a:off x="609600" y="57721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4BDBF"/>
                </a:solidFill>
                <a:latin typeface="Helvetica Neue"/>
                <a:ea typeface="Helvetica Neue"/>
                <a:cs typeface="Helvetica Neue"/>
              </a:defRPr>
            </a:pPr>
            <a:r>
              <a:rPr sz="1875" b="0">
                <a:solidFill>
                  <a:srgbClr val="B4BDBF"/>
                </a:solidFill>
                <a:latin typeface="Helvetica Neue"/>
                <a:ea typeface="Helvetica Neue"/>
                <a:cs typeface="Helvetica Neue"/>
              </a:rPr>
              <a:t>Completed experiment records. Routing time comes from command logs.</a:t>
            </a:r>
          </a:p>
        </p:txBody>
      </p:sp>
      <p:sp>
        <p:nvSpPr>
          <p:cNvPr id="6" name="text-36">
            <a:extLst xmlns:a="http://schemas.openxmlformats.org/drawingml/2006/main">
              <a:ext uri="{FF2B5EF4-FFF2-40B4-BE49-F238E27FC236}">
                <a16:creationId xmlns:a16="http://schemas.microsoft.com/office/drawing/2014/main" id="{3BB87D5A-694E-4645-B0E9-C6A1E5F8FFBC}"/>
              </a:ext>
            </a:extLst>
          </p:cNvPr>
          <p:cNvSpPr>
            <a:spLocks xmlns:a="http://schemas.openxmlformats.org/drawingml/2006/main" noGrp="1"/>
          </p:cNvSpPr>
          <p:nvPr/>
        </p:nvSpPr>
        <p:spPr>
          <a:xfrm xmlns:a="http://schemas.openxmlformats.org/drawingml/2006/main">
            <a:off x="609600" y="62103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4BDBF"/>
                </a:solidFill>
                <a:latin typeface="Helvetica Neue"/>
                <a:ea typeface="Helvetica Neue"/>
                <a:cs typeface="Helvetica Neue"/>
              </a:defRPr>
            </a:pPr>
            <a:r>
              <a:rPr sz="1650" b="0">
                <a:solidFill>
                  <a:srgbClr val="B4BDBF"/>
                </a:solidFill>
                <a:latin typeface="Helvetica Neue"/>
                <a:ea typeface="Helvetica Neue"/>
                <a:cs typeface="Helvetica Neue"/>
              </a:rPr>
              <a:t>W&amp;B upload verified through 40,074.08. The latest local result is 35,365.44.</a:t>
            </a:r>
          </a:p>
        </p:txBody>
      </p:sp>
    </p:spTree>
    <p:extLst>
      <p:ext uri="{BB962C8B-B14F-4D97-AF65-F5344CB8AC3E}">
        <p14:creationId xmlns:p14="http://schemas.microsoft.com/office/powerpoint/2010/main" val="753458409"/>
      </p:ext>
    </p:extLst>
  </p:cSld>
</p:sld>
</file>

<file path=ppt/slides/slide6.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6" name="text-37">
            <a:extLst xmlns:a="http://schemas.openxmlformats.org/drawingml/2006/main">
              <a:ext uri="{FF2B5EF4-FFF2-40B4-BE49-F238E27FC236}">
                <a16:creationId xmlns:a16="http://schemas.microsoft.com/office/drawing/2014/main" id="{BBBFD96E-D833-42BB-8C11-266EE6CD7145}"/>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Results and next step</a:t>
            </a:r>
          </a:p>
        </p:txBody>
      </p:sp>
      <p:graphicFrame>
        <p:nvGraphicFramePr>
          <p:cNvPr id="7" name=""/>
          <p:cNvGraphicFramePr/>
          <p:nvPr/>
        </p:nvGraphicFramePr>
        <p:xfrm>
          <a:off xmlns:a="http://schemas.openxmlformats.org/drawingml/2006/main" x="609600" y="1619250"/>
          <a:ext xmlns:a="http://schemas.openxmlformats.org/drawingml/2006/main" cx="10953750" cy="2952750"/>
        </p:xfrm>
        <a:graphic xmlns:a="http://schemas.openxmlformats.org/drawingml/2006/main">
          <a:graphicData uri="http://schemas.openxmlformats.org/drawingml/2006/table">
            <a:tbl>
              <a:tblPr/>
              <a:tblGrid>
                <a:gridCol w="3619500"/>
                <a:gridCol w="2476500"/>
                <a:gridCol w="4857750"/>
              </a:tblGrid>
              <a:tr h="590550">
                <a:tc>
                  <a:txBody>
                    <a:bodyPr/>
                    <a:lstStyle/>
                    <a:p>
                      <a:r>
                        <a:rPr sz="1725" b="1">
                          <a:solidFill>
                            <a:srgbClr val="B4BDBF"/>
                          </a:solidFill>
                          <a:latin typeface="Helvetica Neue"/>
                          <a:ea typeface="Helvetica Neue"/>
                          <a:cs typeface="Helvetica Neue"/>
                        </a:rPr>
                        <a:t>Board family</a:t>
                      </a:r>
                    </a:p>
                  </a:txBody>
                  <a:tcPr marL="91440" marR="91440" marT="45720" marB="45720">
                    <a:solidFill>
                      <a:srgbClr val="101417"/>
                    </a:solidFill>
                  </a:tcPr>
                </a:tc>
                <a:tc>
                  <a:txBody>
                    <a:bodyPr/>
                    <a:lstStyle/>
                    <a:p>
                      <a:r>
                        <a:rPr sz="1725" b="1">
                          <a:solidFill>
                            <a:srgbClr val="B4BDBF"/>
                          </a:solidFill>
                          <a:latin typeface="Helvetica Neue"/>
                          <a:ea typeface="Helvetica Neue"/>
                          <a:cs typeface="Helvetica Neue"/>
                        </a:rPr>
                        <a:t>Components</a:t>
                      </a:r>
                    </a:p>
                  </a:txBody>
                  <a:tcPr marL="91440" marR="91440" marT="45720" marB="45720">
                    <a:solidFill>
                      <a:srgbClr val="101417"/>
                    </a:solidFill>
                  </a:tcPr>
                </a:tc>
                <a:tc>
                  <a:txBody>
                    <a:bodyPr/>
                    <a:lstStyle/>
                    <a:p>
                      <a:r>
                        <a:rPr sz="1725" b="1">
                          <a:solidFill>
                            <a:srgbClr val="B4BDBF"/>
                          </a:solidFill>
                          <a:latin typeface="Helvetica Neue"/>
                          <a:ea typeface="Helvetica Neue"/>
                          <a:cs typeface="Helvetica Neue"/>
                        </a:rPr>
                        <a:t>Recorded status</a:t>
                      </a:r>
                    </a:p>
                  </a:txBody>
                  <a:tcPr marL="91440" marR="91440" marT="45720" marB="45720">
                    <a:solidFill>
                      <a:srgbClr val="101417"/>
                    </a:solidFill>
                  </a:tcPr>
                </a:tc>
              </a:tr>
              <a:tr h="590550">
                <a:tc>
                  <a:txBody>
                    <a:bodyPr/>
                    <a:lstStyle/>
                    <a:p>
                      <a:r>
                        <a:rPr sz="1950" b="0">
                          <a:solidFill>
                            <a:srgbClr val="F6F3EA"/>
                          </a:solidFill>
                          <a:latin typeface="Helvetica Neue"/>
                          <a:ea typeface="Helvetica Neue"/>
                          <a:cs typeface="Helvetica Neue"/>
                        </a:rPr>
                        <a:t>Small</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15</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Valid reduced circuit</a:t>
                      </a:r>
                    </a:p>
                  </a:txBody>
                  <a:tcPr marL="91440" marR="91440" marT="45720" marB="45720">
                    <a:solidFill>
                      <a:srgbClr val="101417"/>
                    </a:solidFill>
                  </a:tcPr>
                </a:tc>
              </a:tr>
              <a:tr h="590550">
                <a:tc>
                  <a:txBody>
                    <a:bodyPr/>
                    <a:lstStyle/>
                    <a:p>
                      <a:r>
                        <a:rPr sz="1950" b="0">
                          <a:solidFill>
                            <a:srgbClr val="F6F3EA"/>
                          </a:solidFill>
                          <a:latin typeface="Helvetica Neue"/>
                          <a:ea typeface="Helvetica Neue"/>
                          <a:cs typeface="Helvetica Neue"/>
                        </a:rPr>
                        <a:t>Medium</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85</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Valid, 45.8% lower score</a:t>
                      </a:r>
                    </a:p>
                  </a:txBody>
                  <a:tcPr marL="91440" marR="91440" marT="45720" marB="45720">
                    <a:solidFill>
                      <a:srgbClr val="101417"/>
                    </a:solidFill>
                  </a:tcPr>
                </a:tc>
              </a:tr>
              <a:tr h="590550">
                <a:tc>
                  <a:txBody>
                    <a:bodyPr/>
                    <a:lstStyle/>
                    <a:p>
                      <a:r>
                        <a:rPr sz="1950" b="0">
                          <a:solidFill>
                            <a:srgbClr val="F6F3EA"/>
                          </a:solidFill>
                          <a:latin typeface="Helvetica Neue"/>
                          <a:ea typeface="Helvetica Neue"/>
                          <a:cs typeface="Helvetica Neue"/>
                        </a:rPr>
                        <a:t>Large</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156</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Incomplete</a:t>
                      </a:r>
                    </a:p>
                  </a:txBody>
                  <a:tcPr marL="91440" marR="91440" marT="45720" marB="45720">
                    <a:solidFill>
                      <a:srgbClr val="101417"/>
                    </a:solidFill>
                  </a:tcPr>
                </a:tc>
              </a:tr>
              <a:tr h="590550">
                <a:tc>
                  <a:txBody>
                    <a:bodyPr/>
                    <a:lstStyle/>
                    <a:p>
                      <a:r>
                        <a:rPr sz="1950" b="0">
                          <a:solidFill>
                            <a:srgbClr val="F6F3EA"/>
                          </a:solidFill>
                          <a:latin typeface="Helvetica Neue"/>
                          <a:ea typeface="Helvetica Neue"/>
                          <a:cs typeface="Helvetica Neue"/>
                        </a:rPr>
                        <a:t>Original / Full</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245</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Incomplete</a:t>
                      </a:r>
                    </a:p>
                  </a:txBody>
                  <a:tcPr marL="91440" marR="91440" marT="45720" marB="45720">
                    <a:solidFill>
                      <a:srgbClr val="101417"/>
                    </a:solidFill>
                  </a:tcPr>
                </a:tc>
              </a:tr>
            </a:tbl>
          </a:graphicData>
        </a:graphic>
      </p:graphicFrame>
      <p:sp>
        <p:nvSpPr>
          <p:cNvPr id="3" name="text-38">
            <a:extLst xmlns:a="http://schemas.openxmlformats.org/drawingml/2006/main">
              <a:ext uri="{FF2B5EF4-FFF2-40B4-BE49-F238E27FC236}">
                <a16:creationId xmlns:a16="http://schemas.microsoft.com/office/drawing/2014/main" id="{7BE49B73-D60E-4435-A7BC-CA7E93D31B97}"/>
              </a:ext>
            </a:extLst>
          </p:cNvPr>
          <p:cNvSpPr>
            <a:spLocks xmlns:a="http://schemas.openxmlformats.org/drawingml/2006/main" noGrp="1"/>
          </p:cNvSpPr>
          <p:nvPr/>
        </p:nvSpPr>
        <p:spPr>
          <a:xfrm xmlns:a="http://schemas.openxmlformats.org/drawingml/2006/main">
            <a:off x="609600" y="51054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EDA96E"/>
                </a:solidFill>
                <a:latin typeface="Helvetica Neue"/>
                <a:ea typeface="Helvetica Neue"/>
                <a:cs typeface="Helvetica Neue"/>
              </a:defRPr>
            </a:pPr>
            <a:r>
              <a:rPr sz="2700" b="1">
                <a:solidFill>
                  <a:srgbClr val="EDA96E"/>
                </a:solidFill>
                <a:latin typeface="Helvetica Neue"/>
                <a:ea typeface="Helvetica Neue"/>
                <a:cs typeface="Helvetica Neue"/>
              </a:rPr>
              <a:t>Next: qualify the original 245-component board</a:t>
            </a:r>
          </a:p>
        </p:txBody>
      </p:sp>
      <p:sp>
        <p:nvSpPr>
          <p:cNvPr id="4" name="link-repo">
            <a:extLst xmlns:a="http://schemas.openxmlformats.org/drawingml/2006/main">
              <a:ext uri="{FF2B5EF4-FFF2-40B4-BE49-F238E27FC236}">
                <a16:creationId xmlns:a16="http://schemas.microsoft.com/office/drawing/2014/main" id="{8ADACC37-C2BE-4179-A2B1-0EE1132DC58B}"/>
              </a:ext>
            </a:extLst>
            <ns0:hlinkClick xmlns:ns0="http://schemas.openxmlformats.org/drawingml/2006/main" xmlns:ns1="http://schemas.openxmlformats.org/officeDocument/2006/relationships" ns1:id="rIdLink3"/>
          </p:cNvPr>
          <p:cNvSpPr>
            <a:spLocks xmlns:a="http://schemas.openxmlformats.org/drawingml/2006/main" noGrp="1"/>
          </p:cNvSpPr>
          <p:nvPr/>
        </p:nvSpPr>
        <p:spPr>
          <a:xfrm xmlns:a="http://schemas.openxmlformats.org/drawingml/2006/main">
            <a:off x="609600" y="583882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FE3BA"/>
                </a:solidFill>
                <a:latin typeface="Helvetica Neue"/>
                <a:ea typeface="Helvetica Neue"/>
                <a:cs typeface="Helvetica Neue"/>
              </a:defRPr>
            </a:pPr>
            <a:r>
              <a:rPr sz="2175" b="1">
                <a:solidFill>
                  <a:srgbClr val="8FE3BA"/>
                </a:solidFill>
                <a:latin typeface="Helvetica Neue"/>
                <a:ea typeface="Helvetica Neue"/>
                <a:cs typeface="Helvetica Neue"/>
              </a:rPr>
              <a:t>Public code, prompts and candidate history</a:t>
            </a:r>
          </a:p>
        </p:txBody>
      </p:sp>
      <p:sp>
        <p:nvSpPr>
          <p:cNvPr id="5" name="text-39">
            <a:extLst xmlns:a="http://schemas.openxmlformats.org/drawingml/2006/main">
              <a:ext uri="{FF2B5EF4-FFF2-40B4-BE49-F238E27FC236}">
                <a16:creationId xmlns:a16="http://schemas.microsoft.com/office/drawing/2014/main" id="{1BF2E888-F809-4E4B-95EF-96D48E6FC924}"/>
              </a:ext>
            </a:extLst>
          </p:cNvPr>
          <p:cNvSpPr>
            <a:spLocks xmlns:a="http://schemas.openxmlformats.org/drawingml/2006/main" noGrp="1"/>
          </p:cNvSpPr>
          <p:nvPr/>
        </p:nvSpPr>
        <p:spPr>
          <a:xfrm xmlns:a="http://schemas.openxmlformats.org/drawingml/2006/main">
            <a:off x="609600" y="6305550"/>
            <a:ext cx="10810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4BDBF"/>
                </a:solidFill>
                <a:latin typeface="Helvetica Neue"/>
                <a:ea typeface="Helvetica Neue"/>
                <a:cs typeface="Helvetica Neue"/>
              </a:defRPr>
            </a:pPr>
            <a:r>
              <a:rPr sz="1650" b="0">
                <a:solidFill>
                  <a:srgbClr val="B4BDBF"/>
                </a:solidFill>
                <a:latin typeface="Helvetica Neue"/>
                <a:ea typeface="Helvetica Neue"/>
                <a:cs typeface="Helvetica Neue"/>
              </a:rPr>
              <a:t>github.com/PhilippeFerreiraDeSousa/copper-scar</a:t>
            </a:r>
          </a:p>
        </p:txBody>
      </p:sp>
    </p:spTree>
    <p:extLst>
      <p:ext uri="{BB962C8B-B14F-4D97-AF65-F5344CB8AC3E}">
        <p14:creationId xmlns:p14="http://schemas.microsoft.com/office/powerpoint/2010/main" val="1366300065"/>
      </p:ext>
    </p:extLst>
  </p:cSld>
</p:sld>
</file>

<file path=ppt/slides/slide7.xml><?xml version="1.0" encoding="utf-8"?>
<p:sld xmlns:p="http://schemas.openxmlformats.org/presentationml/2006/main" show="0">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8" name="text-40">
            <a:extLst xmlns:a="http://schemas.openxmlformats.org/drawingml/2006/main">
              <a:ext uri="{FF2B5EF4-FFF2-40B4-BE49-F238E27FC236}">
                <a16:creationId xmlns:a16="http://schemas.microsoft.com/office/drawing/2014/main" id="{C9A3461A-16D1-46EE-8BE3-324F89FA6387}"/>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Backup: what prompts the update?</a:t>
            </a:r>
          </a:p>
        </p:txBody>
      </p:sp>
      <p:sp>
        <p:nvSpPr>
          <p:cNvPr id="2" name="text-41">
            <a:extLst xmlns:a="http://schemas.openxmlformats.org/drawingml/2006/main">
              <a:ext uri="{FF2B5EF4-FFF2-40B4-BE49-F238E27FC236}">
                <a16:creationId xmlns:a16="http://schemas.microsoft.com/office/drawing/2014/main" id="{ECA636B6-F6EA-4ADD-BF3B-FF8EB78D9B68}"/>
              </a:ext>
            </a:extLst>
          </p:cNvPr>
          <p:cNvSpPr>
            <a:spLocks xmlns:a="http://schemas.openxmlformats.org/drawingml/2006/main" noGrp="1"/>
          </p:cNvSpPr>
          <p:nvPr/>
        </p:nvSpPr>
        <p:spPr>
          <a:xfrm xmlns:a="http://schemas.openxmlformats.org/drawingml/2006/main">
            <a:off x="609600" y="14763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DA96E"/>
                </a:solidFill>
                <a:latin typeface="Helvetica Neue"/>
                <a:ea typeface="Helvetica Neue"/>
                <a:cs typeface="Helvetica Neue"/>
              </a:defRPr>
            </a:pPr>
            <a:r>
              <a:rPr sz="2850" b="1">
                <a:solidFill>
                  <a:srgbClr val="EDA96E"/>
                </a:solidFill>
                <a:latin typeface="Helvetica Neue"/>
                <a:ea typeface="Helvetica Neue"/>
                <a:cs typeface="Helvetica Neue"/>
              </a:rPr>
              <a:t>A persistent Codex task</a:t>
            </a:r>
          </a:p>
        </p:txBody>
      </p:sp>
      <p:sp>
        <p:nvSpPr>
          <p:cNvPr id="3" name="text-42">
            <a:extLst xmlns:a="http://schemas.openxmlformats.org/drawingml/2006/main">
              <a:ext uri="{FF2B5EF4-FFF2-40B4-BE49-F238E27FC236}">
                <a16:creationId xmlns:a16="http://schemas.microsoft.com/office/drawing/2014/main" id="{57DAC67E-1BA5-476C-82B6-05D8C84307CE}"/>
              </a:ext>
            </a:extLst>
          </p:cNvPr>
          <p:cNvSpPr>
            <a:spLocks xmlns:a="http://schemas.openxmlformats.org/drawingml/2006/main" noGrp="1"/>
          </p:cNvSpPr>
          <p:nvPr/>
        </p:nvSpPr>
        <p:spPr>
          <a:xfrm xmlns:a="http://schemas.openxmlformats.org/drawingml/2006/main">
            <a:off x="609600" y="2095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6F3EA"/>
                </a:solidFill>
                <a:latin typeface="Helvetica Neue"/>
                <a:ea typeface="Helvetica Neue"/>
                <a:cs typeface="Helvetica Neue"/>
              </a:defRPr>
            </a:pPr>
            <a:r>
              <a:rPr sz="2250" b="0">
                <a:solidFill>
                  <a:srgbClr val="F6F3EA"/>
                </a:solidFill>
                <a:latin typeface="Helvetica Neue"/>
                <a:ea typeface="Helvetica Neue"/>
                <a:cs typeface="Helvetica Neue"/>
              </a:rPr>
              <a:t>Initial stage instructions + Coordinator feedback + inspected files</a:t>
            </a:r>
          </a:p>
        </p:txBody>
      </p:sp>
      <p:sp>
        <p:nvSpPr>
          <p:cNvPr id="4" name="text-43">
            <a:extLst xmlns:a="http://schemas.openxmlformats.org/drawingml/2006/main">
              <a:ext uri="{FF2B5EF4-FFF2-40B4-BE49-F238E27FC236}">
                <a16:creationId xmlns:a16="http://schemas.microsoft.com/office/drawing/2014/main" id="{37335CE7-6085-43C2-BDAA-2D4E815DB8B2}"/>
              </a:ext>
            </a:extLst>
          </p:cNvPr>
          <p:cNvSpPr>
            <a:spLocks xmlns:a="http://schemas.openxmlformats.org/drawingml/2006/main" noGrp="1"/>
          </p:cNvSpPr>
          <p:nvPr/>
        </p:nvSpPr>
        <p:spPr>
          <a:xfrm xmlns:a="http://schemas.openxmlformats.org/drawingml/2006/main">
            <a:off x="609600" y="31337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4BDBF"/>
                </a:solidFill>
                <a:latin typeface="Helvetica Neue"/>
                <a:ea typeface="Helvetica Neue"/>
                <a:cs typeface="Helvetica Neue"/>
              </a:defRPr>
            </a:pPr>
            <a:r>
              <a:rPr sz="1875" b="0">
                <a:solidFill>
                  <a:srgbClr val="B4BDBF"/>
                </a:solidFill>
                <a:latin typeface="Helvetica Neue"/>
                <a:ea typeface="Helvetica Neue"/>
                <a:cs typeface="Helvetica Neue"/>
              </a:rPr>
              <a:t>Actual initial prompt excerpt</a:t>
            </a:r>
          </a:p>
        </p:txBody>
      </p:sp>
      <p:sp>
        <p:nvSpPr>
          <p:cNvPr id="5" name="text-44">
            <a:extLst xmlns:a="http://schemas.openxmlformats.org/drawingml/2006/main">
              <a:ext uri="{FF2B5EF4-FFF2-40B4-BE49-F238E27FC236}">
                <a16:creationId xmlns:a16="http://schemas.microsoft.com/office/drawing/2014/main" id="{1EAE27F8-A4F9-4454-AD00-73BD3E5DAE4D}"/>
              </a:ext>
            </a:extLst>
          </p:cNvPr>
          <p:cNvSpPr>
            <a:spLocks xmlns:a="http://schemas.openxmlformats.org/drawingml/2006/main" noGrp="1"/>
          </p:cNvSpPr>
          <p:nvPr/>
        </p:nvSpPr>
        <p:spPr>
          <a:xfrm xmlns:a="http://schemas.openxmlformats.org/drawingml/2006/main">
            <a:off x="609600" y="3705225"/>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F6F3EA"/>
                </a:solidFill>
                <a:latin typeface="Helvetica Neue"/>
                <a:ea typeface="Helvetica Neue"/>
                <a:cs typeface="Helvetica Neue"/>
              </a:defRPr>
            </a:pPr>
            <a:r>
              <a:rPr sz="2775" b="0">
                <a:solidFill>
                  <a:srgbClr val="F6F3EA"/>
                </a:solidFill>
                <a:latin typeface="Helvetica Neue"/>
                <a:ea typeface="Helvetica Neue"/>
                <a:cs typeface="Helvetica Neue"/>
              </a:rPr>
              <a:t>“Outer iteration changes placement/topology, inner runs full-board enabled-layer autorouting then native evaluation.”</a:t>
            </a:r>
          </a:p>
        </p:txBody>
      </p:sp>
      <p:sp>
        <p:nvSpPr>
          <p:cNvPr id="6" name="text-45">
            <a:extLst xmlns:a="http://schemas.openxmlformats.org/drawingml/2006/main">
              <a:ext uri="{FF2B5EF4-FFF2-40B4-BE49-F238E27FC236}">
                <a16:creationId xmlns:a16="http://schemas.microsoft.com/office/drawing/2014/main" id="{7E93C237-9242-4650-B509-74195974A6AF}"/>
              </a:ext>
            </a:extLst>
          </p:cNvPr>
          <p:cNvSpPr>
            <a:spLocks xmlns:a="http://schemas.openxmlformats.org/drawingml/2006/main" noGrp="1"/>
          </p:cNvSpPr>
          <p:nvPr/>
        </p:nvSpPr>
        <p:spPr>
          <a:xfrm xmlns:a="http://schemas.openxmlformats.org/drawingml/2006/main">
            <a:off x="609600" y="543877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FE3BA"/>
                </a:solidFill>
                <a:latin typeface="Helvetica Neue"/>
                <a:ea typeface="Helvetica Neue"/>
                <a:cs typeface="Helvetica Neue"/>
              </a:defRPr>
            </a:pPr>
            <a:r>
              <a:rPr sz="2175" b="0">
                <a:solidFill>
                  <a:srgbClr val="8FE3BA"/>
                </a:solidFill>
                <a:latin typeface="Helvetica Neue"/>
                <a:ea typeface="Helvetica Neue"/>
                <a:cs typeface="Helvetica Neue"/>
              </a:rPr>
              <a:t>Stage 1 seeks full validity. Stage 2 accepts only a lower valid score.</a:t>
            </a:r>
          </a:p>
        </p:txBody>
      </p:sp>
      <p:sp>
        <p:nvSpPr>
          <p:cNvPr id="7" name="link-prompts">
            <a:extLst xmlns:a="http://schemas.openxmlformats.org/drawingml/2006/main">
              <a:ext uri="{FF2B5EF4-FFF2-40B4-BE49-F238E27FC236}">
                <a16:creationId xmlns:a16="http://schemas.microsoft.com/office/drawing/2014/main" id="{087E0B65-7E92-4007-B546-B7613C7A96A3}"/>
              </a:ext>
            </a:extLst>
            <ns0:hlinkClick xmlns:ns0="http://schemas.openxmlformats.org/drawingml/2006/main" xmlns:ns1="http://schemas.openxmlformats.org/officeDocument/2006/relationships" ns1:id="rIdLink3"/>
          </p:cNvPr>
          <p:cNvSpPr>
            <a:spLocks xmlns:a="http://schemas.openxmlformats.org/drawingml/2006/main" noGrp="1"/>
          </p:cNvSpPr>
          <p:nvPr/>
        </p:nvSpPr>
        <p:spPr>
          <a:xfrm xmlns:a="http://schemas.openxmlformats.org/drawingml/2006/main">
            <a:off x="609600" y="617220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EDA96E"/>
                </a:solidFill>
                <a:latin typeface="Helvetica Neue"/>
                <a:ea typeface="Helvetica Neue"/>
                <a:cs typeface="Helvetica Neue"/>
              </a:defRPr>
            </a:pPr>
            <a:r>
              <a:rPr sz="1800" b="1">
                <a:solidFill>
                  <a:srgbClr val="EDA96E"/>
                </a:solidFill>
                <a:latin typeface="Helvetica Neue"/>
                <a:ea typeface="Helvetica Neue"/>
                <a:cs typeface="Helvetica Neue"/>
              </a:rPr>
              <a:t>Public prompt archive</a:t>
            </a:r>
          </a:p>
        </p:txBody>
      </p:sp>
    </p:spTree>
    <p:extLst>
      <p:ext uri="{BB962C8B-B14F-4D97-AF65-F5344CB8AC3E}">
        <p14:creationId xmlns:p14="http://schemas.microsoft.com/office/powerpoint/2010/main" val="2147071747"/>
      </p:ext>
    </p:extLst>
  </p:cSld>
</p:sld>
</file>

<file path=ppt/slides/slide8.xml><?xml version="1.0" encoding="utf-8"?>
<p:sld xmlns:p="http://schemas.openxmlformats.org/presentationml/2006/main" show="0">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4" name="text-46">
            <a:extLst xmlns:a="http://schemas.openxmlformats.org/drawingml/2006/main">
              <a:ext uri="{FF2B5EF4-FFF2-40B4-BE49-F238E27FC236}">
                <a16:creationId xmlns:a16="http://schemas.microsoft.com/office/drawing/2014/main" id="{5226A821-E914-44E0-A5D4-E59E0B8D6526}"/>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Backup: tool roles</a:t>
            </a:r>
          </a:p>
        </p:txBody>
      </p:sp>
      <p:graphicFrame>
        <p:nvGraphicFramePr>
          <p:cNvPr id="5" name=""/>
          <p:cNvGraphicFramePr/>
          <p:nvPr/>
        </p:nvGraphicFramePr>
        <p:xfrm>
          <a:off xmlns:a="http://schemas.openxmlformats.org/drawingml/2006/main" x="609600" y="1638300"/>
          <a:ext xmlns:a="http://schemas.openxmlformats.org/drawingml/2006/main" cx="10953750" cy="3619500"/>
        </p:xfrm>
        <a:graphic xmlns:a="http://schemas.openxmlformats.org/drawingml/2006/main">
          <a:graphicData uri="http://schemas.openxmlformats.org/drawingml/2006/table">
            <a:tbl>
              <a:tblPr/>
              <a:tblGrid>
                <a:gridCol w="3048000"/>
                <a:gridCol w="7905750"/>
              </a:tblGrid>
              <a:tr h="603250">
                <a:tc>
                  <a:txBody>
                    <a:bodyPr/>
                    <a:lstStyle/>
                    <a:p>
                      <a:r>
                        <a:rPr sz="1725" b="1">
                          <a:solidFill>
                            <a:srgbClr val="B4BDBF"/>
                          </a:solidFill>
                          <a:latin typeface="Helvetica Neue"/>
                          <a:ea typeface="Helvetica Neue"/>
                          <a:cs typeface="Helvetica Neue"/>
                        </a:rPr>
                        <a:t>Tool</a:t>
                      </a:r>
                    </a:p>
                  </a:txBody>
                  <a:tcPr marL="91440" marR="91440" marT="45720" marB="45720">
                    <a:solidFill>
                      <a:srgbClr val="101417"/>
                    </a:solidFill>
                  </a:tcPr>
                </a:tc>
                <a:tc>
                  <a:txBody>
                    <a:bodyPr/>
                    <a:lstStyle/>
                    <a:p>
                      <a:r>
                        <a:rPr sz="1725" b="1">
                          <a:solidFill>
                            <a:srgbClr val="B4BDBF"/>
                          </a:solidFill>
                          <a:latin typeface="Helvetica Neue"/>
                          <a:ea typeface="Helvetica Neue"/>
                          <a:cs typeface="Helvetica Neue"/>
                        </a:rPr>
                        <a:t>Role in the four-family demo</a:t>
                      </a:r>
                    </a:p>
                  </a:txBody>
                  <a:tcPr marL="91440" marR="91440" marT="45720" marB="45720">
                    <a:solidFill>
                      <a:srgbClr val="101417"/>
                    </a:solidFill>
                  </a:tcPr>
                </a:tc>
              </a:tr>
              <a:tr h="603250">
                <a:tc>
                  <a:txBody>
                    <a:bodyPr/>
                    <a:lstStyle/>
                    <a:p>
                      <a:r>
                        <a:rPr sz="1950" b="0">
                          <a:solidFill>
                            <a:srgbClr val="F6F3EA"/>
                          </a:solidFill>
                          <a:latin typeface="Helvetica Neue"/>
                          <a:ea typeface="Helvetica Neue"/>
                          <a:cs typeface="Helvetica Neue"/>
                        </a:rPr>
                        <a:t>Codex + Python</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Propose and implement experiment changes</a:t>
                      </a:r>
                    </a:p>
                  </a:txBody>
                  <a:tcPr marL="91440" marR="91440" marT="45720" marB="45720">
                    <a:solidFill>
                      <a:srgbClr val="101417"/>
                    </a:solidFill>
                  </a:tcPr>
                </a:tc>
              </a:tr>
              <a:tr h="603250">
                <a:tc>
                  <a:txBody>
                    <a:bodyPr/>
                    <a:lstStyle/>
                    <a:p>
                      <a:r>
                        <a:rPr sz="1950" b="0">
                          <a:solidFill>
                            <a:srgbClr val="F6F3EA"/>
                          </a:solidFill>
                          <a:latin typeface="Helvetica Neue"/>
                          <a:ea typeface="Helvetica Neue"/>
                          <a:cs typeface="Helvetica Neue"/>
                        </a:rPr>
                        <a:t>Freerouting</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Trace paths and automatic via transitions</a:t>
                      </a:r>
                    </a:p>
                  </a:txBody>
                  <a:tcPr marL="91440" marR="91440" marT="45720" marB="45720">
                    <a:solidFill>
                      <a:srgbClr val="101417"/>
                    </a:solidFill>
                  </a:tcPr>
                </a:tc>
              </a:tr>
              <a:tr h="603250">
                <a:tc>
                  <a:txBody>
                    <a:bodyPr/>
                    <a:lstStyle/>
                    <a:p>
                      <a:r>
                        <a:rPr sz="1950" b="0">
                          <a:solidFill>
                            <a:srgbClr val="F6F3EA"/>
                          </a:solidFill>
                          <a:latin typeface="Helvetica Neue"/>
                          <a:ea typeface="Helvetica Neue"/>
                          <a:cs typeface="Helvetica Neue"/>
                        </a:rPr>
                        <a:t>KiCad</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Native geometry, connectivity and rule checks</a:t>
                      </a:r>
                    </a:p>
                  </a:txBody>
                  <a:tcPr marL="91440" marR="91440" marT="45720" marB="45720">
                    <a:solidFill>
                      <a:srgbClr val="101417"/>
                    </a:solidFill>
                  </a:tcPr>
                </a:tc>
              </a:tr>
              <a:tr h="603250">
                <a:tc>
                  <a:txBody>
                    <a:bodyPr/>
                    <a:lstStyle/>
                    <a:p>
                      <a:r>
                        <a:rPr sz="1950" b="0">
                          <a:solidFill>
                            <a:srgbClr val="F6F3EA"/>
                          </a:solidFill>
                          <a:latin typeface="Helvetica Neue"/>
                          <a:ea typeface="Helvetica Neue"/>
                          <a:cs typeface="Helvetica Neue"/>
                        </a:rPr>
                        <a:t>JITX</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Initial input import/display; separate routing research</a:t>
                      </a:r>
                    </a:p>
                  </a:txBody>
                  <a:tcPr marL="91440" marR="91440" marT="45720" marB="45720">
                    <a:solidFill>
                      <a:srgbClr val="101417"/>
                    </a:solidFill>
                  </a:tcPr>
                </a:tc>
              </a:tr>
              <a:tr h="603250">
                <a:tc>
                  <a:txBody>
                    <a:bodyPr/>
                    <a:lstStyle/>
                    <a:p>
                      <a:r>
                        <a:rPr sz="1950" b="0">
                          <a:solidFill>
                            <a:srgbClr val="F6F3EA"/>
                          </a:solidFill>
                          <a:latin typeface="Helvetica Neue"/>
                          <a:ea typeface="Helvetica Neue"/>
                          <a:cs typeface="Helvetica Neue"/>
                        </a:rPr>
                        <a:t>W&amp;B + Weave</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Recorded metrics, actions and artifact evidence</a:t>
                      </a:r>
                    </a:p>
                  </a:txBody>
                  <a:tcPr marL="91440" marR="91440" marT="45720" marB="45720">
                    <a:solidFill>
                      <a:srgbClr val="101417"/>
                    </a:solidFill>
                  </a:tcPr>
                </a:tc>
              </a:tr>
            </a:tbl>
          </a:graphicData>
        </a:graphic>
      </p:graphicFrame>
      <p:sp>
        <p:nvSpPr>
          <p:cNvPr id="3" name="text-47">
            <a:extLst xmlns:a="http://schemas.openxmlformats.org/drawingml/2006/main">
              <a:ext uri="{FF2B5EF4-FFF2-40B4-BE49-F238E27FC236}">
                <a16:creationId xmlns:a16="http://schemas.microsoft.com/office/drawing/2014/main" id="{2DEA51EF-3AE0-4433-99AE-F7BAFEB0BEAC}"/>
              </a:ext>
            </a:extLst>
          </p:cNvPr>
          <p:cNvSpPr>
            <a:spLocks xmlns:a="http://schemas.openxmlformats.org/drawingml/2006/main" noGrp="1"/>
          </p:cNvSpPr>
          <p:nvPr/>
        </p:nvSpPr>
        <p:spPr>
          <a:xfrm xmlns:a="http://schemas.openxmlformats.org/drawingml/2006/main">
            <a:off x="609600" y="567690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FE3BA"/>
                </a:solidFill>
                <a:latin typeface="Helvetica Neue"/>
                <a:ea typeface="Helvetica Neue"/>
                <a:cs typeface="Helvetica Neue"/>
              </a:defRPr>
            </a:pPr>
            <a:r>
              <a:rPr sz="2175" b="0">
                <a:solidFill>
                  <a:srgbClr val="8FE3BA"/>
                </a:solidFill>
                <a:latin typeface="Helvetica Neue"/>
                <a:ea typeface="Helvetica Neue"/>
                <a:cs typeface="Helvetica Neue"/>
              </a:rPr>
              <a:t>Candidates are KiCad snapshots. Each completed attempt has its own folder.</a:t>
            </a:r>
          </a:p>
        </p:txBody>
      </p:sp>
    </p:spTree>
    <p:extLst>
      <p:ext uri="{BB962C8B-B14F-4D97-AF65-F5344CB8AC3E}">
        <p14:creationId xmlns:p14="http://schemas.microsoft.com/office/powerpoint/2010/main" val="20003905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2026-09-13T23:18:44.5830000Z</dcterms:created>
  <dcterms:modified xsi:type="dcterms:W3CDTF">2026-09-13T23:18:44.5830000Z</dcterms:modified>
</coreProperties>
</file>